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d11562-5b52-9890-6023-9c9535bbd77a}">
          <p14:sldIdLst>
            <p14:sldId id="256"/>
            <p14:sldId id="257"/>
            <p14:sldId id="258"/>
          </p14:sldIdLst>
        </p14:section>
        <p14:section name="System Design" id="{9f532435-0461-b846-43c2-80b19fd21eb5}">
          <p14:sldIdLst>
            <p14:sldId id="259"/>
            <p14:sldId id="260"/>
            <p14:sldId id="261"/>
            <p14:sldId id="262"/>
            <p14:sldId id="263"/>
            <p14:sldId id="264"/>
          </p14:sldIdLst>
        </p14:section>
        <p14:section name="Implementation" id="{70f5bc46-6295-e195-18a2-2839de4e374b}">
          <p14:sldIdLst>
            <p14:sldId id="265"/>
            <p14:sldId id="266"/>
            <p14:sldId id="267"/>
            <p14:sldId id="268"/>
          </p14:sldIdLst>
        </p14:section>
        <p14:section name="Outcomes" id="{eb94dedf-c107-0dfb-a24d-c76452bba364}">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panel. I am Thumma Akshaya from B.Tech CSE (AI &amp; ML). My final year major project is Hospital AI Agent, an AI-powered assistant that explains prescriptions and gives medicine information, alternatives and stock availability through a chat interface. It is built on Retrieval Augmented Generation using FastAPI, React, LangChain and ChromaDB. Introduce your guide by name, then state that you will cover the problem, design, implementation, results and future scope in about 40 minutes of material, leaving time for questions. Viva tip: keep the opening to under two minutes and speak confidently about the one-line purpose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real-world context. In hospitals and pharmacies, patients receive prescriptions written in medical shorthand and often leave without fully understanding how or why to take a medicine. They are unsure about usage, cannot easily find an alternative when a brand is unavailable, and have no quick way to know if a medicine is in stock. At the same time pharmacists and doctors repeat the same answers many times a day, which costs time. Emphasise that the problem is an information-access and communication gap, not a lack of medical expertise. This motivates a conversational assistant. Viva tip: be ready to explain that the system gives information support and does not replace a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objectives that drove the design. The core goal is a chatbot that explains medicines in plain language. To make answers trustworthy, the assistant searches a medicine database rather than relying only on a language model's memory, which is where Retrieval Augmented Generation comes in. It also suggests alternatives and shows stock availability so a patient or pharmacist gets one complete answer. Finally, responses should be fast and the interface should be simple enough for a non-technical user. Viva tip: map each objective to a feature you will demonstrate later, so the panel sees that every objective was actually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things work today. A patient meets the doctor, takes the prescription to a pharmacy counter, and the pharmacist searches stock or a register manually. Every question goes back to a person. The limitations are shown below the flow: searching is manual, patients depend on the doctor for every clarification, there is no centralised medicine knowledge base, responses are slow at busy hours, and there is no intelligent assistant or conversational interface. Viva tip: if asked about existing software such as hospital management systems, say they handle billing and inventory but do not offer conversational, natural-language medicine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present the solution: Hospital AI Agent. On the left are the features: AI chat, medicine search, stock search, RAG, ChromaDB as the vector store, a FastAPI backend, a React frontend, and support for a local LLM so it can work without sending data to external cloud services. On the right is the architecture at a glance: the React interface talks to FastAPI, which calls the RAG pipeline backed by ChromaDB, and the retrieved context is passed to a local LLM, Ollama running Mistral. Viva tip: stress that retrieval grounds the answer in the hospital's own dataset, which reduces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stack layer by layer. Frontend: React with Vite for fast builds and Tailwind CSS for styling. Backend: Python with FastAPI, chosen for speed, async support and automatic Swagger documentation. Data: a CSV medicine dataset and ChromaDB as the vector database. AI: Sentence Transformers for embeddings, LangChain to orchestrate the RAG pipeline, and Ollama serving the Mistral model locally. Tooling: Docker for packaging, Postman for API testing, GitHub for version control. Viva tip: be ready to justify why FastAPI over Flask and why a local LLM matters for privacy and offline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architecture. Top row, left to right: the user types a question in the React frontend, which calls the FastAPI backend, which hands the query to the AI agent. The agent invokes the RAG pipeline. Bottom row, right to left: the pipeline queries ChromaDB, which is built from the medicine dataset, and the retrieved records come back as context so the LLM can produce the final response shown to the user. Viva tip: trace one example query through every box, such as 'What is an alternative to Paracetamol?', and say what data moves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repository layout so the panel sees the project is organised like real software. The backend folder holds the FastAPI application, the agent and RAG logic, and the medicine dataset. The frontend folder holds the React, Vite and Tailwind user interface. The postman folder contains the API test collection used to verify endpoints. A Dockerfile packages the system for consistent deployment, and the README documents setup and usage. Viva tip: adjust the sub-folder names in the tree to match your actual repository before presenting, and be ready to open it on screen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runtime workflow as seven numbered steps. One: the user asks a question. Two: the API receives it. Three: the agent analyses the intent, for example whether it is a medicine explanation, an alternatives request or a stock query. Four: a vector search runs in ChromaDB. Five: the most relevant medicine records are retrieved. Six: the LLM generates a natural-language response using that retrieved context. Seven: the answer is returned to the interface. Viva tip: mention that retrieval happens before generation, which is what keeps answers tied to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source is a CSV dataset with more than one hundred medicines. Each record has seven fields: Medicine ID, name, strength, use case, alternative, stock and dosage. Using CSV keeps the data simple to edit by hospital staff, and the same rows are converted to embeddings and stored in ChromaDB so that they can be searched by meaning, not just exact name. The table shows sample illustrative records. Viva tip: be clear that dosage and use-case values are informational and sourced from the dataset, and that real deployment would require validation by a pharmacist or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RAG as the heart of the project. The user query is converted into an embedding using Sentence Transformers. ChromaDB performs a similarity search against the stored medicine embeddings and returns the most relevant records. Those records are placed in the prompt as context, and the LLM generates the final answer from them. The three boxes below summarise why this design was chosen: answers are grounded in the dataset, the dataset can be updated without retraining a model, and the LLM can run locally. Viva tip: be ready to define embedding, vector similarity and hallucination in one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laptop frames are placeholders for your real screenshots: insert a picture over each grey area before the review. Describe each screen in one sentence: the Home page introduces the assistant; the Chat screen is the main conversational interface; Medicine Search lets users look up a medicine directly; Stock Search shows availability; the FAQ answers common questions; and Dark Mode offers a comfortable alternative theme. Mention the interface is built with React and Tailwind CSS and is responsive. Viva tip: if you demo live, have a backup screenshot ready in case the local LLM is slow to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four REST endpoints. POST /chat accepts a user message and returns the AI-generated answer. POST /search performs semantic search over the medicines. GET /stock returns availability for a medicine. GET /health is a simple status check used for monitoring and Docker health checks. Because FastAPI is used, interactive Swagger documentation is generated automatically at /docs, which also served as a quick test tool alongside Postman. The flow strip shows a request being validated, handled by the agent and RAG pipeline, and returned as JSON. Viva tip: confirm the exact route names and request fields against your code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eleven features in under two minutes by grouping them. Core AI features: AI chat, semantic search, medicine alternatives and stock availability. Experience features: conversation memory so follow-up questions work, a responsive UI, dark mode, voice input and chat export. Performance: fast search through the vector database. Viva tip: only claim features that you can demonstrate; if voice input or export is partially implemented, say so honestly and describe it as working in the current build or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kinds of output the system produces: a medicine card with name, strength and use; a chat response in plain language; a list of alternative medicines; and a stock status indicator. These are illustrative mock-ups; replace them with real screenshots where possible. On response time: retrieval from ChromaDB is typically very fast, while generation time depends mainly on the local LLM and your hardware, so quote the actual figures you measured on your laptop rather than a guess. Viva tip: state clearly that outputs are informational and not a substitute for a doctor's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advantages. Fast and easy: users get answers in one chat instead of searching manually. Accurate: answers are grounded in the dataset through RAG. AI powered and scalable: the modular FastAPI and vector-database design can grow to more medicines and users. Offline support: a local LLM through Ollama means it can run without internet. Doctor assistance and patient friendly: it reduces repetitive questions and explains medicines in plain language. Viva tip: if asked about accuracy, explain it depends on the quality of the dataset and that answers should be verified by a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future scope in two groups. Near term, achievable extensions: prescription OCR so a patient can photograph a prescription, a voice assistant, patient login for personalised history, and appointment booking. Longer term: integration with a hospital ERP, a doctor dashboard, cloud deployment for multi-hospital use, and medical image analysis. Explain that the current architecture is modular, so each of these can be added as a new service without redesigning the core. Viva tip: pick the one or two you would build first, and explain why, for example OCR because it directly extends the prescription guidance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part with the summary. Read the conclusion in your own words: Hospital AI Agent combines AI, FastAPI, React, LangChain, ChromaDB and RAG into an intelligent medicine information assistant. It makes medicine information easier to access, helps patients understand what they are taking, and reduces repetitive work in the hospital workflow. Mention the three outcomes on screen and tie them back to the problem statement from slide two. Viva tip: end with one sentence on what you learned, such as building a full RAG pipeline end to end, then pause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demonstration slide. Replace each placeholder with a screenshot or short screen recording, or switch to the running application. Suggested order: first the Chat screen, asking about a medicine and its usage; then Medicine Search for a semantic query; then Stock Search to show availability; finally the Workflow, narrating how that same question moved through the API, agent and vector search. Viva tip: prepare two or three questions in advance that you know return good results, and keep a recorded backup in case of network or model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your guide for their time and guidance. Invite questions. Likely areas: why RAG instead of fine-tuning, how the dataset is embedded and searched, how hallucination is controlled, why FastAPI and a local LLM, the limits of the system, and how it could be validated by medical professionals. Answer calmly, and if you do not know something, say how you would find out. Viva tip: remind the panel that the assistant provides information only and is not a replacement for professional medical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rgbClr val="4A5B78"/>
                </a:solidFill>
              </a:rPr>
              <a:t>Hospital AI Agent  |  Thumma Akshaya  |  B.Tech CSE (AI &amp; ML)</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rgbClr val="9DB8E8"/>
                </a:solidFill>
              </a:rPr>
              <a:t>Hospital AI Agent  |  Thumma Akshaya  |  B.Tech CSE (AI &amp; ML)</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E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493776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960120"/>
            <a:ext cx="493776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Hospital AI Agent</a:t>
            </a:r>
            <a:endParaRPr lang="en-US" sz="4000" dirty="0"/>
          </a:p>
        </p:txBody>
      </p:sp>
      <p:sp>
        <p:nvSpPr>
          <p:cNvPr id="4" name="Text 1"/>
          <p:cNvSpPr txBox="1"/>
          <p:nvPr/>
        </p:nvSpPr>
        <p:spPr>
          <a:xfrm>
            <a:off x="548640" y="1920240"/>
            <a:ext cx="4937760" cy="822960"/>
          </a:xfrm>
          <a:prstGeom prst="rect">
            <a:avLst/>
          </a:prstGeom>
          <a:noFill/>
          <a:ln/>
        </p:spPr>
        <p:txBody>
          <a:bodyPr wrap="square" lIns="0" tIns="0" rIns="0" bIns="0" rtlCol="0" anchor="t"/>
          <a:lstStyle/>
          <a:p>
            <a:pPr indent="0" marL="0">
              <a:buNone/>
            </a:pPr>
            <a:r>
              <a:rPr lang="en-US" sz="1800" dirty="0">
                <a:solidFill>
                  <a:srgbClr val="BFD8FF"/>
                </a:solidFill>
              </a:rPr>
              <a:t>AI-Powered Prescription Guidance &amp;</a:t>
            </a:r>
            <a:endParaRPr lang="en-US" sz="1800" dirty="0"/>
          </a:p>
          <a:p>
            <a:pPr indent="0" marL="0">
              <a:buNone/>
            </a:pPr>
            <a:r>
              <a:rPr lang="en-US" sz="1800" dirty="0">
                <a:solidFill>
                  <a:srgbClr val="BFD8FF"/>
                </a:solidFill>
              </a:rPr>
              <a:t>Medicine Information Assistant</a:t>
            </a:r>
            <a:endParaRPr lang="en-US" sz="1800" dirty="0"/>
          </a:p>
        </p:txBody>
      </p:sp>
      <p:sp>
        <p:nvSpPr>
          <p:cNvPr id="5" name="Text 2"/>
          <p:cNvSpPr txBox="1"/>
          <p:nvPr/>
        </p:nvSpPr>
        <p:spPr>
          <a:xfrm>
            <a:off x="548640" y="2971800"/>
            <a:ext cx="5120640" cy="1005840"/>
          </a:xfrm>
          <a:prstGeom prst="rect">
            <a:avLst/>
          </a:prstGeom>
          <a:noFill/>
          <a:ln/>
        </p:spPr>
        <p:txBody>
          <a:bodyPr wrap="square" lIns="0" tIns="0" rIns="0" bIns="0" rtlCol="0" anchor="t"/>
          <a:lstStyle/>
          <a:p>
            <a:pPr indent="0" marL="0">
              <a:spcAft>
                <a:spcPts val="400"/>
              </a:spcAft>
              <a:buNone/>
            </a:pPr>
            <a:r>
              <a:rPr lang="en-US" sz="1400" b="1" dirty="0">
                <a:solidFill>
                  <a:srgbClr val="9DB8E8"/>
                </a:solidFill>
              </a:rPr>
              <a:t>Student: </a:t>
            </a:r>
            <a:pPr indent="0" marL="0">
              <a:spcAft>
                <a:spcPts val="400"/>
              </a:spcAft>
              <a:buNone/>
            </a:pPr>
            <a:r>
              <a:rPr lang="en-US" sz="1400" dirty="0">
                <a:solidFill>
                  <a:schemeClr val="bg1"/>
                </a:solidFill>
              </a:rPr>
              <a:t>Thumma Akshaya (B.Tech CSE - AI &amp; ML)</a:t>
            </a:r>
            <a:endParaRPr lang="en-US" sz="1400" dirty="0"/>
          </a:p>
          <a:p>
            <a:pPr indent="0" marL="0">
              <a:spcAft>
                <a:spcPts val="400"/>
              </a:spcAft>
              <a:buNone/>
            </a:pPr>
            <a:r>
              <a:rPr lang="en-US" sz="1400" b="1" dirty="0">
                <a:solidFill>
                  <a:srgbClr val="9DB8E8"/>
                </a:solidFill>
              </a:rPr>
              <a:t>Guide: </a:t>
            </a:r>
            <a:pPr indent="0" marL="0">
              <a:spcAft>
                <a:spcPts val="400"/>
              </a:spcAft>
              <a:buNone/>
            </a:pPr>
            <a:r>
              <a:rPr lang="en-US" sz="1400" dirty="0">
                <a:solidFill>
                  <a:schemeClr val="bg1"/>
                </a:solidFill>
              </a:rPr>
              <a:t>[Guide Name]</a:t>
            </a:r>
            <a:endParaRPr lang="en-US" sz="1400" dirty="0"/>
          </a:p>
          <a:p>
            <a:pPr indent="0" marL="0">
              <a:spcAft>
                <a:spcPts val="400"/>
              </a:spcAft>
              <a:buNone/>
            </a:pPr>
            <a:r>
              <a:rPr lang="en-US" sz="1400" b="1" dirty="0">
                <a:solidFill>
                  <a:srgbClr val="9DB8E8"/>
                </a:solidFill>
              </a:rPr>
              <a:t>Department: </a:t>
            </a:r>
            <a:pPr indent="0" marL="0">
              <a:spcAft>
                <a:spcPts val="400"/>
              </a:spcAft>
              <a:buNone/>
            </a:pPr>
            <a:r>
              <a:rPr lang="en-US" sz="1400" dirty="0">
                <a:solidFill>
                  <a:schemeClr val="bg1"/>
                </a:solidFill>
              </a:rPr>
              <a:t>CSE (AI &amp; ML), GITAM University, Hyderabad</a:t>
            </a:r>
            <a:endParaRPr lang="en-US" sz="1400" dirty="0"/>
          </a:p>
        </p:txBody>
      </p:sp>
      <p:sp>
        <p:nvSpPr>
          <p:cNvPr id="6" name="Shape 3"/>
          <p:cNvSpPr/>
          <p:nvPr/>
        </p:nvSpPr>
        <p:spPr>
          <a:xfrm>
            <a:off x="548640" y="4114800"/>
            <a:ext cx="2011680" cy="594360"/>
          </a:xfrm>
          <a:prstGeom prst="roundRect">
            <a:avLst>
              <a:gd name="adj" fmla="val 15385"/>
            </a:avLst>
          </a:prstGeom>
          <a:solidFill>
            <a:schemeClr val="bg1">
              <a:alpha val="10000"/>
            </a:schemeClr>
          </a:solidFill>
          <a:ln w="12700">
            <a:solidFill>
              <a:srgbClr val="9DB8E8"/>
            </a:solidFill>
            <a:prstDash val="dash"/>
          </a:ln>
        </p:spPr>
      </p:sp>
      <p:sp>
        <p:nvSpPr>
          <p:cNvPr id="7" name="Text 4"/>
          <p:cNvSpPr txBox="1"/>
          <p:nvPr/>
        </p:nvSpPr>
        <p:spPr>
          <a:xfrm>
            <a:off x="548640" y="4114800"/>
            <a:ext cx="2011680" cy="594360"/>
          </a:xfrm>
          <a:prstGeom prst="rect">
            <a:avLst/>
          </a:prstGeom>
          <a:noFill/>
          <a:ln/>
        </p:spPr>
        <p:txBody>
          <a:bodyPr wrap="square" lIns="0" tIns="0" rIns="0" bIns="0" rtlCol="0" anchor="ctr"/>
          <a:lstStyle/>
          <a:p>
            <a:pPr algn="ctr" indent="0" marL="0">
              <a:buNone/>
            </a:pPr>
            <a:r>
              <a:rPr lang="en-US" sz="1200" dirty="0">
                <a:solidFill>
                  <a:srgbClr val="BFD8FF"/>
                </a:solidFill>
              </a:rPr>
              <a:t>College Logo Placeholder</a:t>
            </a:r>
            <a:endParaRPr lang="en-US" sz="1200" dirty="0"/>
          </a:p>
        </p:txBody>
      </p:sp>
      <p:sp>
        <p:nvSpPr>
          <p:cNvPr id="8" name="Shape 5"/>
          <p:cNvSpPr/>
          <p:nvPr/>
        </p:nvSpPr>
        <p:spPr>
          <a:xfrm>
            <a:off x="5303520" y="914400"/>
            <a:ext cx="3291840" cy="3291840"/>
          </a:xfrm>
          <a:prstGeom prst="ellipse">
            <a:avLst/>
          </a:prstGeom>
          <a:solidFill>
            <a:schemeClr val="bg1">
              <a:alpha val="8000"/>
            </a:schemeClr>
          </a:solidFill>
          <a:ln/>
        </p:spPr>
      </p:sp>
      <p:sp>
        <p:nvSpPr>
          <p:cNvPr id="9" name="Shape 6"/>
          <p:cNvSpPr/>
          <p:nvPr/>
        </p:nvSpPr>
        <p:spPr>
          <a:xfrm>
            <a:off x="5852160" y="1463040"/>
            <a:ext cx="2194560" cy="2194560"/>
          </a:xfrm>
          <a:prstGeom prst="ellipse">
            <a:avLst/>
          </a:prstGeom>
          <a:solidFill>
            <a:schemeClr val="bg1">
              <a:alpha val="18000"/>
            </a:schemeClr>
          </a:solidFill>
          <a:ln/>
        </p:spPr>
      </p:sp>
      <p:sp>
        <p:nvSpPr>
          <p:cNvPr id="10" name="Shape 7"/>
          <p:cNvSpPr/>
          <p:nvPr/>
        </p:nvSpPr>
        <p:spPr>
          <a:xfrm>
            <a:off x="6400800" y="2011680"/>
            <a:ext cx="1097280" cy="1097280"/>
          </a:xfrm>
          <a:prstGeom prst="ellipse">
            <a:avLst/>
          </a:prstGeom>
          <a:solidFill>
            <a:schemeClr val="accent1"/>
          </a:solidFill>
          <a:ln/>
        </p:spPr>
      </p:sp>
      <p:pic>
        <p:nvPicPr>
          <p:cNvPr id="11" name="Image 0" descr="preencoded.png">    </p:cNvPr>
          <p:cNvPicPr>
            <a:picLocks noChangeAspect="1"/>
          </p:cNvPicPr>
          <p:nvPr/>
        </p:nvPicPr>
        <p:blipFill>
          <a:blip r:embed="rId1"/>
          <a:stretch>
            <a:fillRect/>
          </a:stretch>
        </p:blipFill>
        <p:spPr>
          <a:xfrm>
            <a:off x="6675120" y="2286000"/>
            <a:ext cx="548640" cy="548640"/>
          </a:xfrm>
          <a:prstGeom prst="rect">
            <a:avLst/>
          </a:prstGeom>
        </p:spPr>
      </p:pic>
      <p:sp>
        <p:nvSpPr>
          <p:cNvPr id="12" name="Shape 8"/>
          <p:cNvSpPr/>
          <p:nvPr/>
        </p:nvSpPr>
        <p:spPr>
          <a:xfrm>
            <a:off x="5029200" y="1325880"/>
            <a:ext cx="640080" cy="640080"/>
          </a:xfrm>
          <a:prstGeom prst="ellipse">
            <a:avLst/>
          </a:prstGeom>
          <a:solidFill>
            <a:schemeClr val="accent3"/>
          </a:solidFill>
          <a:ln/>
        </p:spPr>
      </p:sp>
      <p:pic>
        <p:nvPicPr>
          <p:cNvPr id="13" name="Image 1" descr="preencoded.png">    </p:cNvPr>
          <p:cNvPicPr>
            <a:picLocks noChangeAspect="1"/>
          </p:cNvPicPr>
          <p:nvPr/>
        </p:nvPicPr>
        <p:blipFill>
          <a:blip r:embed="rId2"/>
          <a:stretch>
            <a:fillRect/>
          </a:stretch>
        </p:blipFill>
        <p:spPr>
          <a:xfrm>
            <a:off x="5189220" y="1485900"/>
            <a:ext cx="320040" cy="320040"/>
          </a:xfrm>
          <a:prstGeom prst="rect">
            <a:avLst/>
          </a:prstGeom>
        </p:spPr>
      </p:pic>
      <p:sp>
        <p:nvSpPr>
          <p:cNvPr id="14" name="Shape 9"/>
          <p:cNvSpPr/>
          <p:nvPr/>
        </p:nvSpPr>
        <p:spPr>
          <a:xfrm>
            <a:off x="8229600" y="1325880"/>
            <a:ext cx="640080" cy="64008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8389620" y="1485900"/>
            <a:ext cx="320040" cy="320040"/>
          </a:xfrm>
          <a:prstGeom prst="rect">
            <a:avLst/>
          </a:prstGeom>
        </p:spPr>
      </p:pic>
      <p:sp>
        <p:nvSpPr>
          <p:cNvPr id="16" name="Shape 10"/>
          <p:cNvSpPr/>
          <p:nvPr/>
        </p:nvSpPr>
        <p:spPr>
          <a:xfrm>
            <a:off x="5029200" y="3154680"/>
            <a:ext cx="640080" cy="640080"/>
          </a:xfrm>
          <a:prstGeom prst="ellipse">
            <a:avLst/>
          </a:prstGeom>
          <a:solidFill>
            <a:schemeClr val="accent2"/>
          </a:solidFill>
          <a:ln/>
        </p:spPr>
      </p:sp>
      <p:pic>
        <p:nvPicPr>
          <p:cNvPr id="17" name="Image 3" descr="preencoded.png">    </p:cNvPr>
          <p:cNvPicPr>
            <a:picLocks noChangeAspect="1"/>
          </p:cNvPicPr>
          <p:nvPr/>
        </p:nvPicPr>
        <p:blipFill>
          <a:blip r:embed="rId4"/>
          <a:stretch>
            <a:fillRect/>
          </a:stretch>
        </p:blipFill>
        <p:spPr>
          <a:xfrm>
            <a:off x="5189220" y="3314700"/>
            <a:ext cx="320040" cy="320040"/>
          </a:xfrm>
          <a:prstGeom prst="rect">
            <a:avLst/>
          </a:prstGeom>
        </p:spPr>
      </p:pic>
      <p:sp>
        <p:nvSpPr>
          <p:cNvPr id="18" name="Shape 11"/>
          <p:cNvSpPr/>
          <p:nvPr/>
        </p:nvSpPr>
        <p:spPr>
          <a:xfrm>
            <a:off x="8229600" y="3154680"/>
            <a:ext cx="640080" cy="640080"/>
          </a:xfrm>
          <a:prstGeom prst="ellipse">
            <a:avLst/>
          </a:prstGeom>
          <a:solidFill>
            <a:schemeClr val="accent3"/>
          </a:solidFill>
          <a:ln/>
        </p:spPr>
      </p:sp>
      <p:pic>
        <p:nvPicPr>
          <p:cNvPr id="19" name="Image 4" descr="preencoded.png">    </p:cNvPr>
          <p:cNvPicPr>
            <a:picLocks noChangeAspect="1"/>
          </p:cNvPicPr>
          <p:nvPr/>
        </p:nvPicPr>
        <p:blipFill>
          <a:blip r:embed="rId5"/>
          <a:stretch>
            <a:fillRect/>
          </a:stretch>
        </p:blipFill>
        <p:spPr>
          <a:xfrm>
            <a:off x="8389620" y="3314700"/>
            <a:ext cx="320040" cy="320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Statement</a:t>
            </a:r>
            <a:endParaRPr lang="en-US" sz="3000" dirty="0"/>
          </a:p>
        </p:txBody>
      </p:sp>
      <p:sp>
        <p:nvSpPr>
          <p:cNvPr id="4" name="Shape 1"/>
          <p:cNvSpPr/>
          <p:nvPr/>
        </p:nvSpPr>
        <p:spPr>
          <a:xfrm>
            <a:off x="457200" y="1097280"/>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582930" y="1223010"/>
            <a:ext cx="251460" cy="251460"/>
          </a:xfrm>
          <a:prstGeom prst="rect">
            <a:avLst/>
          </a:prstGeom>
        </p:spPr>
      </p:pic>
      <p:sp>
        <p:nvSpPr>
          <p:cNvPr id="6" name="Text 2"/>
          <p:cNvSpPr txBox="1"/>
          <p:nvPr/>
        </p:nvSpPr>
        <p:spPr>
          <a:xfrm>
            <a:off x="1188720" y="1097280"/>
            <a:ext cx="4297680" cy="502920"/>
          </a:xfrm>
          <a:prstGeom prst="rect">
            <a:avLst/>
          </a:prstGeom>
          <a:noFill/>
          <a:ln/>
        </p:spPr>
        <p:txBody>
          <a:bodyPr wrap="square" lIns="0" tIns="0" rIns="0" bIns="0" rtlCol="0" anchor="ctr"/>
          <a:lstStyle/>
          <a:p>
            <a:pPr indent="0" marL="0">
              <a:buNone/>
            </a:pPr>
            <a:r>
              <a:rPr lang="en-US" sz="1600" b="1" dirty="0">
                <a:solidFill>
                  <a:schemeClr val="tx1"/>
                </a:solidFill>
              </a:rPr>
              <a:t>Patients don't understand prescriptions</a:t>
            </a:r>
            <a:endParaRPr lang="en-US" sz="1600" dirty="0"/>
          </a:p>
        </p:txBody>
      </p:sp>
      <p:sp>
        <p:nvSpPr>
          <p:cNvPr id="7" name="Shape 3"/>
          <p:cNvSpPr/>
          <p:nvPr/>
        </p:nvSpPr>
        <p:spPr>
          <a:xfrm>
            <a:off x="457200" y="1801368"/>
            <a:ext cx="502920" cy="50292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582930" y="1927098"/>
            <a:ext cx="251460" cy="251460"/>
          </a:xfrm>
          <a:prstGeom prst="rect">
            <a:avLst/>
          </a:prstGeom>
        </p:spPr>
      </p:pic>
      <p:sp>
        <p:nvSpPr>
          <p:cNvPr id="9" name="Text 4"/>
          <p:cNvSpPr txBox="1"/>
          <p:nvPr/>
        </p:nvSpPr>
        <p:spPr>
          <a:xfrm>
            <a:off x="1188720" y="1801368"/>
            <a:ext cx="4297680" cy="502920"/>
          </a:xfrm>
          <a:prstGeom prst="rect">
            <a:avLst/>
          </a:prstGeom>
          <a:noFill/>
          <a:ln/>
        </p:spPr>
        <p:txBody>
          <a:bodyPr wrap="square" lIns="0" tIns="0" rIns="0" bIns="0" rtlCol="0" anchor="ctr"/>
          <a:lstStyle/>
          <a:p>
            <a:pPr indent="0" marL="0">
              <a:buNone/>
            </a:pPr>
            <a:r>
              <a:rPr lang="en-US" sz="1600" b="1" dirty="0">
                <a:solidFill>
                  <a:schemeClr val="tx1"/>
                </a:solidFill>
              </a:rPr>
              <a:t>Confusion about medicine usage</a:t>
            </a:r>
            <a:endParaRPr lang="en-US" sz="1600" dirty="0"/>
          </a:p>
        </p:txBody>
      </p:sp>
      <p:sp>
        <p:nvSpPr>
          <p:cNvPr id="10" name="Shape 5"/>
          <p:cNvSpPr/>
          <p:nvPr/>
        </p:nvSpPr>
        <p:spPr>
          <a:xfrm>
            <a:off x="457200" y="2505456"/>
            <a:ext cx="502920" cy="50292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582930" y="2631186"/>
            <a:ext cx="251460" cy="251460"/>
          </a:xfrm>
          <a:prstGeom prst="rect">
            <a:avLst/>
          </a:prstGeom>
        </p:spPr>
      </p:pic>
      <p:sp>
        <p:nvSpPr>
          <p:cNvPr id="12" name="Text 6"/>
          <p:cNvSpPr txBox="1"/>
          <p:nvPr/>
        </p:nvSpPr>
        <p:spPr>
          <a:xfrm>
            <a:off x="1188720" y="2505456"/>
            <a:ext cx="4297680" cy="502920"/>
          </a:xfrm>
          <a:prstGeom prst="rect">
            <a:avLst/>
          </a:prstGeom>
          <a:noFill/>
          <a:ln/>
        </p:spPr>
        <p:txBody>
          <a:bodyPr wrap="square" lIns="0" tIns="0" rIns="0" bIns="0" rtlCol="0" anchor="ctr"/>
          <a:lstStyle/>
          <a:p>
            <a:pPr indent="0" marL="0">
              <a:buNone/>
            </a:pPr>
            <a:r>
              <a:rPr lang="en-US" sz="1600" b="1" dirty="0">
                <a:solidFill>
                  <a:schemeClr val="tx1"/>
                </a:solidFill>
              </a:rPr>
              <a:t>Difficulty finding alternatives</a:t>
            </a:r>
            <a:endParaRPr lang="en-US" sz="1600" dirty="0"/>
          </a:p>
        </p:txBody>
      </p:sp>
      <p:sp>
        <p:nvSpPr>
          <p:cNvPr id="13" name="Shape 7"/>
          <p:cNvSpPr/>
          <p:nvPr/>
        </p:nvSpPr>
        <p:spPr>
          <a:xfrm>
            <a:off x="457200" y="3209544"/>
            <a:ext cx="502920" cy="50292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582930" y="3335274"/>
            <a:ext cx="251460" cy="251460"/>
          </a:xfrm>
          <a:prstGeom prst="rect">
            <a:avLst/>
          </a:prstGeom>
        </p:spPr>
      </p:pic>
      <p:sp>
        <p:nvSpPr>
          <p:cNvPr id="15" name="Text 8"/>
          <p:cNvSpPr txBox="1"/>
          <p:nvPr/>
        </p:nvSpPr>
        <p:spPr>
          <a:xfrm>
            <a:off x="1188720" y="3209544"/>
            <a:ext cx="4297680" cy="502920"/>
          </a:xfrm>
          <a:prstGeom prst="rect">
            <a:avLst/>
          </a:prstGeom>
          <a:noFill/>
          <a:ln/>
        </p:spPr>
        <p:txBody>
          <a:bodyPr wrap="square" lIns="0" tIns="0" rIns="0" bIns="0" rtlCol="0" anchor="ctr"/>
          <a:lstStyle/>
          <a:p>
            <a:pPr indent="0" marL="0">
              <a:buNone/>
            </a:pPr>
            <a:r>
              <a:rPr lang="en-US" sz="1600" b="1" dirty="0">
                <a:solidFill>
                  <a:schemeClr val="tx1"/>
                </a:solidFill>
              </a:rPr>
              <a:t>Medicine availability is unknown</a:t>
            </a:r>
            <a:endParaRPr lang="en-US" sz="1600" dirty="0"/>
          </a:p>
        </p:txBody>
      </p:sp>
      <p:sp>
        <p:nvSpPr>
          <p:cNvPr id="16" name="Shape 9"/>
          <p:cNvSpPr/>
          <p:nvPr/>
        </p:nvSpPr>
        <p:spPr>
          <a:xfrm>
            <a:off x="457200" y="3913632"/>
            <a:ext cx="502920" cy="502920"/>
          </a:xfrm>
          <a:prstGeom prst="ellipse">
            <a:avLst/>
          </a:prstGeom>
          <a:solidFill>
            <a:schemeClr val="accent1"/>
          </a:solidFill>
          <a:ln/>
        </p:spPr>
      </p:sp>
      <p:pic>
        <p:nvPicPr>
          <p:cNvPr id="17" name="Image 4" descr="preencoded.png">    </p:cNvPr>
          <p:cNvPicPr>
            <a:picLocks noChangeAspect="1"/>
          </p:cNvPicPr>
          <p:nvPr/>
        </p:nvPicPr>
        <p:blipFill>
          <a:blip r:embed="rId5"/>
          <a:stretch>
            <a:fillRect/>
          </a:stretch>
        </p:blipFill>
        <p:spPr>
          <a:xfrm>
            <a:off x="582930" y="4039362"/>
            <a:ext cx="251460" cy="251460"/>
          </a:xfrm>
          <a:prstGeom prst="rect">
            <a:avLst/>
          </a:prstGeom>
        </p:spPr>
      </p:pic>
      <p:sp>
        <p:nvSpPr>
          <p:cNvPr id="18" name="Text 10"/>
          <p:cNvSpPr txBox="1"/>
          <p:nvPr/>
        </p:nvSpPr>
        <p:spPr>
          <a:xfrm>
            <a:off x="1188720" y="3913632"/>
            <a:ext cx="4297680" cy="502920"/>
          </a:xfrm>
          <a:prstGeom prst="rect">
            <a:avLst/>
          </a:prstGeom>
          <a:noFill/>
          <a:ln/>
        </p:spPr>
        <p:txBody>
          <a:bodyPr wrap="square" lIns="0" tIns="0" rIns="0" bIns="0" rtlCol="0" anchor="ctr"/>
          <a:lstStyle/>
          <a:p>
            <a:pPr indent="0" marL="0">
              <a:buNone/>
            </a:pPr>
            <a:r>
              <a:rPr lang="en-US" sz="1600" b="1" dirty="0">
                <a:solidFill>
                  <a:schemeClr val="tx1"/>
                </a:solidFill>
              </a:rPr>
              <a:t>Pharmacists repeat the same answers daily</a:t>
            </a:r>
            <a:endParaRPr lang="en-US" sz="1600" dirty="0"/>
          </a:p>
        </p:txBody>
      </p:sp>
      <p:sp>
        <p:nvSpPr>
          <p:cNvPr id="19" name="Shape 11"/>
          <p:cNvSpPr/>
          <p:nvPr/>
        </p:nvSpPr>
        <p:spPr>
          <a:xfrm>
            <a:off x="5760720" y="1097280"/>
            <a:ext cx="2926080" cy="3429000"/>
          </a:xfrm>
          <a:prstGeom prst="roundRect">
            <a:avLst>
              <a:gd name="adj" fmla="val 3750"/>
            </a:avLst>
          </a:prstGeom>
          <a:solidFill>
            <a:schemeClr val="bg2"/>
          </a:solidFill>
          <a:ln/>
        </p:spPr>
      </p:sp>
      <p:sp>
        <p:nvSpPr>
          <p:cNvPr id="20" name="Shape 12"/>
          <p:cNvSpPr/>
          <p:nvPr/>
        </p:nvSpPr>
        <p:spPr>
          <a:xfrm>
            <a:off x="6309360" y="1714500"/>
            <a:ext cx="1828800" cy="1828800"/>
          </a:xfrm>
          <a:prstGeom prst="ellipse">
            <a:avLst/>
          </a:prstGeom>
          <a:solidFill>
            <a:schemeClr val="bg1"/>
          </a:solidFill>
          <a:ln/>
        </p:spPr>
      </p:sp>
      <p:sp>
        <p:nvSpPr>
          <p:cNvPr id="21" name="Shape 13"/>
          <p:cNvSpPr/>
          <p:nvPr/>
        </p:nvSpPr>
        <p:spPr>
          <a:xfrm>
            <a:off x="6675120" y="2080260"/>
            <a:ext cx="1097280" cy="1097280"/>
          </a:xfrm>
          <a:prstGeom prst="ellipse">
            <a:avLst/>
          </a:prstGeom>
          <a:solidFill>
            <a:schemeClr val="accent1"/>
          </a:solidFill>
          <a:ln/>
        </p:spPr>
      </p:sp>
      <p:pic>
        <p:nvPicPr>
          <p:cNvPr id="22" name="Image 5" descr="preencoded.png">    </p:cNvPr>
          <p:cNvPicPr>
            <a:picLocks noChangeAspect="1"/>
          </p:cNvPicPr>
          <p:nvPr/>
        </p:nvPicPr>
        <p:blipFill>
          <a:blip r:embed="rId6"/>
          <a:stretch>
            <a:fillRect/>
          </a:stretch>
        </p:blipFill>
        <p:spPr>
          <a:xfrm>
            <a:off x="6949440" y="2354580"/>
            <a:ext cx="548640" cy="548640"/>
          </a:xfrm>
          <a:prstGeom prst="rect">
            <a:avLst/>
          </a:prstGeom>
        </p:spPr>
      </p:pic>
      <p:sp>
        <p:nvSpPr>
          <p:cNvPr id="23" name="Shape 14"/>
          <p:cNvSpPr/>
          <p:nvPr/>
        </p:nvSpPr>
        <p:spPr>
          <a:xfrm>
            <a:off x="5897880" y="1577340"/>
            <a:ext cx="548640" cy="548640"/>
          </a:xfrm>
          <a:prstGeom prst="ellipse">
            <a:avLst/>
          </a:prstGeom>
          <a:solidFill>
            <a:schemeClr val="accent3"/>
          </a:solidFill>
          <a:ln/>
        </p:spPr>
      </p:sp>
      <p:pic>
        <p:nvPicPr>
          <p:cNvPr id="24" name="Image 6" descr="preencoded.png">    </p:cNvPr>
          <p:cNvPicPr>
            <a:picLocks noChangeAspect="1"/>
          </p:cNvPicPr>
          <p:nvPr/>
        </p:nvPicPr>
        <p:blipFill>
          <a:blip r:embed="rId7"/>
          <a:stretch>
            <a:fillRect/>
          </a:stretch>
        </p:blipFill>
        <p:spPr>
          <a:xfrm>
            <a:off x="6035040" y="1714500"/>
            <a:ext cx="274320" cy="274320"/>
          </a:xfrm>
          <a:prstGeom prst="rect">
            <a:avLst/>
          </a:prstGeom>
        </p:spPr>
      </p:pic>
      <p:sp>
        <p:nvSpPr>
          <p:cNvPr id="25" name="Shape 15"/>
          <p:cNvSpPr/>
          <p:nvPr/>
        </p:nvSpPr>
        <p:spPr>
          <a:xfrm>
            <a:off x="8001000" y="1577340"/>
            <a:ext cx="548640" cy="548640"/>
          </a:xfrm>
          <a:prstGeom prst="ellipse">
            <a:avLst/>
          </a:prstGeom>
          <a:solidFill>
            <a:schemeClr val="accent2"/>
          </a:solidFill>
          <a:ln/>
        </p:spPr>
      </p:sp>
      <p:pic>
        <p:nvPicPr>
          <p:cNvPr id="26" name="Image 7" descr="preencoded.png">    </p:cNvPr>
          <p:cNvPicPr>
            <a:picLocks noChangeAspect="1"/>
          </p:cNvPicPr>
          <p:nvPr/>
        </p:nvPicPr>
        <p:blipFill>
          <a:blip r:embed="rId8"/>
          <a:stretch>
            <a:fillRect/>
          </a:stretch>
        </p:blipFill>
        <p:spPr>
          <a:xfrm>
            <a:off x="8138160" y="1714500"/>
            <a:ext cx="274320" cy="274320"/>
          </a:xfrm>
          <a:prstGeom prst="rect">
            <a:avLst/>
          </a:prstGeom>
        </p:spPr>
      </p:pic>
      <p:sp>
        <p:nvSpPr>
          <p:cNvPr id="27" name="Shape 16"/>
          <p:cNvSpPr/>
          <p:nvPr/>
        </p:nvSpPr>
        <p:spPr>
          <a:xfrm>
            <a:off x="5897880" y="3131820"/>
            <a:ext cx="548640" cy="548640"/>
          </a:xfrm>
          <a:prstGeom prst="ellipse">
            <a:avLst/>
          </a:prstGeom>
          <a:solidFill>
            <a:schemeClr val="accent2"/>
          </a:solidFill>
          <a:ln/>
        </p:spPr>
      </p:sp>
      <p:pic>
        <p:nvPicPr>
          <p:cNvPr id="28" name="Image 8" descr="preencoded.png">    </p:cNvPr>
          <p:cNvPicPr>
            <a:picLocks noChangeAspect="1"/>
          </p:cNvPicPr>
          <p:nvPr/>
        </p:nvPicPr>
        <p:blipFill>
          <a:blip r:embed="rId9"/>
          <a:stretch>
            <a:fillRect/>
          </a:stretch>
        </p:blipFill>
        <p:spPr>
          <a:xfrm>
            <a:off x="6035040" y="3268980"/>
            <a:ext cx="274320" cy="274320"/>
          </a:xfrm>
          <a:prstGeom prst="rect">
            <a:avLst/>
          </a:prstGeom>
        </p:spPr>
      </p:pic>
      <p:sp>
        <p:nvSpPr>
          <p:cNvPr id="29" name="Shape 17"/>
          <p:cNvSpPr/>
          <p:nvPr/>
        </p:nvSpPr>
        <p:spPr>
          <a:xfrm>
            <a:off x="8001000" y="3131820"/>
            <a:ext cx="548640" cy="548640"/>
          </a:xfrm>
          <a:prstGeom prst="ellipse">
            <a:avLst/>
          </a:prstGeom>
          <a:solidFill>
            <a:schemeClr val="accent3"/>
          </a:solidFill>
          <a:ln/>
        </p:spPr>
      </p:sp>
      <p:pic>
        <p:nvPicPr>
          <p:cNvPr id="30" name="Image 9" descr="preencoded.png">    </p:cNvPr>
          <p:cNvPicPr>
            <a:picLocks noChangeAspect="1"/>
          </p:cNvPicPr>
          <p:nvPr/>
        </p:nvPicPr>
        <p:blipFill>
          <a:blip r:embed="rId10"/>
          <a:stretch>
            <a:fillRect/>
          </a:stretch>
        </p:blipFill>
        <p:spPr>
          <a:xfrm>
            <a:off x="8138160" y="3268980"/>
            <a:ext cx="274320" cy="274320"/>
          </a:xfrm>
          <a:prstGeom prst="rect">
            <a:avLst/>
          </a:prstGeom>
        </p:spPr>
      </p:pic>
      <p:sp>
        <p:nvSpPr>
          <p:cNvPr id="31" name="Text 18"/>
          <p:cNvSpPr txBox="1"/>
          <p:nvPr/>
        </p:nvSpPr>
        <p:spPr>
          <a:xfrm>
            <a:off x="5943600" y="4023360"/>
            <a:ext cx="2560320" cy="365760"/>
          </a:xfrm>
          <a:prstGeom prst="rect">
            <a:avLst/>
          </a:prstGeom>
          <a:noFill/>
          <a:ln/>
        </p:spPr>
        <p:txBody>
          <a:bodyPr wrap="square" lIns="0" tIns="0" rIns="0" bIns="0" rtlCol="0" anchor="t"/>
          <a:lstStyle/>
          <a:p>
            <a:pPr algn="ctr" indent="0" marL="0">
              <a:buNone/>
            </a:pPr>
            <a:r>
              <a:rPr lang="en-US" sz="1400" b="1" dirty="0">
                <a:solidFill>
                  <a:schemeClr val="tx2"/>
                </a:solidFill>
              </a:rPr>
              <a:t>Patient - Prescription gap</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Objectives</a:t>
            </a:r>
            <a:endParaRPr lang="en-US" sz="3000" dirty="0"/>
          </a:p>
        </p:txBody>
      </p:sp>
      <p:sp>
        <p:nvSpPr>
          <p:cNvPr id="4" name="Shape 1"/>
          <p:cNvSpPr/>
          <p:nvPr/>
        </p:nvSpPr>
        <p:spPr>
          <a:xfrm>
            <a:off x="457200" y="1143000"/>
            <a:ext cx="1920240" cy="1600200"/>
          </a:xfrm>
          <a:prstGeom prst="roundRect">
            <a:avLst>
              <a:gd name="adj" fmla="val 6857"/>
            </a:avLst>
          </a:prstGeom>
          <a:solidFill>
            <a:schemeClr val="bg2"/>
          </a:solidFill>
          <a:ln/>
        </p:spPr>
      </p:sp>
      <p:sp>
        <p:nvSpPr>
          <p:cNvPr id="5" name="Shape 2"/>
          <p:cNvSpPr/>
          <p:nvPr/>
        </p:nvSpPr>
        <p:spPr>
          <a:xfrm>
            <a:off x="640080" y="132588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77240" y="1463040"/>
            <a:ext cx="274320" cy="274320"/>
          </a:xfrm>
          <a:prstGeom prst="rect">
            <a:avLst/>
          </a:prstGeom>
        </p:spPr>
      </p:pic>
      <p:sp>
        <p:nvSpPr>
          <p:cNvPr id="7" name="Text 3"/>
          <p:cNvSpPr txBox="1"/>
          <p:nvPr/>
        </p:nvSpPr>
        <p:spPr>
          <a:xfrm>
            <a:off x="640080" y="2011680"/>
            <a:ext cx="1554480" cy="640080"/>
          </a:xfrm>
          <a:prstGeom prst="rect">
            <a:avLst/>
          </a:prstGeom>
          <a:noFill/>
          <a:ln/>
        </p:spPr>
        <p:txBody>
          <a:bodyPr wrap="square" lIns="0" tIns="0" rIns="0" bIns="0" rtlCol="0" anchor="t"/>
          <a:lstStyle/>
          <a:p>
            <a:pPr indent="0" marL="0">
              <a:buNone/>
            </a:pPr>
            <a:r>
              <a:rPr lang="en-US" sz="1500" b="1" dirty="0">
                <a:solidFill>
                  <a:schemeClr val="tx1"/>
                </a:solidFill>
              </a:rPr>
              <a:t>Build an AI chatbot</a:t>
            </a:r>
            <a:endParaRPr lang="en-US" sz="1500" dirty="0"/>
          </a:p>
        </p:txBody>
      </p:sp>
      <p:sp>
        <p:nvSpPr>
          <p:cNvPr id="8" name="Shape 4"/>
          <p:cNvSpPr/>
          <p:nvPr/>
        </p:nvSpPr>
        <p:spPr>
          <a:xfrm>
            <a:off x="2560320" y="1143000"/>
            <a:ext cx="1920240" cy="1600200"/>
          </a:xfrm>
          <a:prstGeom prst="roundRect">
            <a:avLst>
              <a:gd name="adj" fmla="val 6857"/>
            </a:avLst>
          </a:prstGeom>
          <a:solidFill>
            <a:schemeClr val="bg2"/>
          </a:solidFill>
          <a:ln/>
        </p:spPr>
      </p:sp>
      <p:sp>
        <p:nvSpPr>
          <p:cNvPr id="9" name="Shape 5"/>
          <p:cNvSpPr/>
          <p:nvPr/>
        </p:nvSpPr>
        <p:spPr>
          <a:xfrm>
            <a:off x="2743200" y="132588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880360" y="1463040"/>
            <a:ext cx="274320" cy="274320"/>
          </a:xfrm>
          <a:prstGeom prst="rect">
            <a:avLst/>
          </a:prstGeom>
        </p:spPr>
      </p:pic>
      <p:sp>
        <p:nvSpPr>
          <p:cNvPr id="11" name="Text 6"/>
          <p:cNvSpPr txBox="1"/>
          <p:nvPr/>
        </p:nvSpPr>
        <p:spPr>
          <a:xfrm>
            <a:off x="2743200" y="2011680"/>
            <a:ext cx="1554480" cy="640080"/>
          </a:xfrm>
          <a:prstGeom prst="rect">
            <a:avLst/>
          </a:prstGeom>
          <a:noFill/>
          <a:ln/>
        </p:spPr>
        <p:txBody>
          <a:bodyPr wrap="square" lIns="0" tIns="0" rIns="0" bIns="0" rtlCol="0" anchor="t"/>
          <a:lstStyle/>
          <a:p>
            <a:pPr indent="0" marL="0">
              <a:buNone/>
            </a:pPr>
            <a:r>
              <a:rPr lang="en-US" sz="1500" b="1" dirty="0">
                <a:solidFill>
                  <a:schemeClr val="tx1"/>
                </a:solidFill>
              </a:rPr>
              <a:t>Explain medicines</a:t>
            </a:r>
            <a:endParaRPr lang="en-US" sz="1500" dirty="0"/>
          </a:p>
        </p:txBody>
      </p:sp>
      <p:sp>
        <p:nvSpPr>
          <p:cNvPr id="12" name="Shape 7"/>
          <p:cNvSpPr/>
          <p:nvPr/>
        </p:nvSpPr>
        <p:spPr>
          <a:xfrm>
            <a:off x="4663440" y="1143000"/>
            <a:ext cx="1920240" cy="1600200"/>
          </a:xfrm>
          <a:prstGeom prst="roundRect">
            <a:avLst>
              <a:gd name="adj" fmla="val 6857"/>
            </a:avLst>
          </a:prstGeom>
          <a:solidFill>
            <a:schemeClr val="bg2"/>
          </a:solidFill>
          <a:ln/>
        </p:spPr>
      </p:sp>
      <p:sp>
        <p:nvSpPr>
          <p:cNvPr id="13" name="Shape 8"/>
          <p:cNvSpPr/>
          <p:nvPr/>
        </p:nvSpPr>
        <p:spPr>
          <a:xfrm>
            <a:off x="4846320" y="1325880"/>
            <a:ext cx="548640" cy="54864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4983480" y="1463040"/>
            <a:ext cx="274320" cy="274320"/>
          </a:xfrm>
          <a:prstGeom prst="rect">
            <a:avLst/>
          </a:prstGeom>
        </p:spPr>
      </p:pic>
      <p:sp>
        <p:nvSpPr>
          <p:cNvPr id="15" name="Text 9"/>
          <p:cNvSpPr txBox="1"/>
          <p:nvPr/>
        </p:nvSpPr>
        <p:spPr>
          <a:xfrm>
            <a:off x="4846320" y="2011680"/>
            <a:ext cx="1554480" cy="640080"/>
          </a:xfrm>
          <a:prstGeom prst="rect">
            <a:avLst/>
          </a:prstGeom>
          <a:noFill/>
          <a:ln/>
        </p:spPr>
        <p:txBody>
          <a:bodyPr wrap="square" lIns="0" tIns="0" rIns="0" bIns="0" rtlCol="0" anchor="t"/>
          <a:lstStyle/>
          <a:p>
            <a:pPr indent="0" marL="0">
              <a:buNone/>
            </a:pPr>
            <a:r>
              <a:rPr lang="en-US" sz="1500" b="1" dirty="0">
                <a:solidFill>
                  <a:schemeClr val="tx1"/>
                </a:solidFill>
              </a:rPr>
              <a:t>Search medicine database</a:t>
            </a:r>
            <a:endParaRPr lang="en-US" sz="1500" dirty="0"/>
          </a:p>
        </p:txBody>
      </p:sp>
      <p:sp>
        <p:nvSpPr>
          <p:cNvPr id="16" name="Shape 10"/>
          <p:cNvSpPr/>
          <p:nvPr/>
        </p:nvSpPr>
        <p:spPr>
          <a:xfrm>
            <a:off x="6766560" y="1143000"/>
            <a:ext cx="1920240" cy="1600200"/>
          </a:xfrm>
          <a:prstGeom prst="roundRect">
            <a:avLst>
              <a:gd name="adj" fmla="val 6857"/>
            </a:avLst>
          </a:prstGeom>
          <a:solidFill>
            <a:schemeClr val="bg2"/>
          </a:solidFill>
          <a:ln/>
        </p:spPr>
      </p:sp>
      <p:sp>
        <p:nvSpPr>
          <p:cNvPr id="17" name="Shape 11"/>
          <p:cNvSpPr/>
          <p:nvPr/>
        </p:nvSpPr>
        <p:spPr>
          <a:xfrm>
            <a:off x="6949440" y="1325880"/>
            <a:ext cx="548640" cy="54864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7086600" y="1463040"/>
            <a:ext cx="274320" cy="274320"/>
          </a:xfrm>
          <a:prstGeom prst="rect">
            <a:avLst/>
          </a:prstGeom>
        </p:spPr>
      </p:pic>
      <p:sp>
        <p:nvSpPr>
          <p:cNvPr id="19" name="Text 12"/>
          <p:cNvSpPr txBox="1"/>
          <p:nvPr/>
        </p:nvSpPr>
        <p:spPr>
          <a:xfrm>
            <a:off x="6949440" y="2011680"/>
            <a:ext cx="1554480" cy="640080"/>
          </a:xfrm>
          <a:prstGeom prst="rect">
            <a:avLst/>
          </a:prstGeom>
          <a:noFill/>
          <a:ln/>
        </p:spPr>
        <p:txBody>
          <a:bodyPr wrap="square" lIns="0" tIns="0" rIns="0" bIns="0" rtlCol="0" anchor="t"/>
          <a:lstStyle/>
          <a:p>
            <a:pPr indent="0" marL="0">
              <a:buNone/>
            </a:pPr>
            <a:r>
              <a:rPr lang="en-US" sz="1500" b="1" dirty="0">
                <a:solidFill>
                  <a:schemeClr val="tx1"/>
                </a:solidFill>
              </a:rPr>
              <a:t>Suggest alternatives</a:t>
            </a:r>
            <a:endParaRPr lang="en-US" sz="1500" dirty="0"/>
          </a:p>
        </p:txBody>
      </p:sp>
      <p:sp>
        <p:nvSpPr>
          <p:cNvPr id="20" name="Shape 13"/>
          <p:cNvSpPr/>
          <p:nvPr/>
        </p:nvSpPr>
        <p:spPr>
          <a:xfrm>
            <a:off x="457200" y="2926080"/>
            <a:ext cx="1920240" cy="1600200"/>
          </a:xfrm>
          <a:prstGeom prst="roundRect">
            <a:avLst>
              <a:gd name="adj" fmla="val 6857"/>
            </a:avLst>
          </a:prstGeom>
          <a:solidFill>
            <a:schemeClr val="bg2"/>
          </a:solidFill>
          <a:ln/>
        </p:spPr>
      </p:sp>
      <p:sp>
        <p:nvSpPr>
          <p:cNvPr id="21" name="Shape 14"/>
          <p:cNvSpPr/>
          <p:nvPr/>
        </p:nvSpPr>
        <p:spPr>
          <a:xfrm>
            <a:off x="640080" y="3108960"/>
            <a:ext cx="548640" cy="54864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777240" y="3246120"/>
            <a:ext cx="274320" cy="274320"/>
          </a:xfrm>
          <a:prstGeom prst="rect">
            <a:avLst/>
          </a:prstGeom>
        </p:spPr>
      </p:pic>
      <p:sp>
        <p:nvSpPr>
          <p:cNvPr id="23" name="Text 15"/>
          <p:cNvSpPr txBox="1"/>
          <p:nvPr/>
        </p:nvSpPr>
        <p:spPr>
          <a:xfrm>
            <a:off x="640080" y="3794760"/>
            <a:ext cx="1554480" cy="640080"/>
          </a:xfrm>
          <a:prstGeom prst="rect">
            <a:avLst/>
          </a:prstGeom>
          <a:noFill/>
          <a:ln/>
        </p:spPr>
        <p:txBody>
          <a:bodyPr wrap="square" lIns="0" tIns="0" rIns="0" bIns="0" rtlCol="0" anchor="t"/>
          <a:lstStyle/>
          <a:p>
            <a:pPr indent="0" marL="0">
              <a:buNone/>
            </a:pPr>
            <a:r>
              <a:rPr lang="en-US" sz="1500" b="1" dirty="0">
                <a:solidFill>
                  <a:schemeClr val="tx1"/>
                </a:solidFill>
              </a:rPr>
              <a:t>Show stock availability</a:t>
            </a:r>
            <a:endParaRPr lang="en-US" sz="1500" dirty="0"/>
          </a:p>
        </p:txBody>
      </p:sp>
      <p:sp>
        <p:nvSpPr>
          <p:cNvPr id="24" name="Shape 16"/>
          <p:cNvSpPr/>
          <p:nvPr/>
        </p:nvSpPr>
        <p:spPr>
          <a:xfrm>
            <a:off x="2560320" y="2926080"/>
            <a:ext cx="1920240" cy="1600200"/>
          </a:xfrm>
          <a:prstGeom prst="roundRect">
            <a:avLst>
              <a:gd name="adj" fmla="val 6857"/>
            </a:avLst>
          </a:prstGeom>
          <a:solidFill>
            <a:schemeClr val="bg2"/>
          </a:solidFill>
          <a:ln/>
        </p:spPr>
      </p:sp>
      <p:sp>
        <p:nvSpPr>
          <p:cNvPr id="25" name="Shape 17"/>
          <p:cNvSpPr/>
          <p:nvPr/>
        </p:nvSpPr>
        <p:spPr>
          <a:xfrm>
            <a:off x="2743200" y="3108960"/>
            <a:ext cx="548640" cy="548640"/>
          </a:xfrm>
          <a:prstGeom prst="ellipse">
            <a:avLst/>
          </a:prstGeom>
          <a:solidFill>
            <a:schemeClr val="accent1"/>
          </a:solidFill>
          <a:ln/>
        </p:spPr>
      </p:sp>
      <p:pic>
        <p:nvPicPr>
          <p:cNvPr id="26" name="Image 5" descr="preencoded.png">    </p:cNvPr>
          <p:cNvPicPr>
            <a:picLocks noChangeAspect="1"/>
          </p:cNvPicPr>
          <p:nvPr/>
        </p:nvPicPr>
        <p:blipFill>
          <a:blip r:embed="rId6"/>
          <a:stretch>
            <a:fillRect/>
          </a:stretch>
        </p:blipFill>
        <p:spPr>
          <a:xfrm>
            <a:off x="2880360" y="3246120"/>
            <a:ext cx="274320" cy="274320"/>
          </a:xfrm>
          <a:prstGeom prst="rect">
            <a:avLst/>
          </a:prstGeom>
        </p:spPr>
      </p:pic>
      <p:sp>
        <p:nvSpPr>
          <p:cNvPr id="27" name="Text 18"/>
          <p:cNvSpPr txBox="1"/>
          <p:nvPr/>
        </p:nvSpPr>
        <p:spPr>
          <a:xfrm>
            <a:off x="2743200" y="3794760"/>
            <a:ext cx="1554480" cy="640080"/>
          </a:xfrm>
          <a:prstGeom prst="rect">
            <a:avLst/>
          </a:prstGeom>
          <a:noFill/>
          <a:ln/>
        </p:spPr>
        <p:txBody>
          <a:bodyPr wrap="square" lIns="0" tIns="0" rIns="0" bIns="0" rtlCol="0" anchor="t"/>
          <a:lstStyle/>
          <a:p>
            <a:pPr indent="0" marL="0">
              <a:buNone/>
            </a:pPr>
            <a:r>
              <a:rPr lang="en-US" sz="1500" b="1" dirty="0">
                <a:solidFill>
                  <a:schemeClr val="tx1"/>
                </a:solidFill>
              </a:rPr>
              <a:t>Use Retrieval Augmented Generation</a:t>
            </a:r>
            <a:endParaRPr lang="en-US" sz="1500" dirty="0"/>
          </a:p>
        </p:txBody>
      </p:sp>
      <p:sp>
        <p:nvSpPr>
          <p:cNvPr id="28" name="Shape 19"/>
          <p:cNvSpPr/>
          <p:nvPr/>
        </p:nvSpPr>
        <p:spPr>
          <a:xfrm>
            <a:off x="4663440" y="2926080"/>
            <a:ext cx="1920240" cy="1600200"/>
          </a:xfrm>
          <a:prstGeom prst="roundRect">
            <a:avLst>
              <a:gd name="adj" fmla="val 6857"/>
            </a:avLst>
          </a:prstGeom>
          <a:solidFill>
            <a:schemeClr val="bg2"/>
          </a:solidFill>
          <a:ln/>
        </p:spPr>
      </p:sp>
      <p:sp>
        <p:nvSpPr>
          <p:cNvPr id="29" name="Shape 20"/>
          <p:cNvSpPr/>
          <p:nvPr/>
        </p:nvSpPr>
        <p:spPr>
          <a:xfrm>
            <a:off x="4846320" y="3108960"/>
            <a:ext cx="548640" cy="548640"/>
          </a:xfrm>
          <a:prstGeom prst="ellipse">
            <a:avLst/>
          </a:prstGeom>
          <a:solidFill>
            <a:schemeClr val="accent1"/>
          </a:solidFill>
          <a:ln/>
        </p:spPr>
      </p:sp>
      <p:pic>
        <p:nvPicPr>
          <p:cNvPr id="30" name="Image 6" descr="preencoded.png">    </p:cNvPr>
          <p:cNvPicPr>
            <a:picLocks noChangeAspect="1"/>
          </p:cNvPicPr>
          <p:nvPr/>
        </p:nvPicPr>
        <p:blipFill>
          <a:blip r:embed="rId7"/>
          <a:stretch>
            <a:fillRect/>
          </a:stretch>
        </p:blipFill>
        <p:spPr>
          <a:xfrm>
            <a:off x="4983480" y="3246120"/>
            <a:ext cx="274320" cy="274320"/>
          </a:xfrm>
          <a:prstGeom prst="rect">
            <a:avLst/>
          </a:prstGeom>
        </p:spPr>
      </p:pic>
      <p:sp>
        <p:nvSpPr>
          <p:cNvPr id="31" name="Text 21"/>
          <p:cNvSpPr txBox="1"/>
          <p:nvPr/>
        </p:nvSpPr>
        <p:spPr>
          <a:xfrm>
            <a:off x="4846320" y="3794760"/>
            <a:ext cx="1554480" cy="640080"/>
          </a:xfrm>
          <a:prstGeom prst="rect">
            <a:avLst/>
          </a:prstGeom>
          <a:noFill/>
          <a:ln/>
        </p:spPr>
        <p:txBody>
          <a:bodyPr wrap="square" lIns="0" tIns="0" rIns="0" bIns="0" rtlCol="0" anchor="t"/>
          <a:lstStyle/>
          <a:p>
            <a:pPr indent="0" marL="0">
              <a:buNone/>
            </a:pPr>
            <a:r>
              <a:rPr lang="en-US" sz="1500" b="1" dirty="0">
                <a:solidFill>
                  <a:schemeClr val="tx1"/>
                </a:solidFill>
              </a:rPr>
              <a:t>Deliver fast responses</a:t>
            </a:r>
            <a:endParaRPr lang="en-US" sz="1500" dirty="0"/>
          </a:p>
        </p:txBody>
      </p:sp>
      <p:sp>
        <p:nvSpPr>
          <p:cNvPr id="32" name="Shape 22"/>
          <p:cNvSpPr/>
          <p:nvPr/>
        </p:nvSpPr>
        <p:spPr>
          <a:xfrm>
            <a:off x="6766560" y="2926080"/>
            <a:ext cx="1920240" cy="1600200"/>
          </a:xfrm>
          <a:prstGeom prst="roundRect">
            <a:avLst>
              <a:gd name="adj" fmla="val 6857"/>
            </a:avLst>
          </a:prstGeom>
          <a:solidFill>
            <a:schemeClr val="bg2"/>
          </a:solidFill>
          <a:ln/>
        </p:spPr>
      </p:sp>
      <p:sp>
        <p:nvSpPr>
          <p:cNvPr id="33" name="Shape 23"/>
          <p:cNvSpPr/>
          <p:nvPr/>
        </p:nvSpPr>
        <p:spPr>
          <a:xfrm>
            <a:off x="6949440" y="3108960"/>
            <a:ext cx="548640" cy="548640"/>
          </a:xfrm>
          <a:prstGeom prst="ellipse">
            <a:avLst/>
          </a:prstGeom>
          <a:solidFill>
            <a:schemeClr val="accent1"/>
          </a:solidFill>
          <a:ln/>
        </p:spPr>
      </p:sp>
      <p:pic>
        <p:nvPicPr>
          <p:cNvPr id="34" name="Image 7" descr="preencoded.png">    </p:cNvPr>
          <p:cNvPicPr>
            <a:picLocks noChangeAspect="1"/>
          </p:cNvPicPr>
          <p:nvPr/>
        </p:nvPicPr>
        <p:blipFill>
          <a:blip r:embed="rId8"/>
          <a:stretch>
            <a:fillRect/>
          </a:stretch>
        </p:blipFill>
        <p:spPr>
          <a:xfrm>
            <a:off x="7086600" y="3246120"/>
            <a:ext cx="274320" cy="274320"/>
          </a:xfrm>
          <a:prstGeom prst="rect">
            <a:avLst/>
          </a:prstGeom>
        </p:spPr>
      </p:pic>
      <p:sp>
        <p:nvSpPr>
          <p:cNvPr id="35" name="Text 24"/>
          <p:cNvSpPr txBox="1"/>
          <p:nvPr/>
        </p:nvSpPr>
        <p:spPr>
          <a:xfrm>
            <a:off x="6949440" y="3794760"/>
            <a:ext cx="1554480" cy="640080"/>
          </a:xfrm>
          <a:prstGeom prst="rect">
            <a:avLst/>
          </a:prstGeom>
          <a:noFill/>
          <a:ln/>
        </p:spPr>
        <p:txBody>
          <a:bodyPr wrap="square" lIns="0" tIns="0" rIns="0" bIns="0" rtlCol="0" anchor="t"/>
          <a:lstStyle/>
          <a:p>
            <a:pPr indent="0" marL="0">
              <a:buNone/>
            </a:pPr>
            <a:r>
              <a:rPr lang="en-US" sz="1500" b="1" dirty="0">
                <a:solidFill>
                  <a:schemeClr val="tx1"/>
                </a:solidFill>
              </a:rPr>
              <a:t>User-friendly interface</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Existing System</a:t>
            </a:r>
            <a:endParaRPr lang="en-US" sz="3000" dirty="0"/>
          </a:p>
        </p:txBody>
      </p:sp>
      <p:sp>
        <p:nvSpPr>
          <p:cNvPr id="4" name="Shape 1"/>
          <p:cNvSpPr/>
          <p:nvPr/>
        </p:nvSpPr>
        <p:spPr>
          <a:xfrm>
            <a:off x="457200" y="1097280"/>
            <a:ext cx="1463040" cy="1143000"/>
          </a:xfrm>
          <a:prstGeom prst="roundRect">
            <a:avLst>
              <a:gd name="adj" fmla="val 9600"/>
            </a:avLst>
          </a:prstGeom>
          <a:solidFill>
            <a:schemeClr val="bg2"/>
          </a:solidFill>
          <a:ln/>
        </p:spPr>
      </p:sp>
      <p:sp>
        <p:nvSpPr>
          <p:cNvPr id="5" name="Shape 2"/>
          <p:cNvSpPr/>
          <p:nvPr/>
        </p:nvSpPr>
        <p:spPr>
          <a:xfrm>
            <a:off x="960120" y="1207008"/>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74420" y="1321308"/>
            <a:ext cx="228600" cy="228600"/>
          </a:xfrm>
          <a:prstGeom prst="rect">
            <a:avLst/>
          </a:prstGeom>
        </p:spPr>
      </p:pic>
      <p:sp>
        <p:nvSpPr>
          <p:cNvPr id="7" name="Text 3"/>
          <p:cNvSpPr txBox="1"/>
          <p:nvPr/>
        </p:nvSpPr>
        <p:spPr>
          <a:xfrm>
            <a:off x="502920" y="1737360"/>
            <a:ext cx="1371600" cy="457200"/>
          </a:xfrm>
          <a:prstGeom prst="rect">
            <a:avLst/>
          </a:prstGeom>
          <a:noFill/>
          <a:ln/>
        </p:spPr>
        <p:txBody>
          <a:bodyPr wrap="square" lIns="0" tIns="0" rIns="0" bIns="0" rtlCol="0" anchor="t"/>
          <a:lstStyle/>
          <a:p>
            <a:pPr algn="ctr" indent="0" marL="0">
              <a:buNone/>
            </a:pPr>
            <a:r>
              <a:rPr lang="en-US" sz="1400" b="1" dirty="0">
                <a:solidFill>
                  <a:schemeClr val="tx1"/>
                </a:solidFill>
              </a:rPr>
              <a:t>Patient</a:t>
            </a:r>
            <a:endParaRPr lang="en-US" sz="1400" dirty="0"/>
          </a:p>
        </p:txBody>
      </p:sp>
      <p:sp>
        <p:nvSpPr>
          <p:cNvPr id="8" name="Shape 4"/>
          <p:cNvSpPr/>
          <p:nvPr/>
        </p:nvSpPr>
        <p:spPr>
          <a:xfrm>
            <a:off x="1947672" y="1554480"/>
            <a:ext cx="173736" cy="228600"/>
          </a:xfrm>
          <a:prstGeom prst="rightArrow">
            <a:avLst/>
          </a:prstGeom>
          <a:solidFill>
            <a:schemeClr val="accent2"/>
          </a:solidFill>
          <a:ln/>
        </p:spPr>
      </p:sp>
      <p:sp>
        <p:nvSpPr>
          <p:cNvPr id="9" name="Shape 5"/>
          <p:cNvSpPr/>
          <p:nvPr/>
        </p:nvSpPr>
        <p:spPr>
          <a:xfrm>
            <a:off x="2148840" y="1097280"/>
            <a:ext cx="1463040" cy="1143000"/>
          </a:xfrm>
          <a:prstGeom prst="roundRect">
            <a:avLst>
              <a:gd name="adj" fmla="val 9600"/>
            </a:avLst>
          </a:prstGeom>
          <a:solidFill>
            <a:schemeClr val="bg2"/>
          </a:solidFill>
          <a:ln/>
        </p:spPr>
      </p:sp>
      <p:sp>
        <p:nvSpPr>
          <p:cNvPr id="10" name="Shape 6"/>
          <p:cNvSpPr/>
          <p:nvPr/>
        </p:nvSpPr>
        <p:spPr>
          <a:xfrm>
            <a:off x="2651760" y="1207008"/>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766060" y="1321308"/>
            <a:ext cx="228600" cy="228600"/>
          </a:xfrm>
          <a:prstGeom prst="rect">
            <a:avLst/>
          </a:prstGeom>
        </p:spPr>
      </p:pic>
      <p:sp>
        <p:nvSpPr>
          <p:cNvPr id="12" name="Text 7"/>
          <p:cNvSpPr txBox="1"/>
          <p:nvPr/>
        </p:nvSpPr>
        <p:spPr>
          <a:xfrm>
            <a:off x="2194560" y="1737360"/>
            <a:ext cx="1371600" cy="457200"/>
          </a:xfrm>
          <a:prstGeom prst="rect">
            <a:avLst/>
          </a:prstGeom>
          <a:noFill/>
          <a:ln/>
        </p:spPr>
        <p:txBody>
          <a:bodyPr wrap="square" lIns="0" tIns="0" rIns="0" bIns="0" rtlCol="0" anchor="t"/>
          <a:lstStyle/>
          <a:p>
            <a:pPr algn="ctr" indent="0" marL="0">
              <a:buNone/>
            </a:pPr>
            <a:r>
              <a:rPr lang="en-US" sz="1400" b="1" dirty="0">
                <a:solidFill>
                  <a:schemeClr val="tx1"/>
                </a:solidFill>
              </a:rPr>
              <a:t>Doctor</a:t>
            </a:r>
            <a:endParaRPr lang="en-US" sz="1400" dirty="0"/>
          </a:p>
        </p:txBody>
      </p:sp>
      <p:sp>
        <p:nvSpPr>
          <p:cNvPr id="13" name="Shape 8"/>
          <p:cNvSpPr/>
          <p:nvPr/>
        </p:nvSpPr>
        <p:spPr>
          <a:xfrm>
            <a:off x="3639312" y="1554480"/>
            <a:ext cx="173736" cy="228600"/>
          </a:xfrm>
          <a:prstGeom prst="rightArrow">
            <a:avLst/>
          </a:prstGeom>
          <a:solidFill>
            <a:schemeClr val="accent2"/>
          </a:solidFill>
          <a:ln/>
        </p:spPr>
      </p:sp>
      <p:sp>
        <p:nvSpPr>
          <p:cNvPr id="14" name="Shape 9"/>
          <p:cNvSpPr/>
          <p:nvPr/>
        </p:nvSpPr>
        <p:spPr>
          <a:xfrm>
            <a:off x="3840480" y="1097280"/>
            <a:ext cx="1463040" cy="1143000"/>
          </a:xfrm>
          <a:prstGeom prst="roundRect">
            <a:avLst>
              <a:gd name="adj" fmla="val 9600"/>
            </a:avLst>
          </a:prstGeom>
          <a:solidFill>
            <a:schemeClr val="bg2"/>
          </a:solidFill>
          <a:ln/>
        </p:spPr>
      </p:sp>
      <p:sp>
        <p:nvSpPr>
          <p:cNvPr id="15" name="Shape 10"/>
          <p:cNvSpPr/>
          <p:nvPr/>
        </p:nvSpPr>
        <p:spPr>
          <a:xfrm>
            <a:off x="4343400" y="1207008"/>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457700" y="1321308"/>
            <a:ext cx="228600" cy="228600"/>
          </a:xfrm>
          <a:prstGeom prst="rect">
            <a:avLst/>
          </a:prstGeom>
        </p:spPr>
      </p:pic>
      <p:sp>
        <p:nvSpPr>
          <p:cNvPr id="17" name="Text 11"/>
          <p:cNvSpPr txBox="1"/>
          <p:nvPr/>
        </p:nvSpPr>
        <p:spPr>
          <a:xfrm>
            <a:off x="3886200" y="1737360"/>
            <a:ext cx="1371600" cy="457200"/>
          </a:xfrm>
          <a:prstGeom prst="rect">
            <a:avLst/>
          </a:prstGeom>
          <a:noFill/>
          <a:ln/>
        </p:spPr>
        <p:txBody>
          <a:bodyPr wrap="square" lIns="0" tIns="0" rIns="0" bIns="0" rtlCol="0" anchor="t"/>
          <a:lstStyle/>
          <a:p>
            <a:pPr algn="ctr" indent="0" marL="0">
              <a:buNone/>
            </a:pPr>
            <a:r>
              <a:rPr lang="en-US" sz="1400" b="1" dirty="0">
                <a:solidFill>
                  <a:schemeClr val="tx1"/>
                </a:solidFill>
              </a:rPr>
              <a:t>Pharmacy Counter</a:t>
            </a:r>
            <a:endParaRPr lang="en-US" sz="1400" dirty="0"/>
          </a:p>
        </p:txBody>
      </p:sp>
      <p:sp>
        <p:nvSpPr>
          <p:cNvPr id="18" name="Shape 12"/>
          <p:cNvSpPr/>
          <p:nvPr/>
        </p:nvSpPr>
        <p:spPr>
          <a:xfrm>
            <a:off x="5330952" y="1554480"/>
            <a:ext cx="173736" cy="228600"/>
          </a:xfrm>
          <a:prstGeom prst="rightArrow">
            <a:avLst/>
          </a:prstGeom>
          <a:solidFill>
            <a:schemeClr val="accent2"/>
          </a:solidFill>
          <a:ln/>
        </p:spPr>
      </p:sp>
      <p:sp>
        <p:nvSpPr>
          <p:cNvPr id="19" name="Shape 13"/>
          <p:cNvSpPr/>
          <p:nvPr/>
        </p:nvSpPr>
        <p:spPr>
          <a:xfrm>
            <a:off x="5532120" y="1097280"/>
            <a:ext cx="1463040" cy="1143000"/>
          </a:xfrm>
          <a:prstGeom prst="roundRect">
            <a:avLst>
              <a:gd name="adj" fmla="val 9600"/>
            </a:avLst>
          </a:prstGeom>
          <a:solidFill>
            <a:schemeClr val="bg2"/>
          </a:solidFill>
          <a:ln/>
        </p:spPr>
      </p:sp>
      <p:sp>
        <p:nvSpPr>
          <p:cNvPr id="20" name="Shape 14"/>
          <p:cNvSpPr/>
          <p:nvPr/>
        </p:nvSpPr>
        <p:spPr>
          <a:xfrm>
            <a:off x="6035040" y="1207008"/>
            <a:ext cx="457200" cy="4572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149340" y="1321308"/>
            <a:ext cx="228600" cy="228600"/>
          </a:xfrm>
          <a:prstGeom prst="rect">
            <a:avLst/>
          </a:prstGeom>
        </p:spPr>
      </p:pic>
      <p:sp>
        <p:nvSpPr>
          <p:cNvPr id="22" name="Text 15"/>
          <p:cNvSpPr txBox="1"/>
          <p:nvPr/>
        </p:nvSpPr>
        <p:spPr>
          <a:xfrm>
            <a:off x="5577840" y="1737360"/>
            <a:ext cx="1371600" cy="457200"/>
          </a:xfrm>
          <a:prstGeom prst="rect">
            <a:avLst/>
          </a:prstGeom>
          <a:noFill/>
          <a:ln/>
        </p:spPr>
        <p:txBody>
          <a:bodyPr wrap="square" lIns="0" tIns="0" rIns="0" bIns="0" rtlCol="0" anchor="t"/>
          <a:lstStyle/>
          <a:p>
            <a:pPr algn="ctr" indent="0" marL="0">
              <a:buNone/>
            </a:pPr>
            <a:r>
              <a:rPr lang="en-US" sz="1400" b="1" dirty="0">
                <a:solidFill>
                  <a:schemeClr val="tx1"/>
                </a:solidFill>
              </a:rPr>
              <a:t>Manual Search</a:t>
            </a:r>
            <a:endParaRPr lang="en-US" sz="1400" dirty="0"/>
          </a:p>
        </p:txBody>
      </p:sp>
      <p:sp>
        <p:nvSpPr>
          <p:cNvPr id="23" name="Shape 16"/>
          <p:cNvSpPr/>
          <p:nvPr/>
        </p:nvSpPr>
        <p:spPr>
          <a:xfrm>
            <a:off x="7022592" y="1554480"/>
            <a:ext cx="173736" cy="228600"/>
          </a:xfrm>
          <a:prstGeom prst="rightArrow">
            <a:avLst/>
          </a:prstGeom>
          <a:solidFill>
            <a:schemeClr val="accent2"/>
          </a:solidFill>
          <a:ln/>
        </p:spPr>
      </p:sp>
      <p:sp>
        <p:nvSpPr>
          <p:cNvPr id="24" name="Shape 17"/>
          <p:cNvSpPr/>
          <p:nvPr/>
        </p:nvSpPr>
        <p:spPr>
          <a:xfrm>
            <a:off x="7223760" y="1097280"/>
            <a:ext cx="1463040" cy="1143000"/>
          </a:xfrm>
          <a:prstGeom prst="roundRect">
            <a:avLst>
              <a:gd name="adj" fmla="val 9600"/>
            </a:avLst>
          </a:prstGeom>
          <a:solidFill>
            <a:schemeClr val="bg2"/>
          </a:solidFill>
          <a:ln/>
        </p:spPr>
      </p:sp>
      <p:sp>
        <p:nvSpPr>
          <p:cNvPr id="25" name="Shape 18"/>
          <p:cNvSpPr/>
          <p:nvPr/>
        </p:nvSpPr>
        <p:spPr>
          <a:xfrm>
            <a:off x="7726680" y="1207008"/>
            <a:ext cx="457200" cy="457200"/>
          </a:xfrm>
          <a:prstGeom prst="ellipse">
            <a:avLst/>
          </a:prstGeom>
          <a:solidFill>
            <a:schemeClr val="accent5"/>
          </a:solidFill>
          <a:ln/>
        </p:spPr>
      </p:sp>
      <p:pic>
        <p:nvPicPr>
          <p:cNvPr id="26" name="Image 4" descr="preencoded.png">    </p:cNvPr>
          <p:cNvPicPr>
            <a:picLocks noChangeAspect="1"/>
          </p:cNvPicPr>
          <p:nvPr/>
        </p:nvPicPr>
        <p:blipFill>
          <a:blip r:embed="rId5"/>
          <a:stretch>
            <a:fillRect/>
          </a:stretch>
        </p:blipFill>
        <p:spPr>
          <a:xfrm>
            <a:off x="7840980" y="1321308"/>
            <a:ext cx="228600" cy="228600"/>
          </a:xfrm>
          <a:prstGeom prst="rect">
            <a:avLst/>
          </a:prstGeom>
        </p:spPr>
      </p:pic>
      <p:sp>
        <p:nvSpPr>
          <p:cNvPr id="27" name="Text 19"/>
          <p:cNvSpPr txBox="1"/>
          <p:nvPr/>
        </p:nvSpPr>
        <p:spPr>
          <a:xfrm>
            <a:off x="7269480" y="1737360"/>
            <a:ext cx="1371600" cy="457200"/>
          </a:xfrm>
          <a:prstGeom prst="rect">
            <a:avLst/>
          </a:prstGeom>
          <a:noFill/>
          <a:ln/>
        </p:spPr>
        <p:txBody>
          <a:bodyPr wrap="square" lIns="0" tIns="0" rIns="0" bIns="0" rtlCol="0" anchor="t"/>
          <a:lstStyle/>
          <a:p>
            <a:pPr algn="ctr" indent="0" marL="0">
              <a:buNone/>
            </a:pPr>
            <a:r>
              <a:rPr lang="en-US" sz="1400" b="1" dirty="0">
                <a:solidFill>
                  <a:schemeClr val="tx1"/>
                </a:solidFill>
              </a:rPr>
              <a:t>Slow Answer</a:t>
            </a:r>
            <a:endParaRPr lang="en-US" sz="1400" dirty="0"/>
          </a:p>
        </p:txBody>
      </p:sp>
      <p:sp>
        <p:nvSpPr>
          <p:cNvPr id="28" name="Text 20"/>
          <p:cNvSpPr txBox="1"/>
          <p:nvPr/>
        </p:nvSpPr>
        <p:spPr>
          <a:xfrm>
            <a:off x="457200" y="2468880"/>
            <a:ext cx="2743200" cy="274320"/>
          </a:xfrm>
          <a:prstGeom prst="rect">
            <a:avLst/>
          </a:prstGeom>
          <a:noFill/>
          <a:ln/>
        </p:spPr>
        <p:txBody>
          <a:bodyPr wrap="square" lIns="0" tIns="0" rIns="0" bIns="0" rtlCol="0" anchor="t"/>
          <a:lstStyle/>
          <a:p>
            <a:pPr indent="0" marL="0">
              <a:buNone/>
            </a:pPr>
            <a:r>
              <a:rPr lang="en-US" sz="1800" b="1" dirty="0">
                <a:solidFill>
                  <a:schemeClr val="tx2"/>
                </a:solidFill>
              </a:rPr>
              <a:t>Problems</a:t>
            </a:r>
            <a:endParaRPr lang="en-US" sz="1800" dirty="0"/>
          </a:p>
        </p:txBody>
      </p:sp>
      <p:sp>
        <p:nvSpPr>
          <p:cNvPr id="29" name="Shape 21"/>
          <p:cNvSpPr/>
          <p:nvPr/>
        </p:nvSpPr>
        <p:spPr>
          <a:xfrm>
            <a:off x="457200" y="2834640"/>
            <a:ext cx="2651760" cy="731520"/>
          </a:xfrm>
          <a:prstGeom prst="roundRect">
            <a:avLst>
              <a:gd name="adj" fmla="val 15000"/>
            </a:avLst>
          </a:prstGeom>
          <a:solidFill>
            <a:srgbClr val="FDECEC"/>
          </a:solidFill>
          <a:ln/>
        </p:spPr>
      </p:sp>
      <p:pic>
        <p:nvPicPr>
          <p:cNvPr id="30" name="Image 5" descr="preencoded.png">    </p:cNvPr>
          <p:cNvPicPr>
            <a:picLocks noChangeAspect="1"/>
          </p:cNvPicPr>
          <p:nvPr/>
        </p:nvPicPr>
        <p:blipFill>
          <a:blip r:embed="rId6"/>
          <a:stretch>
            <a:fillRect/>
          </a:stretch>
        </p:blipFill>
        <p:spPr>
          <a:xfrm>
            <a:off x="594360" y="3035808"/>
            <a:ext cx="329184" cy="329184"/>
          </a:xfrm>
          <a:prstGeom prst="rect">
            <a:avLst/>
          </a:prstGeom>
        </p:spPr>
      </p:pic>
      <p:sp>
        <p:nvSpPr>
          <p:cNvPr id="31" name="Text 22"/>
          <p:cNvSpPr txBox="1"/>
          <p:nvPr/>
        </p:nvSpPr>
        <p:spPr>
          <a:xfrm>
            <a:off x="1051560" y="283464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Manual search</a:t>
            </a:r>
            <a:endParaRPr lang="en-US" sz="1400" dirty="0"/>
          </a:p>
        </p:txBody>
      </p:sp>
      <p:sp>
        <p:nvSpPr>
          <p:cNvPr id="32" name="Shape 23"/>
          <p:cNvSpPr/>
          <p:nvPr/>
        </p:nvSpPr>
        <p:spPr>
          <a:xfrm>
            <a:off x="3246120" y="2834640"/>
            <a:ext cx="2651760" cy="731520"/>
          </a:xfrm>
          <a:prstGeom prst="roundRect">
            <a:avLst>
              <a:gd name="adj" fmla="val 15000"/>
            </a:avLst>
          </a:prstGeom>
          <a:solidFill>
            <a:srgbClr val="FDECEC"/>
          </a:solidFill>
          <a:ln/>
        </p:spPr>
      </p:sp>
      <p:pic>
        <p:nvPicPr>
          <p:cNvPr id="33" name="Image 6" descr="preencoded.png">    </p:cNvPr>
          <p:cNvPicPr>
            <a:picLocks noChangeAspect="1"/>
          </p:cNvPicPr>
          <p:nvPr/>
        </p:nvPicPr>
        <p:blipFill>
          <a:blip r:embed="rId7"/>
          <a:stretch>
            <a:fillRect/>
          </a:stretch>
        </p:blipFill>
        <p:spPr>
          <a:xfrm>
            <a:off x="3383280" y="3035808"/>
            <a:ext cx="329184" cy="329184"/>
          </a:xfrm>
          <a:prstGeom prst="rect">
            <a:avLst/>
          </a:prstGeom>
        </p:spPr>
      </p:pic>
      <p:sp>
        <p:nvSpPr>
          <p:cNvPr id="34" name="Text 24"/>
          <p:cNvSpPr txBox="1"/>
          <p:nvPr/>
        </p:nvSpPr>
        <p:spPr>
          <a:xfrm>
            <a:off x="3840480" y="283464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Doctor dependency</a:t>
            </a:r>
            <a:endParaRPr lang="en-US" sz="1400" dirty="0"/>
          </a:p>
        </p:txBody>
      </p:sp>
      <p:sp>
        <p:nvSpPr>
          <p:cNvPr id="35" name="Shape 25"/>
          <p:cNvSpPr/>
          <p:nvPr/>
        </p:nvSpPr>
        <p:spPr>
          <a:xfrm>
            <a:off x="6035040" y="2834640"/>
            <a:ext cx="2651760" cy="731520"/>
          </a:xfrm>
          <a:prstGeom prst="roundRect">
            <a:avLst>
              <a:gd name="adj" fmla="val 15000"/>
            </a:avLst>
          </a:prstGeom>
          <a:solidFill>
            <a:srgbClr val="FDECEC"/>
          </a:solidFill>
          <a:ln/>
        </p:spPr>
      </p:sp>
      <p:pic>
        <p:nvPicPr>
          <p:cNvPr id="36" name="Image 7" descr="preencoded.png">    </p:cNvPr>
          <p:cNvPicPr>
            <a:picLocks noChangeAspect="1"/>
          </p:cNvPicPr>
          <p:nvPr/>
        </p:nvPicPr>
        <p:blipFill>
          <a:blip r:embed="rId8"/>
          <a:stretch>
            <a:fillRect/>
          </a:stretch>
        </p:blipFill>
        <p:spPr>
          <a:xfrm>
            <a:off x="6172200" y="3035808"/>
            <a:ext cx="329184" cy="329184"/>
          </a:xfrm>
          <a:prstGeom prst="rect">
            <a:avLst/>
          </a:prstGeom>
        </p:spPr>
      </p:pic>
      <p:sp>
        <p:nvSpPr>
          <p:cNvPr id="37" name="Text 26"/>
          <p:cNvSpPr txBox="1"/>
          <p:nvPr/>
        </p:nvSpPr>
        <p:spPr>
          <a:xfrm>
            <a:off x="6629400" y="283464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No centralized medicine knowledge</a:t>
            </a:r>
            <a:endParaRPr lang="en-US" sz="1400" dirty="0"/>
          </a:p>
        </p:txBody>
      </p:sp>
      <p:sp>
        <p:nvSpPr>
          <p:cNvPr id="38" name="Shape 27"/>
          <p:cNvSpPr/>
          <p:nvPr/>
        </p:nvSpPr>
        <p:spPr>
          <a:xfrm>
            <a:off x="457200" y="3703320"/>
            <a:ext cx="2651760" cy="731520"/>
          </a:xfrm>
          <a:prstGeom prst="roundRect">
            <a:avLst>
              <a:gd name="adj" fmla="val 15000"/>
            </a:avLst>
          </a:prstGeom>
          <a:solidFill>
            <a:srgbClr val="FDECEC"/>
          </a:solidFill>
          <a:ln/>
        </p:spPr>
      </p:sp>
      <p:pic>
        <p:nvPicPr>
          <p:cNvPr id="39" name="Image 8" descr="preencoded.png">    </p:cNvPr>
          <p:cNvPicPr>
            <a:picLocks noChangeAspect="1"/>
          </p:cNvPicPr>
          <p:nvPr/>
        </p:nvPicPr>
        <p:blipFill>
          <a:blip r:embed="rId9"/>
          <a:stretch>
            <a:fillRect/>
          </a:stretch>
        </p:blipFill>
        <p:spPr>
          <a:xfrm>
            <a:off x="594360" y="3904488"/>
            <a:ext cx="329184" cy="329184"/>
          </a:xfrm>
          <a:prstGeom prst="rect">
            <a:avLst/>
          </a:prstGeom>
        </p:spPr>
      </p:pic>
      <p:sp>
        <p:nvSpPr>
          <p:cNvPr id="40" name="Text 28"/>
          <p:cNvSpPr txBox="1"/>
          <p:nvPr/>
        </p:nvSpPr>
        <p:spPr>
          <a:xfrm>
            <a:off x="1051560" y="370332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Slow response</a:t>
            </a:r>
            <a:endParaRPr lang="en-US" sz="1400" dirty="0"/>
          </a:p>
        </p:txBody>
      </p:sp>
      <p:sp>
        <p:nvSpPr>
          <p:cNvPr id="41" name="Shape 29"/>
          <p:cNvSpPr/>
          <p:nvPr/>
        </p:nvSpPr>
        <p:spPr>
          <a:xfrm>
            <a:off x="3246120" y="3703320"/>
            <a:ext cx="2651760" cy="731520"/>
          </a:xfrm>
          <a:prstGeom prst="roundRect">
            <a:avLst>
              <a:gd name="adj" fmla="val 15000"/>
            </a:avLst>
          </a:prstGeom>
          <a:solidFill>
            <a:srgbClr val="FDECEC"/>
          </a:solidFill>
          <a:ln/>
        </p:spPr>
      </p:sp>
      <p:pic>
        <p:nvPicPr>
          <p:cNvPr id="42" name="Image 9" descr="preencoded.png">    </p:cNvPr>
          <p:cNvPicPr>
            <a:picLocks noChangeAspect="1"/>
          </p:cNvPicPr>
          <p:nvPr/>
        </p:nvPicPr>
        <p:blipFill>
          <a:blip r:embed="rId10"/>
          <a:stretch>
            <a:fillRect/>
          </a:stretch>
        </p:blipFill>
        <p:spPr>
          <a:xfrm>
            <a:off x="3383280" y="3904488"/>
            <a:ext cx="329184" cy="329184"/>
          </a:xfrm>
          <a:prstGeom prst="rect">
            <a:avLst/>
          </a:prstGeom>
        </p:spPr>
      </p:pic>
      <p:sp>
        <p:nvSpPr>
          <p:cNvPr id="43" name="Text 30"/>
          <p:cNvSpPr txBox="1"/>
          <p:nvPr/>
        </p:nvSpPr>
        <p:spPr>
          <a:xfrm>
            <a:off x="3840480" y="370332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No intelligent assistant</a:t>
            </a:r>
            <a:endParaRPr lang="en-US" sz="1400" dirty="0"/>
          </a:p>
        </p:txBody>
      </p:sp>
      <p:sp>
        <p:nvSpPr>
          <p:cNvPr id="44" name="Shape 31"/>
          <p:cNvSpPr/>
          <p:nvPr/>
        </p:nvSpPr>
        <p:spPr>
          <a:xfrm>
            <a:off x="6035040" y="3703320"/>
            <a:ext cx="2651760" cy="731520"/>
          </a:xfrm>
          <a:prstGeom prst="roundRect">
            <a:avLst>
              <a:gd name="adj" fmla="val 15000"/>
            </a:avLst>
          </a:prstGeom>
          <a:solidFill>
            <a:srgbClr val="FDECEC"/>
          </a:solidFill>
          <a:ln/>
        </p:spPr>
      </p:sp>
      <p:pic>
        <p:nvPicPr>
          <p:cNvPr id="45" name="Image 10" descr="preencoded.png">    </p:cNvPr>
          <p:cNvPicPr>
            <a:picLocks noChangeAspect="1"/>
          </p:cNvPicPr>
          <p:nvPr/>
        </p:nvPicPr>
        <p:blipFill>
          <a:blip r:embed="rId11"/>
          <a:stretch>
            <a:fillRect/>
          </a:stretch>
        </p:blipFill>
        <p:spPr>
          <a:xfrm>
            <a:off x="6172200" y="3904488"/>
            <a:ext cx="329184" cy="329184"/>
          </a:xfrm>
          <a:prstGeom prst="rect">
            <a:avLst/>
          </a:prstGeom>
        </p:spPr>
      </p:pic>
      <p:sp>
        <p:nvSpPr>
          <p:cNvPr id="46" name="Text 32"/>
          <p:cNvSpPr txBox="1"/>
          <p:nvPr/>
        </p:nvSpPr>
        <p:spPr>
          <a:xfrm>
            <a:off x="6629400" y="3703320"/>
            <a:ext cx="1965960" cy="731520"/>
          </a:xfrm>
          <a:prstGeom prst="rect">
            <a:avLst/>
          </a:prstGeom>
          <a:noFill/>
          <a:ln/>
        </p:spPr>
        <p:txBody>
          <a:bodyPr wrap="square" lIns="0" tIns="0" rIns="0" bIns="0" rtlCol="0" anchor="ctr"/>
          <a:lstStyle/>
          <a:p>
            <a:pPr indent="0" marL="0">
              <a:buNone/>
            </a:pPr>
            <a:r>
              <a:rPr lang="en-US" sz="1400" b="1" dirty="0">
                <a:solidFill>
                  <a:schemeClr val="tx1"/>
                </a:solidFill>
              </a:rPr>
              <a:t>No conversational interface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Proposed System: Hospital AI Agent</a:t>
            </a:r>
            <a:endParaRPr lang="en-US" sz="3000" dirty="0"/>
          </a:p>
        </p:txBody>
      </p:sp>
      <p:sp>
        <p:nvSpPr>
          <p:cNvPr id="4" name="Shape 1"/>
          <p:cNvSpPr/>
          <p:nvPr/>
        </p:nvSpPr>
        <p:spPr>
          <a:xfrm>
            <a:off x="457200" y="1143000"/>
            <a:ext cx="411480" cy="41148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560070" y="1245870"/>
            <a:ext cx="205740" cy="205740"/>
          </a:xfrm>
          <a:prstGeom prst="rect">
            <a:avLst/>
          </a:prstGeom>
        </p:spPr>
      </p:pic>
      <p:sp>
        <p:nvSpPr>
          <p:cNvPr id="6" name="Text 2"/>
          <p:cNvSpPr txBox="1"/>
          <p:nvPr/>
        </p:nvSpPr>
        <p:spPr>
          <a:xfrm>
            <a:off x="1005840" y="114300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AI Chat</a:t>
            </a:r>
            <a:endParaRPr lang="en-US" sz="1500" dirty="0"/>
          </a:p>
        </p:txBody>
      </p:sp>
      <p:sp>
        <p:nvSpPr>
          <p:cNvPr id="7" name="Shape 3"/>
          <p:cNvSpPr/>
          <p:nvPr/>
        </p:nvSpPr>
        <p:spPr>
          <a:xfrm>
            <a:off x="457200" y="1965960"/>
            <a:ext cx="411480" cy="411480"/>
          </a:xfrm>
          <a:prstGeom prst="ellipse">
            <a:avLst/>
          </a:prstGeom>
          <a:solidFill>
            <a:schemeClr val="accent3"/>
          </a:solidFill>
          <a:ln/>
        </p:spPr>
      </p:sp>
      <p:pic>
        <p:nvPicPr>
          <p:cNvPr id="8" name="Image 1" descr="preencoded.png">    </p:cNvPr>
          <p:cNvPicPr>
            <a:picLocks noChangeAspect="1"/>
          </p:cNvPicPr>
          <p:nvPr/>
        </p:nvPicPr>
        <p:blipFill>
          <a:blip r:embed="rId2"/>
          <a:stretch>
            <a:fillRect/>
          </a:stretch>
        </p:blipFill>
        <p:spPr>
          <a:xfrm>
            <a:off x="560070" y="2068830"/>
            <a:ext cx="205740" cy="205740"/>
          </a:xfrm>
          <a:prstGeom prst="rect">
            <a:avLst/>
          </a:prstGeom>
        </p:spPr>
      </p:pic>
      <p:sp>
        <p:nvSpPr>
          <p:cNvPr id="9" name="Text 4"/>
          <p:cNvSpPr txBox="1"/>
          <p:nvPr/>
        </p:nvSpPr>
        <p:spPr>
          <a:xfrm>
            <a:off x="1005840" y="196596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Medicine Search</a:t>
            </a:r>
            <a:endParaRPr lang="en-US" sz="1500" dirty="0"/>
          </a:p>
        </p:txBody>
      </p:sp>
      <p:sp>
        <p:nvSpPr>
          <p:cNvPr id="10" name="Shape 5"/>
          <p:cNvSpPr/>
          <p:nvPr/>
        </p:nvSpPr>
        <p:spPr>
          <a:xfrm>
            <a:off x="457200" y="2788920"/>
            <a:ext cx="411480" cy="411480"/>
          </a:xfrm>
          <a:prstGeom prst="ellipse">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560070" y="2891790"/>
            <a:ext cx="205740" cy="205740"/>
          </a:xfrm>
          <a:prstGeom prst="rect">
            <a:avLst/>
          </a:prstGeom>
        </p:spPr>
      </p:pic>
      <p:sp>
        <p:nvSpPr>
          <p:cNvPr id="12" name="Text 6"/>
          <p:cNvSpPr txBox="1"/>
          <p:nvPr/>
        </p:nvSpPr>
        <p:spPr>
          <a:xfrm>
            <a:off x="1005840" y="278892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Stock Search</a:t>
            </a:r>
            <a:endParaRPr lang="en-US" sz="1500" dirty="0"/>
          </a:p>
        </p:txBody>
      </p:sp>
      <p:sp>
        <p:nvSpPr>
          <p:cNvPr id="13" name="Shape 7"/>
          <p:cNvSpPr/>
          <p:nvPr/>
        </p:nvSpPr>
        <p:spPr>
          <a:xfrm>
            <a:off x="457200" y="3611880"/>
            <a:ext cx="411480" cy="411480"/>
          </a:xfrm>
          <a:prstGeom prst="ellipse">
            <a:avLst/>
          </a:prstGeom>
          <a:solidFill>
            <a:schemeClr val="accent3"/>
          </a:solidFill>
          <a:ln/>
        </p:spPr>
      </p:sp>
      <p:pic>
        <p:nvPicPr>
          <p:cNvPr id="14" name="Image 3" descr="preencoded.png">    </p:cNvPr>
          <p:cNvPicPr>
            <a:picLocks noChangeAspect="1"/>
          </p:cNvPicPr>
          <p:nvPr/>
        </p:nvPicPr>
        <p:blipFill>
          <a:blip r:embed="rId4"/>
          <a:stretch>
            <a:fillRect/>
          </a:stretch>
        </p:blipFill>
        <p:spPr>
          <a:xfrm>
            <a:off x="560070" y="3714750"/>
            <a:ext cx="205740" cy="205740"/>
          </a:xfrm>
          <a:prstGeom prst="rect">
            <a:avLst/>
          </a:prstGeom>
        </p:spPr>
      </p:pic>
      <p:sp>
        <p:nvSpPr>
          <p:cNvPr id="15" name="Text 8"/>
          <p:cNvSpPr txBox="1"/>
          <p:nvPr/>
        </p:nvSpPr>
        <p:spPr>
          <a:xfrm>
            <a:off x="1005840" y="361188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RAG</a:t>
            </a:r>
            <a:endParaRPr lang="en-US" sz="1500" dirty="0"/>
          </a:p>
        </p:txBody>
      </p:sp>
      <p:sp>
        <p:nvSpPr>
          <p:cNvPr id="16" name="Shape 9"/>
          <p:cNvSpPr/>
          <p:nvPr/>
        </p:nvSpPr>
        <p:spPr>
          <a:xfrm>
            <a:off x="2651760" y="1143000"/>
            <a:ext cx="411480" cy="411480"/>
          </a:xfrm>
          <a:prstGeom prst="ellipse">
            <a:avLst/>
          </a:prstGeom>
          <a:solidFill>
            <a:schemeClr val="accent3"/>
          </a:solidFill>
          <a:ln/>
        </p:spPr>
      </p:sp>
      <p:pic>
        <p:nvPicPr>
          <p:cNvPr id="17" name="Image 4" descr="preencoded.png">    </p:cNvPr>
          <p:cNvPicPr>
            <a:picLocks noChangeAspect="1"/>
          </p:cNvPicPr>
          <p:nvPr/>
        </p:nvPicPr>
        <p:blipFill>
          <a:blip r:embed="rId5"/>
          <a:stretch>
            <a:fillRect/>
          </a:stretch>
        </p:blipFill>
        <p:spPr>
          <a:xfrm>
            <a:off x="2754630" y="1245870"/>
            <a:ext cx="205740" cy="205740"/>
          </a:xfrm>
          <a:prstGeom prst="rect">
            <a:avLst/>
          </a:prstGeom>
        </p:spPr>
      </p:pic>
      <p:sp>
        <p:nvSpPr>
          <p:cNvPr id="18" name="Text 10"/>
          <p:cNvSpPr txBox="1"/>
          <p:nvPr/>
        </p:nvSpPr>
        <p:spPr>
          <a:xfrm>
            <a:off x="3200400" y="114300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ChromaDB</a:t>
            </a:r>
            <a:endParaRPr lang="en-US" sz="1500" dirty="0"/>
          </a:p>
        </p:txBody>
      </p:sp>
      <p:sp>
        <p:nvSpPr>
          <p:cNvPr id="19" name="Shape 11"/>
          <p:cNvSpPr/>
          <p:nvPr/>
        </p:nvSpPr>
        <p:spPr>
          <a:xfrm>
            <a:off x="2651760" y="1965960"/>
            <a:ext cx="411480" cy="411480"/>
          </a:xfrm>
          <a:prstGeom prst="ellipse">
            <a:avLst/>
          </a:prstGeom>
          <a:solidFill>
            <a:schemeClr val="accent3"/>
          </a:solidFill>
          <a:ln/>
        </p:spPr>
      </p:sp>
      <p:pic>
        <p:nvPicPr>
          <p:cNvPr id="20" name="Image 5" descr="preencoded.png">    </p:cNvPr>
          <p:cNvPicPr>
            <a:picLocks noChangeAspect="1"/>
          </p:cNvPicPr>
          <p:nvPr/>
        </p:nvPicPr>
        <p:blipFill>
          <a:blip r:embed="rId6"/>
          <a:stretch>
            <a:fillRect/>
          </a:stretch>
        </p:blipFill>
        <p:spPr>
          <a:xfrm>
            <a:off x="2754630" y="2068830"/>
            <a:ext cx="205740" cy="205740"/>
          </a:xfrm>
          <a:prstGeom prst="rect">
            <a:avLst/>
          </a:prstGeom>
        </p:spPr>
      </p:pic>
      <p:sp>
        <p:nvSpPr>
          <p:cNvPr id="21" name="Text 12"/>
          <p:cNvSpPr txBox="1"/>
          <p:nvPr/>
        </p:nvSpPr>
        <p:spPr>
          <a:xfrm>
            <a:off x="3200400" y="196596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FastAPI Backend</a:t>
            </a:r>
            <a:endParaRPr lang="en-US" sz="1500" dirty="0"/>
          </a:p>
        </p:txBody>
      </p:sp>
      <p:sp>
        <p:nvSpPr>
          <p:cNvPr id="22" name="Shape 13"/>
          <p:cNvSpPr/>
          <p:nvPr/>
        </p:nvSpPr>
        <p:spPr>
          <a:xfrm>
            <a:off x="2651760" y="2788920"/>
            <a:ext cx="411480" cy="411480"/>
          </a:xfrm>
          <a:prstGeom prst="ellipse">
            <a:avLst/>
          </a:prstGeom>
          <a:solidFill>
            <a:schemeClr val="accent3"/>
          </a:solidFill>
          <a:ln/>
        </p:spPr>
      </p:sp>
      <p:pic>
        <p:nvPicPr>
          <p:cNvPr id="23" name="Image 6" descr="preencoded.png">    </p:cNvPr>
          <p:cNvPicPr>
            <a:picLocks noChangeAspect="1"/>
          </p:cNvPicPr>
          <p:nvPr/>
        </p:nvPicPr>
        <p:blipFill>
          <a:blip r:embed="rId7"/>
          <a:stretch>
            <a:fillRect/>
          </a:stretch>
        </p:blipFill>
        <p:spPr>
          <a:xfrm>
            <a:off x="2754630" y="2891790"/>
            <a:ext cx="205740" cy="205740"/>
          </a:xfrm>
          <a:prstGeom prst="rect">
            <a:avLst/>
          </a:prstGeom>
        </p:spPr>
      </p:pic>
      <p:sp>
        <p:nvSpPr>
          <p:cNvPr id="24" name="Text 14"/>
          <p:cNvSpPr txBox="1"/>
          <p:nvPr/>
        </p:nvSpPr>
        <p:spPr>
          <a:xfrm>
            <a:off x="3200400" y="278892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React Frontend</a:t>
            </a:r>
            <a:endParaRPr lang="en-US" sz="1500" dirty="0"/>
          </a:p>
        </p:txBody>
      </p:sp>
      <p:sp>
        <p:nvSpPr>
          <p:cNvPr id="25" name="Shape 15"/>
          <p:cNvSpPr/>
          <p:nvPr/>
        </p:nvSpPr>
        <p:spPr>
          <a:xfrm>
            <a:off x="2651760" y="3611880"/>
            <a:ext cx="411480" cy="411480"/>
          </a:xfrm>
          <a:prstGeom prst="ellipse">
            <a:avLst/>
          </a:prstGeom>
          <a:solidFill>
            <a:schemeClr val="accent3"/>
          </a:solidFill>
          <a:ln/>
        </p:spPr>
      </p:sp>
      <p:pic>
        <p:nvPicPr>
          <p:cNvPr id="26" name="Image 7" descr="preencoded.png">    </p:cNvPr>
          <p:cNvPicPr>
            <a:picLocks noChangeAspect="1"/>
          </p:cNvPicPr>
          <p:nvPr/>
        </p:nvPicPr>
        <p:blipFill>
          <a:blip r:embed="rId8"/>
          <a:stretch>
            <a:fillRect/>
          </a:stretch>
        </p:blipFill>
        <p:spPr>
          <a:xfrm>
            <a:off x="2754630" y="3714750"/>
            <a:ext cx="205740" cy="205740"/>
          </a:xfrm>
          <a:prstGeom prst="rect">
            <a:avLst/>
          </a:prstGeom>
        </p:spPr>
      </p:pic>
      <p:sp>
        <p:nvSpPr>
          <p:cNvPr id="27" name="Text 16"/>
          <p:cNvSpPr txBox="1"/>
          <p:nvPr/>
        </p:nvSpPr>
        <p:spPr>
          <a:xfrm>
            <a:off x="3200400" y="3611880"/>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Local LLM Support</a:t>
            </a:r>
            <a:endParaRPr lang="en-US" sz="1500" dirty="0"/>
          </a:p>
        </p:txBody>
      </p:sp>
      <p:sp>
        <p:nvSpPr>
          <p:cNvPr id="28" name="Shape 17"/>
          <p:cNvSpPr/>
          <p:nvPr/>
        </p:nvSpPr>
        <p:spPr>
          <a:xfrm>
            <a:off x="4937760" y="1097280"/>
            <a:ext cx="3749040" cy="3429000"/>
          </a:xfrm>
          <a:prstGeom prst="roundRect">
            <a:avLst>
              <a:gd name="adj" fmla="val 3200"/>
            </a:avLst>
          </a:prstGeom>
          <a:solidFill>
            <a:schemeClr val="bg2"/>
          </a:solidFill>
          <a:ln/>
        </p:spPr>
      </p:sp>
      <p:sp>
        <p:nvSpPr>
          <p:cNvPr id="29" name="Text 18"/>
          <p:cNvSpPr txBox="1"/>
          <p:nvPr/>
        </p:nvSpPr>
        <p:spPr>
          <a:xfrm>
            <a:off x="5166360" y="1207008"/>
            <a:ext cx="3291840" cy="274320"/>
          </a:xfrm>
          <a:prstGeom prst="rect">
            <a:avLst/>
          </a:prstGeom>
          <a:noFill/>
          <a:ln/>
        </p:spPr>
        <p:txBody>
          <a:bodyPr wrap="square" lIns="0" tIns="0" rIns="0" bIns="0" rtlCol="0" anchor="t"/>
          <a:lstStyle/>
          <a:p>
            <a:pPr indent="0" marL="0">
              <a:buNone/>
            </a:pPr>
            <a:r>
              <a:rPr lang="en-US" sz="1500" b="1" dirty="0">
                <a:solidFill>
                  <a:schemeClr val="tx2"/>
                </a:solidFill>
              </a:rPr>
              <a:t>Architecture at a glance</a:t>
            </a:r>
            <a:endParaRPr lang="en-US" sz="1500" dirty="0"/>
          </a:p>
        </p:txBody>
      </p:sp>
      <p:sp>
        <p:nvSpPr>
          <p:cNvPr id="30" name="Shape 19"/>
          <p:cNvSpPr/>
          <p:nvPr/>
        </p:nvSpPr>
        <p:spPr>
          <a:xfrm>
            <a:off x="5166360" y="1600200"/>
            <a:ext cx="3291840" cy="502920"/>
          </a:xfrm>
          <a:prstGeom prst="roundRect">
            <a:avLst>
              <a:gd name="adj" fmla="val 21818"/>
            </a:avLst>
          </a:prstGeom>
          <a:solidFill>
            <a:schemeClr val="bg1"/>
          </a:solidFill>
          <a:ln/>
        </p:spPr>
      </p:sp>
      <p:sp>
        <p:nvSpPr>
          <p:cNvPr id="31" name="Shape 20"/>
          <p:cNvSpPr/>
          <p:nvPr/>
        </p:nvSpPr>
        <p:spPr>
          <a:xfrm>
            <a:off x="5257800" y="1673352"/>
            <a:ext cx="365760" cy="365760"/>
          </a:xfrm>
          <a:prstGeom prst="ellipse">
            <a:avLst/>
          </a:prstGeom>
          <a:solidFill>
            <a:schemeClr val="accent1"/>
          </a:solidFill>
          <a:ln/>
        </p:spPr>
      </p:sp>
      <p:pic>
        <p:nvPicPr>
          <p:cNvPr id="32" name="Image 8" descr="preencoded.png">    </p:cNvPr>
          <p:cNvPicPr>
            <a:picLocks noChangeAspect="1"/>
          </p:cNvPicPr>
          <p:nvPr/>
        </p:nvPicPr>
        <p:blipFill>
          <a:blip r:embed="rId9"/>
          <a:stretch>
            <a:fillRect/>
          </a:stretch>
        </p:blipFill>
        <p:spPr>
          <a:xfrm>
            <a:off x="5349240" y="1764792"/>
            <a:ext cx="182880" cy="182880"/>
          </a:xfrm>
          <a:prstGeom prst="rect">
            <a:avLst/>
          </a:prstGeom>
        </p:spPr>
      </p:pic>
      <p:sp>
        <p:nvSpPr>
          <p:cNvPr id="33" name="Text 21"/>
          <p:cNvSpPr txBox="1"/>
          <p:nvPr/>
        </p:nvSpPr>
        <p:spPr>
          <a:xfrm>
            <a:off x="5760720" y="1600200"/>
            <a:ext cx="2651760" cy="502920"/>
          </a:xfrm>
          <a:prstGeom prst="rect">
            <a:avLst/>
          </a:prstGeom>
          <a:noFill/>
          <a:ln/>
        </p:spPr>
        <p:txBody>
          <a:bodyPr wrap="square" lIns="0" tIns="0" rIns="0" bIns="0" rtlCol="0" anchor="ctr"/>
          <a:lstStyle/>
          <a:p>
            <a:pPr indent="0" marL="0">
              <a:buNone/>
            </a:pPr>
            <a:r>
              <a:rPr lang="en-US" sz="1400" b="1" dirty="0">
                <a:solidFill>
                  <a:schemeClr val="tx1"/>
                </a:solidFill>
              </a:rPr>
              <a:t>React UI</a:t>
            </a:r>
            <a:endParaRPr lang="en-US" sz="1400" dirty="0"/>
          </a:p>
        </p:txBody>
      </p:sp>
      <p:sp>
        <p:nvSpPr>
          <p:cNvPr id="34" name="Shape 22"/>
          <p:cNvSpPr/>
          <p:nvPr/>
        </p:nvSpPr>
        <p:spPr>
          <a:xfrm>
            <a:off x="6675120" y="2130552"/>
            <a:ext cx="182880" cy="173736"/>
          </a:xfrm>
          <a:prstGeom prst="downArrow">
            <a:avLst/>
          </a:prstGeom>
          <a:solidFill>
            <a:schemeClr val="accent2"/>
          </a:solidFill>
          <a:ln/>
        </p:spPr>
      </p:sp>
      <p:sp>
        <p:nvSpPr>
          <p:cNvPr id="35" name="Shape 23"/>
          <p:cNvSpPr/>
          <p:nvPr/>
        </p:nvSpPr>
        <p:spPr>
          <a:xfrm>
            <a:off x="5166360" y="2331720"/>
            <a:ext cx="3291840" cy="502920"/>
          </a:xfrm>
          <a:prstGeom prst="roundRect">
            <a:avLst>
              <a:gd name="adj" fmla="val 21818"/>
            </a:avLst>
          </a:prstGeom>
          <a:solidFill>
            <a:schemeClr val="bg1"/>
          </a:solidFill>
          <a:ln/>
        </p:spPr>
      </p:sp>
      <p:sp>
        <p:nvSpPr>
          <p:cNvPr id="36" name="Shape 24"/>
          <p:cNvSpPr/>
          <p:nvPr/>
        </p:nvSpPr>
        <p:spPr>
          <a:xfrm>
            <a:off x="5257800" y="2404872"/>
            <a:ext cx="365760" cy="365760"/>
          </a:xfrm>
          <a:prstGeom prst="ellipse">
            <a:avLst/>
          </a:prstGeom>
          <a:solidFill>
            <a:schemeClr val="accent1"/>
          </a:solidFill>
          <a:ln/>
        </p:spPr>
      </p:sp>
      <p:pic>
        <p:nvPicPr>
          <p:cNvPr id="37" name="Image 9" descr="preencoded.png">    </p:cNvPr>
          <p:cNvPicPr>
            <a:picLocks noChangeAspect="1"/>
          </p:cNvPicPr>
          <p:nvPr/>
        </p:nvPicPr>
        <p:blipFill>
          <a:blip r:embed="rId10"/>
          <a:stretch>
            <a:fillRect/>
          </a:stretch>
        </p:blipFill>
        <p:spPr>
          <a:xfrm>
            <a:off x="5349240" y="2496312"/>
            <a:ext cx="182880" cy="182880"/>
          </a:xfrm>
          <a:prstGeom prst="rect">
            <a:avLst/>
          </a:prstGeom>
        </p:spPr>
      </p:pic>
      <p:sp>
        <p:nvSpPr>
          <p:cNvPr id="38" name="Text 25"/>
          <p:cNvSpPr txBox="1"/>
          <p:nvPr/>
        </p:nvSpPr>
        <p:spPr>
          <a:xfrm>
            <a:off x="5760720" y="2331720"/>
            <a:ext cx="2651760" cy="502920"/>
          </a:xfrm>
          <a:prstGeom prst="rect">
            <a:avLst/>
          </a:prstGeom>
          <a:noFill/>
          <a:ln/>
        </p:spPr>
        <p:txBody>
          <a:bodyPr wrap="square" lIns="0" tIns="0" rIns="0" bIns="0" rtlCol="0" anchor="ctr"/>
          <a:lstStyle/>
          <a:p>
            <a:pPr indent="0" marL="0">
              <a:buNone/>
            </a:pPr>
            <a:r>
              <a:rPr lang="en-US" sz="1400" b="1" dirty="0">
                <a:solidFill>
                  <a:schemeClr val="tx1"/>
                </a:solidFill>
              </a:rPr>
              <a:t>FastAPI Backend</a:t>
            </a:r>
            <a:endParaRPr lang="en-US" sz="1400" dirty="0"/>
          </a:p>
        </p:txBody>
      </p:sp>
      <p:sp>
        <p:nvSpPr>
          <p:cNvPr id="39" name="Shape 26"/>
          <p:cNvSpPr/>
          <p:nvPr/>
        </p:nvSpPr>
        <p:spPr>
          <a:xfrm>
            <a:off x="6675120" y="2862072"/>
            <a:ext cx="182880" cy="173736"/>
          </a:xfrm>
          <a:prstGeom prst="downArrow">
            <a:avLst/>
          </a:prstGeom>
          <a:solidFill>
            <a:schemeClr val="accent2"/>
          </a:solidFill>
          <a:ln/>
        </p:spPr>
      </p:sp>
      <p:sp>
        <p:nvSpPr>
          <p:cNvPr id="40" name="Shape 27"/>
          <p:cNvSpPr/>
          <p:nvPr/>
        </p:nvSpPr>
        <p:spPr>
          <a:xfrm>
            <a:off x="5166360" y="3063240"/>
            <a:ext cx="3291840" cy="502920"/>
          </a:xfrm>
          <a:prstGeom prst="roundRect">
            <a:avLst>
              <a:gd name="adj" fmla="val 21818"/>
            </a:avLst>
          </a:prstGeom>
          <a:solidFill>
            <a:schemeClr val="bg1"/>
          </a:solidFill>
          <a:ln/>
        </p:spPr>
      </p:sp>
      <p:sp>
        <p:nvSpPr>
          <p:cNvPr id="41" name="Shape 28"/>
          <p:cNvSpPr/>
          <p:nvPr/>
        </p:nvSpPr>
        <p:spPr>
          <a:xfrm>
            <a:off x="5257800" y="3136392"/>
            <a:ext cx="365760" cy="365760"/>
          </a:xfrm>
          <a:prstGeom prst="ellipse">
            <a:avLst/>
          </a:prstGeom>
          <a:solidFill>
            <a:schemeClr val="accent1"/>
          </a:solidFill>
          <a:ln/>
        </p:spPr>
      </p:sp>
      <p:pic>
        <p:nvPicPr>
          <p:cNvPr id="42" name="Image 10" descr="preencoded.png">    </p:cNvPr>
          <p:cNvPicPr>
            <a:picLocks noChangeAspect="1"/>
          </p:cNvPicPr>
          <p:nvPr/>
        </p:nvPicPr>
        <p:blipFill>
          <a:blip r:embed="rId11"/>
          <a:stretch>
            <a:fillRect/>
          </a:stretch>
        </p:blipFill>
        <p:spPr>
          <a:xfrm>
            <a:off x="5349240" y="3227832"/>
            <a:ext cx="182880" cy="182880"/>
          </a:xfrm>
          <a:prstGeom prst="rect">
            <a:avLst/>
          </a:prstGeom>
        </p:spPr>
      </p:pic>
      <p:sp>
        <p:nvSpPr>
          <p:cNvPr id="43" name="Text 29"/>
          <p:cNvSpPr txBox="1"/>
          <p:nvPr/>
        </p:nvSpPr>
        <p:spPr>
          <a:xfrm>
            <a:off x="5760720" y="3063240"/>
            <a:ext cx="2651760" cy="502920"/>
          </a:xfrm>
          <a:prstGeom prst="rect">
            <a:avLst/>
          </a:prstGeom>
          <a:noFill/>
          <a:ln/>
        </p:spPr>
        <p:txBody>
          <a:bodyPr wrap="square" lIns="0" tIns="0" rIns="0" bIns="0" rtlCol="0" anchor="ctr"/>
          <a:lstStyle/>
          <a:p>
            <a:pPr indent="0" marL="0">
              <a:buNone/>
            </a:pPr>
            <a:r>
              <a:rPr lang="en-US" sz="1400" b="1" dirty="0">
                <a:solidFill>
                  <a:schemeClr val="tx1"/>
                </a:solidFill>
              </a:rPr>
              <a:t>RAG + ChromaDB</a:t>
            </a:r>
            <a:endParaRPr lang="en-US" sz="1400" dirty="0"/>
          </a:p>
        </p:txBody>
      </p:sp>
      <p:sp>
        <p:nvSpPr>
          <p:cNvPr id="44" name="Shape 30"/>
          <p:cNvSpPr/>
          <p:nvPr/>
        </p:nvSpPr>
        <p:spPr>
          <a:xfrm>
            <a:off x="6675120" y="3593592"/>
            <a:ext cx="182880" cy="173736"/>
          </a:xfrm>
          <a:prstGeom prst="downArrow">
            <a:avLst/>
          </a:prstGeom>
          <a:solidFill>
            <a:schemeClr val="accent2"/>
          </a:solidFill>
          <a:ln/>
        </p:spPr>
      </p:sp>
      <p:sp>
        <p:nvSpPr>
          <p:cNvPr id="45" name="Shape 31"/>
          <p:cNvSpPr/>
          <p:nvPr/>
        </p:nvSpPr>
        <p:spPr>
          <a:xfrm>
            <a:off x="5166360" y="3794760"/>
            <a:ext cx="3291840" cy="502920"/>
          </a:xfrm>
          <a:prstGeom prst="roundRect">
            <a:avLst>
              <a:gd name="adj" fmla="val 21818"/>
            </a:avLst>
          </a:prstGeom>
          <a:solidFill>
            <a:schemeClr val="bg1"/>
          </a:solidFill>
          <a:ln/>
        </p:spPr>
      </p:sp>
      <p:sp>
        <p:nvSpPr>
          <p:cNvPr id="46" name="Shape 32"/>
          <p:cNvSpPr/>
          <p:nvPr/>
        </p:nvSpPr>
        <p:spPr>
          <a:xfrm>
            <a:off x="5257800" y="3867912"/>
            <a:ext cx="365760" cy="365760"/>
          </a:xfrm>
          <a:prstGeom prst="ellipse">
            <a:avLst/>
          </a:prstGeom>
          <a:solidFill>
            <a:schemeClr val="accent1"/>
          </a:solidFill>
          <a:ln/>
        </p:spPr>
      </p:sp>
      <p:pic>
        <p:nvPicPr>
          <p:cNvPr id="47" name="Image 11" descr="preencoded.png">    </p:cNvPr>
          <p:cNvPicPr>
            <a:picLocks noChangeAspect="1"/>
          </p:cNvPicPr>
          <p:nvPr/>
        </p:nvPicPr>
        <p:blipFill>
          <a:blip r:embed="rId12"/>
          <a:stretch>
            <a:fillRect/>
          </a:stretch>
        </p:blipFill>
        <p:spPr>
          <a:xfrm>
            <a:off x="5349240" y="3959352"/>
            <a:ext cx="182880" cy="182880"/>
          </a:xfrm>
          <a:prstGeom prst="rect">
            <a:avLst/>
          </a:prstGeom>
        </p:spPr>
      </p:pic>
      <p:sp>
        <p:nvSpPr>
          <p:cNvPr id="48" name="Text 33"/>
          <p:cNvSpPr txBox="1"/>
          <p:nvPr/>
        </p:nvSpPr>
        <p:spPr>
          <a:xfrm>
            <a:off x="5760720" y="3794760"/>
            <a:ext cx="2651760" cy="502920"/>
          </a:xfrm>
          <a:prstGeom prst="rect">
            <a:avLst/>
          </a:prstGeom>
          <a:noFill/>
          <a:ln/>
        </p:spPr>
        <p:txBody>
          <a:bodyPr wrap="square" lIns="0" tIns="0" rIns="0" bIns="0" rtlCol="0" anchor="ctr"/>
          <a:lstStyle/>
          <a:p>
            <a:pPr indent="0" marL="0">
              <a:buNone/>
            </a:pPr>
            <a:r>
              <a:rPr lang="en-US" sz="1400" b="1" dirty="0">
                <a:solidFill>
                  <a:schemeClr val="tx1"/>
                </a:solidFill>
              </a:rPr>
              <a:t>Local LLM (Ollama, Mistral)</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Technology Stack</a:t>
            </a:r>
            <a:endParaRPr lang="en-US" sz="3000" dirty="0"/>
          </a:p>
        </p:txBody>
      </p:sp>
      <p:sp>
        <p:nvSpPr>
          <p:cNvPr id="4" name="Shape 1"/>
          <p:cNvSpPr/>
          <p:nvPr/>
        </p:nvSpPr>
        <p:spPr>
          <a:xfrm>
            <a:off x="457200" y="1097280"/>
            <a:ext cx="2651760" cy="1691640"/>
          </a:xfrm>
          <a:prstGeom prst="roundRect">
            <a:avLst>
              <a:gd name="adj" fmla="val 6486"/>
            </a:avLst>
          </a:prstGeom>
          <a:solidFill>
            <a:schemeClr val="bg2"/>
          </a:solidFill>
          <a:ln/>
        </p:spPr>
      </p:sp>
      <p:sp>
        <p:nvSpPr>
          <p:cNvPr id="5" name="Shape 2"/>
          <p:cNvSpPr/>
          <p:nvPr/>
        </p:nvSpPr>
        <p:spPr>
          <a:xfrm>
            <a:off x="640080" y="1234440"/>
            <a:ext cx="411480" cy="4114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42950" y="1337310"/>
            <a:ext cx="205740" cy="205740"/>
          </a:xfrm>
          <a:prstGeom prst="rect">
            <a:avLst/>
          </a:prstGeom>
        </p:spPr>
      </p:pic>
      <p:sp>
        <p:nvSpPr>
          <p:cNvPr id="7" name="Text 3"/>
          <p:cNvSpPr txBox="1"/>
          <p:nvPr/>
        </p:nvSpPr>
        <p:spPr>
          <a:xfrm>
            <a:off x="1188720" y="123444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Frontend</a:t>
            </a:r>
            <a:endParaRPr lang="en-US" sz="1700" dirty="0"/>
          </a:p>
        </p:txBody>
      </p:sp>
      <p:sp>
        <p:nvSpPr>
          <p:cNvPr id="8" name="Text 4"/>
          <p:cNvSpPr txBox="1"/>
          <p:nvPr/>
        </p:nvSpPr>
        <p:spPr>
          <a:xfrm>
            <a:off x="640080" y="1828800"/>
            <a:ext cx="2194560" cy="868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React</a:t>
            </a:r>
            <a:endParaRPr lang="en-US" sz="1400" dirty="0"/>
          </a:p>
          <a:p>
            <a:pPr marL="342900" indent="-342900">
              <a:spcAft>
                <a:spcPts val="300"/>
              </a:spcAft>
              <a:buSzPct val="100000"/>
              <a:buChar char="•"/>
            </a:pPr>
            <a:r>
              <a:rPr lang="en-US" sz="1400" dirty="0">
                <a:solidFill>
                  <a:schemeClr val="tx1"/>
                </a:solidFill>
              </a:rPr>
              <a:t>Vite</a:t>
            </a:r>
            <a:endParaRPr lang="en-US" sz="1400" dirty="0"/>
          </a:p>
          <a:p>
            <a:pPr marL="342900" indent="-342900">
              <a:spcAft>
                <a:spcPts val="300"/>
              </a:spcAft>
              <a:buSzPct val="100000"/>
              <a:buChar char="•"/>
            </a:pPr>
            <a:r>
              <a:rPr lang="en-US" sz="1400" dirty="0">
                <a:solidFill>
                  <a:schemeClr val="tx1"/>
                </a:solidFill>
              </a:rPr>
              <a:t>Tailwind CSS</a:t>
            </a:r>
            <a:endParaRPr lang="en-US" sz="1400" dirty="0"/>
          </a:p>
        </p:txBody>
      </p:sp>
      <p:sp>
        <p:nvSpPr>
          <p:cNvPr id="9" name="Shape 5"/>
          <p:cNvSpPr/>
          <p:nvPr/>
        </p:nvSpPr>
        <p:spPr>
          <a:xfrm>
            <a:off x="3246120" y="1097280"/>
            <a:ext cx="2651760" cy="1691640"/>
          </a:xfrm>
          <a:prstGeom prst="roundRect">
            <a:avLst>
              <a:gd name="adj" fmla="val 6486"/>
            </a:avLst>
          </a:prstGeom>
          <a:solidFill>
            <a:schemeClr val="bg2"/>
          </a:solidFill>
          <a:ln/>
        </p:spPr>
      </p:sp>
      <p:sp>
        <p:nvSpPr>
          <p:cNvPr id="10" name="Shape 6"/>
          <p:cNvSpPr/>
          <p:nvPr/>
        </p:nvSpPr>
        <p:spPr>
          <a:xfrm>
            <a:off x="3429000" y="1234440"/>
            <a:ext cx="411480" cy="4114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531870" y="1337310"/>
            <a:ext cx="205740" cy="205740"/>
          </a:xfrm>
          <a:prstGeom prst="rect">
            <a:avLst/>
          </a:prstGeom>
        </p:spPr>
      </p:pic>
      <p:sp>
        <p:nvSpPr>
          <p:cNvPr id="12" name="Text 7"/>
          <p:cNvSpPr txBox="1"/>
          <p:nvPr/>
        </p:nvSpPr>
        <p:spPr>
          <a:xfrm>
            <a:off x="3977640" y="123444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Backend</a:t>
            </a:r>
            <a:endParaRPr lang="en-US" sz="1700" dirty="0"/>
          </a:p>
        </p:txBody>
      </p:sp>
      <p:sp>
        <p:nvSpPr>
          <p:cNvPr id="13" name="Text 8"/>
          <p:cNvSpPr txBox="1"/>
          <p:nvPr/>
        </p:nvSpPr>
        <p:spPr>
          <a:xfrm>
            <a:off x="3429000" y="1828800"/>
            <a:ext cx="2194560" cy="868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FastAPI</a:t>
            </a:r>
            <a:endParaRPr lang="en-US" sz="1400" dirty="0"/>
          </a:p>
          <a:p>
            <a:pPr marL="342900" indent="-342900">
              <a:spcAft>
                <a:spcPts val="300"/>
              </a:spcAft>
              <a:buSzPct val="100000"/>
              <a:buChar char="•"/>
            </a:pPr>
            <a:r>
              <a:rPr lang="en-US" sz="1400" dirty="0">
                <a:solidFill>
                  <a:schemeClr val="tx1"/>
                </a:solidFill>
              </a:rPr>
              <a:t>Python</a:t>
            </a:r>
            <a:endParaRPr lang="en-US" sz="1400" dirty="0"/>
          </a:p>
        </p:txBody>
      </p:sp>
      <p:sp>
        <p:nvSpPr>
          <p:cNvPr id="14" name="Shape 9"/>
          <p:cNvSpPr/>
          <p:nvPr/>
        </p:nvSpPr>
        <p:spPr>
          <a:xfrm>
            <a:off x="6035040" y="1097280"/>
            <a:ext cx="2651760" cy="1691640"/>
          </a:xfrm>
          <a:prstGeom prst="roundRect">
            <a:avLst>
              <a:gd name="adj" fmla="val 6486"/>
            </a:avLst>
          </a:prstGeom>
          <a:solidFill>
            <a:schemeClr val="bg2"/>
          </a:solidFill>
          <a:ln/>
        </p:spPr>
      </p:sp>
      <p:sp>
        <p:nvSpPr>
          <p:cNvPr id="15" name="Shape 10"/>
          <p:cNvSpPr/>
          <p:nvPr/>
        </p:nvSpPr>
        <p:spPr>
          <a:xfrm>
            <a:off x="6217920" y="1234440"/>
            <a:ext cx="411480" cy="41148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320790" y="1337310"/>
            <a:ext cx="205740" cy="205740"/>
          </a:xfrm>
          <a:prstGeom prst="rect">
            <a:avLst/>
          </a:prstGeom>
        </p:spPr>
      </p:pic>
      <p:sp>
        <p:nvSpPr>
          <p:cNvPr id="17" name="Text 11"/>
          <p:cNvSpPr txBox="1"/>
          <p:nvPr/>
        </p:nvSpPr>
        <p:spPr>
          <a:xfrm>
            <a:off x="6766560" y="123444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Database</a:t>
            </a:r>
            <a:endParaRPr lang="en-US" sz="1700" dirty="0"/>
          </a:p>
        </p:txBody>
      </p:sp>
      <p:sp>
        <p:nvSpPr>
          <p:cNvPr id="18" name="Text 12"/>
          <p:cNvSpPr txBox="1"/>
          <p:nvPr/>
        </p:nvSpPr>
        <p:spPr>
          <a:xfrm>
            <a:off x="6217920" y="1828800"/>
            <a:ext cx="2194560" cy="868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CSV Dataset</a:t>
            </a:r>
            <a:endParaRPr lang="en-US" sz="1400" dirty="0"/>
          </a:p>
          <a:p>
            <a:pPr marL="342900" indent="-342900">
              <a:spcAft>
                <a:spcPts val="300"/>
              </a:spcAft>
              <a:buSzPct val="100000"/>
              <a:buChar char="•"/>
            </a:pPr>
            <a:r>
              <a:rPr lang="en-US" sz="1400" dirty="0">
                <a:solidFill>
                  <a:schemeClr val="tx1"/>
                </a:solidFill>
              </a:rPr>
              <a:t>ChromaDB Vector DB</a:t>
            </a:r>
            <a:endParaRPr lang="en-US" sz="1400" dirty="0"/>
          </a:p>
        </p:txBody>
      </p:sp>
      <p:sp>
        <p:nvSpPr>
          <p:cNvPr id="19" name="Shape 13"/>
          <p:cNvSpPr/>
          <p:nvPr/>
        </p:nvSpPr>
        <p:spPr>
          <a:xfrm>
            <a:off x="457200" y="2971800"/>
            <a:ext cx="5440680" cy="1600200"/>
          </a:xfrm>
          <a:prstGeom prst="roundRect">
            <a:avLst>
              <a:gd name="adj" fmla="val 6857"/>
            </a:avLst>
          </a:prstGeom>
          <a:solidFill>
            <a:schemeClr val="bg2"/>
          </a:solidFill>
          <a:ln/>
        </p:spPr>
      </p:sp>
      <p:sp>
        <p:nvSpPr>
          <p:cNvPr id="20" name="Shape 14"/>
          <p:cNvSpPr/>
          <p:nvPr/>
        </p:nvSpPr>
        <p:spPr>
          <a:xfrm>
            <a:off x="640080" y="3108960"/>
            <a:ext cx="411480" cy="41148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42950" y="3211830"/>
            <a:ext cx="205740" cy="205740"/>
          </a:xfrm>
          <a:prstGeom prst="rect">
            <a:avLst/>
          </a:prstGeom>
        </p:spPr>
      </p:pic>
      <p:sp>
        <p:nvSpPr>
          <p:cNvPr id="22" name="Text 15"/>
          <p:cNvSpPr txBox="1"/>
          <p:nvPr/>
        </p:nvSpPr>
        <p:spPr>
          <a:xfrm>
            <a:off x="1188720" y="3108960"/>
            <a:ext cx="4526280" cy="411480"/>
          </a:xfrm>
          <a:prstGeom prst="rect">
            <a:avLst/>
          </a:prstGeom>
          <a:noFill/>
          <a:ln/>
        </p:spPr>
        <p:txBody>
          <a:bodyPr wrap="square" lIns="0" tIns="0" rIns="0" bIns="0" rtlCol="0" anchor="ctr"/>
          <a:lstStyle/>
          <a:p>
            <a:pPr indent="0" marL="0">
              <a:buNone/>
            </a:pPr>
            <a:r>
              <a:rPr lang="en-US" sz="1700" b="1" dirty="0">
                <a:solidFill>
                  <a:schemeClr val="tx2"/>
                </a:solidFill>
              </a:rPr>
              <a:t>AI</a:t>
            </a:r>
            <a:endParaRPr lang="en-US" sz="1700" dirty="0"/>
          </a:p>
        </p:txBody>
      </p:sp>
      <p:sp>
        <p:nvSpPr>
          <p:cNvPr id="23" name="Text 16"/>
          <p:cNvSpPr txBox="1"/>
          <p:nvPr/>
        </p:nvSpPr>
        <p:spPr>
          <a:xfrm>
            <a:off x="640080" y="3703320"/>
            <a:ext cx="2446020" cy="777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Sentence Transformers</a:t>
            </a:r>
            <a:endParaRPr lang="en-US" sz="1400" dirty="0"/>
          </a:p>
          <a:p>
            <a:pPr marL="342900" indent="-342900">
              <a:spcAft>
                <a:spcPts val="300"/>
              </a:spcAft>
              <a:buSzPct val="100000"/>
              <a:buChar char="•"/>
            </a:pPr>
            <a:r>
              <a:rPr lang="en-US" sz="1400" dirty="0">
                <a:solidFill>
                  <a:schemeClr val="tx1"/>
                </a:solidFill>
              </a:rPr>
              <a:t>LangChain</a:t>
            </a:r>
            <a:endParaRPr lang="en-US" sz="1400" dirty="0"/>
          </a:p>
          <a:p>
            <a:pPr marL="342900" indent="-342900">
              <a:spcAft>
                <a:spcPts val="300"/>
              </a:spcAft>
              <a:buSzPct val="100000"/>
              <a:buChar char="•"/>
            </a:pPr>
            <a:r>
              <a:rPr lang="en-US" sz="1400" dirty="0">
                <a:solidFill>
                  <a:schemeClr val="tx1"/>
                </a:solidFill>
              </a:rPr>
              <a:t>RAG Pipeline</a:t>
            </a:r>
            <a:endParaRPr lang="en-US" sz="1400" dirty="0"/>
          </a:p>
        </p:txBody>
      </p:sp>
      <p:sp>
        <p:nvSpPr>
          <p:cNvPr id="24" name="Text 17"/>
          <p:cNvSpPr txBox="1"/>
          <p:nvPr/>
        </p:nvSpPr>
        <p:spPr>
          <a:xfrm>
            <a:off x="3177540" y="3703320"/>
            <a:ext cx="2446020" cy="777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Ollama</a:t>
            </a:r>
            <a:endParaRPr lang="en-US" sz="1400" dirty="0"/>
          </a:p>
          <a:p>
            <a:pPr marL="342900" indent="-342900">
              <a:spcAft>
                <a:spcPts val="300"/>
              </a:spcAft>
              <a:buSzPct val="100000"/>
              <a:buChar char="•"/>
            </a:pPr>
            <a:r>
              <a:rPr lang="en-US" sz="1400" dirty="0">
                <a:solidFill>
                  <a:schemeClr val="tx1"/>
                </a:solidFill>
              </a:rPr>
              <a:t>Mistral</a:t>
            </a:r>
            <a:endParaRPr lang="en-US" sz="1400" dirty="0"/>
          </a:p>
        </p:txBody>
      </p:sp>
      <p:sp>
        <p:nvSpPr>
          <p:cNvPr id="25" name="Shape 18"/>
          <p:cNvSpPr/>
          <p:nvPr/>
        </p:nvSpPr>
        <p:spPr>
          <a:xfrm>
            <a:off x="6035040" y="2971800"/>
            <a:ext cx="2651760" cy="1600200"/>
          </a:xfrm>
          <a:prstGeom prst="roundRect">
            <a:avLst>
              <a:gd name="adj" fmla="val 6857"/>
            </a:avLst>
          </a:prstGeom>
          <a:solidFill>
            <a:schemeClr val="bg2"/>
          </a:solidFill>
          <a:ln/>
        </p:spPr>
      </p:sp>
      <p:sp>
        <p:nvSpPr>
          <p:cNvPr id="26" name="Shape 19"/>
          <p:cNvSpPr/>
          <p:nvPr/>
        </p:nvSpPr>
        <p:spPr>
          <a:xfrm>
            <a:off x="6217920" y="3108960"/>
            <a:ext cx="411480" cy="41148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6320790" y="3211830"/>
            <a:ext cx="205740" cy="205740"/>
          </a:xfrm>
          <a:prstGeom prst="rect">
            <a:avLst/>
          </a:prstGeom>
        </p:spPr>
      </p:pic>
      <p:sp>
        <p:nvSpPr>
          <p:cNvPr id="28" name="Text 20"/>
          <p:cNvSpPr txBox="1"/>
          <p:nvPr/>
        </p:nvSpPr>
        <p:spPr>
          <a:xfrm>
            <a:off x="6766560" y="3108960"/>
            <a:ext cx="1737360" cy="411480"/>
          </a:xfrm>
          <a:prstGeom prst="rect">
            <a:avLst/>
          </a:prstGeom>
          <a:noFill/>
          <a:ln/>
        </p:spPr>
        <p:txBody>
          <a:bodyPr wrap="square" lIns="0" tIns="0" rIns="0" bIns="0" rtlCol="0" anchor="ctr"/>
          <a:lstStyle/>
          <a:p>
            <a:pPr indent="0" marL="0">
              <a:buNone/>
            </a:pPr>
            <a:r>
              <a:rPr lang="en-US" sz="1700" b="1" dirty="0">
                <a:solidFill>
                  <a:schemeClr val="tx2"/>
                </a:solidFill>
              </a:rPr>
              <a:t>Others</a:t>
            </a:r>
            <a:endParaRPr lang="en-US" sz="1700" dirty="0"/>
          </a:p>
        </p:txBody>
      </p:sp>
      <p:sp>
        <p:nvSpPr>
          <p:cNvPr id="29" name="Text 21"/>
          <p:cNvSpPr txBox="1"/>
          <p:nvPr/>
        </p:nvSpPr>
        <p:spPr>
          <a:xfrm>
            <a:off x="6217920" y="3703320"/>
            <a:ext cx="2194560" cy="777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Docker</a:t>
            </a:r>
            <a:endParaRPr lang="en-US" sz="1400" dirty="0"/>
          </a:p>
          <a:p>
            <a:pPr marL="342900" indent="-342900">
              <a:spcAft>
                <a:spcPts val="300"/>
              </a:spcAft>
              <a:buSzPct val="100000"/>
              <a:buChar char="•"/>
            </a:pPr>
            <a:r>
              <a:rPr lang="en-US" sz="1400" dirty="0">
                <a:solidFill>
                  <a:schemeClr val="tx1"/>
                </a:solidFill>
              </a:rPr>
              <a:t>Postman</a:t>
            </a:r>
            <a:endParaRPr lang="en-US" sz="1400" dirty="0"/>
          </a:p>
          <a:p>
            <a:pPr marL="342900" indent="-342900">
              <a:spcAft>
                <a:spcPts val="300"/>
              </a:spcAft>
              <a:buSzPct val="100000"/>
              <a:buChar char="•"/>
            </a:pPr>
            <a:r>
              <a:rPr lang="en-US" sz="1400" dirty="0">
                <a:solidFill>
                  <a:schemeClr val="tx1"/>
                </a:solidFill>
              </a:rPr>
              <a:t>GitHub</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System Architecture</a:t>
            </a:r>
            <a:endParaRPr lang="en-US" sz="3000" dirty="0"/>
          </a:p>
        </p:txBody>
      </p:sp>
      <p:sp>
        <p:nvSpPr>
          <p:cNvPr id="4" name="Shape 1"/>
          <p:cNvSpPr/>
          <p:nvPr/>
        </p:nvSpPr>
        <p:spPr>
          <a:xfrm>
            <a:off x="457200" y="1097280"/>
            <a:ext cx="1645920" cy="1280160"/>
          </a:xfrm>
          <a:prstGeom prst="roundRect">
            <a:avLst>
              <a:gd name="adj" fmla="val 8571"/>
            </a:avLst>
          </a:prstGeom>
          <a:solidFill>
            <a:schemeClr val="bg2"/>
          </a:solidFill>
          <a:ln/>
        </p:spPr>
      </p:sp>
      <p:sp>
        <p:nvSpPr>
          <p:cNvPr id="5" name="Shape 2"/>
          <p:cNvSpPr/>
          <p:nvPr/>
        </p:nvSpPr>
        <p:spPr>
          <a:xfrm>
            <a:off x="1051560" y="1234440"/>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165860" y="1348740"/>
            <a:ext cx="228600" cy="228600"/>
          </a:xfrm>
          <a:prstGeom prst="rect">
            <a:avLst/>
          </a:prstGeom>
        </p:spPr>
      </p:pic>
      <p:sp>
        <p:nvSpPr>
          <p:cNvPr id="7" name="Text 3"/>
          <p:cNvSpPr txBox="1"/>
          <p:nvPr/>
        </p:nvSpPr>
        <p:spPr>
          <a:xfrm>
            <a:off x="50292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User</a:t>
            </a:r>
            <a:endParaRPr lang="en-US" sz="1400" dirty="0"/>
          </a:p>
        </p:txBody>
      </p:sp>
      <p:sp>
        <p:nvSpPr>
          <p:cNvPr id="8" name="Shape 4"/>
          <p:cNvSpPr/>
          <p:nvPr/>
        </p:nvSpPr>
        <p:spPr>
          <a:xfrm>
            <a:off x="2194560" y="1609344"/>
            <a:ext cx="365760" cy="256032"/>
          </a:xfrm>
          <a:prstGeom prst="rightArrow">
            <a:avLst/>
          </a:prstGeom>
          <a:solidFill>
            <a:schemeClr val="accent2"/>
          </a:solidFill>
          <a:ln/>
        </p:spPr>
      </p:sp>
      <p:sp>
        <p:nvSpPr>
          <p:cNvPr id="9" name="Shape 5"/>
          <p:cNvSpPr/>
          <p:nvPr/>
        </p:nvSpPr>
        <p:spPr>
          <a:xfrm>
            <a:off x="2651760" y="1097280"/>
            <a:ext cx="1645920" cy="1280160"/>
          </a:xfrm>
          <a:prstGeom prst="roundRect">
            <a:avLst>
              <a:gd name="adj" fmla="val 8571"/>
            </a:avLst>
          </a:prstGeom>
          <a:solidFill>
            <a:schemeClr val="bg2"/>
          </a:solidFill>
          <a:ln/>
        </p:spPr>
      </p:sp>
      <p:sp>
        <p:nvSpPr>
          <p:cNvPr id="10" name="Shape 6"/>
          <p:cNvSpPr/>
          <p:nvPr/>
        </p:nvSpPr>
        <p:spPr>
          <a:xfrm>
            <a:off x="3246120" y="1234440"/>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360420" y="1348740"/>
            <a:ext cx="228600" cy="228600"/>
          </a:xfrm>
          <a:prstGeom prst="rect">
            <a:avLst/>
          </a:prstGeom>
        </p:spPr>
      </p:pic>
      <p:sp>
        <p:nvSpPr>
          <p:cNvPr id="12" name="Text 7"/>
          <p:cNvSpPr txBox="1"/>
          <p:nvPr/>
        </p:nvSpPr>
        <p:spPr>
          <a:xfrm>
            <a:off x="269748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React Frontend</a:t>
            </a:r>
            <a:endParaRPr lang="en-US" sz="1400" dirty="0"/>
          </a:p>
        </p:txBody>
      </p:sp>
      <p:sp>
        <p:nvSpPr>
          <p:cNvPr id="13" name="Shape 8"/>
          <p:cNvSpPr/>
          <p:nvPr/>
        </p:nvSpPr>
        <p:spPr>
          <a:xfrm>
            <a:off x="4389120" y="1609344"/>
            <a:ext cx="365760" cy="256032"/>
          </a:xfrm>
          <a:prstGeom prst="rightArrow">
            <a:avLst/>
          </a:prstGeom>
          <a:solidFill>
            <a:schemeClr val="accent2"/>
          </a:solidFill>
          <a:ln/>
        </p:spPr>
      </p:sp>
      <p:sp>
        <p:nvSpPr>
          <p:cNvPr id="14" name="Shape 9"/>
          <p:cNvSpPr/>
          <p:nvPr/>
        </p:nvSpPr>
        <p:spPr>
          <a:xfrm>
            <a:off x="4846320" y="1097280"/>
            <a:ext cx="1645920" cy="1280160"/>
          </a:xfrm>
          <a:prstGeom prst="roundRect">
            <a:avLst>
              <a:gd name="adj" fmla="val 8571"/>
            </a:avLst>
          </a:prstGeom>
          <a:solidFill>
            <a:schemeClr val="bg2"/>
          </a:solidFill>
          <a:ln/>
        </p:spPr>
      </p:sp>
      <p:sp>
        <p:nvSpPr>
          <p:cNvPr id="15" name="Shape 10"/>
          <p:cNvSpPr/>
          <p:nvPr/>
        </p:nvSpPr>
        <p:spPr>
          <a:xfrm>
            <a:off x="5440680" y="1234440"/>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5554980" y="1348740"/>
            <a:ext cx="228600" cy="228600"/>
          </a:xfrm>
          <a:prstGeom prst="rect">
            <a:avLst/>
          </a:prstGeom>
        </p:spPr>
      </p:pic>
      <p:sp>
        <p:nvSpPr>
          <p:cNvPr id="17" name="Text 11"/>
          <p:cNvSpPr txBox="1"/>
          <p:nvPr/>
        </p:nvSpPr>
        <p:spPr>
          <a:xfrm>
            <a:off x="489204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FastAPI</a:t>
            </a:r>
            <a:endParaRPr lang="en-US" sz="1400" dirty="0"/>
          </a:p>
        </p:txBody>
      </p:sp>
      <p:sp>
        <p:nvSpPr>
          <p:cNvPr id="18" name="Shape 12"/>
          <p:cNvSpPr/>
          <p:nvPr/>
        </p:nvSpPr>
        <p:spPr>
          <a:xfrm>
            <a:off x="6583680" y="1609344"/>
            <a:ext cx="365760" cy="256032"/>
          </a:xfrm>
          <a:prstGeom prst="rightArrow">
            <a:avLst/>
          </a:prstGeom>
          <a:solidFill>
            <a:schemeClr val="accent2"/>
          </a:solidFill>
          <a:ln/>
        </p:spPr>
      </p:sp>
      <p:sp>
        <p:nvSpPr>
          <p:cNvPr id="19" name="Shape 13"/>
          <p:cNvSpPr/>
          <p:nvPr/>
        </p:nvSpPr>
        <p:spPr>
          <a:xfrm>
            <a:off x="7040880" y="1097280"/>
            <a:ext cx="1645920" cy="1280160"/>
          </a:xfrm>
          <a:prstGeom prst="roundRect">
            <a:avLst>
              <a:gd name="adj" fmla="val 8571"/>
            </a:avLst>
          </a:prstGeom>
          <a:solidFill>
            <a:schemeClr val="bg2"/>
          </a:solidFill>
          <a:ln/>
        </p:spPr>
      </p:sp>
      <p:sp>
        <p:nvSpPr>
          <p:cNvPr id="20" name="Shape 14"/>
          <p:cNvSpPr/>
          <p:nvPr/>
        </p:nvSpPr>
        <p:spPr>
          <a:xfrm>
            <a:off x="7635240" y="1234440"/>
            <a:ext cx="457200" cy="4572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749540" y="1348740"/>
            <a:ext cx="228600" cy="228600"/>
          </a:xfrm>
          <a:prstGeom prst="rect">
            <a:avLst/>
          </a:prstGeom>
        </p:spPr>
      </p:pic>
      <p:sp>
        <p:nvSpPr>
          <p:cNvPr id="22" name="Text 15"/>
          <p:cNvSpPr txBox="1"/>
          <p:nvPr/>
        </p:nvSpPr>
        <p:spPr>
          <a:xfrm>
            <a:off x="708660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AI Agent</a:t>
            </a:r>
            <a:endParaRPr lang="en-US" sz="1400" dirty="0"/>
          </a:p>
        </p:txBody>
      </p:sp>
      <p:sp>
        <p:nvSpPr>
          <p:cNvPr id="23" name="Shape 16"/>
          <p:cNvSpPr/>
          <p:nvPr/>
        </p:nvSpPr>
        <p:spPr>
          <a:xfrm>
            <a:off x="7040880" y="3246120"/>
            <a:ext cx="1645920" cy="1280160"/>
          </a:xfrm>
          <a:prstGeom prst="roundRect">
            <a:avLst>
              <a:gd name="adj" fmla="val 8571"/>
            </a:avLst>
          </a:prstGeom>
          <a:solidFill>
            <a:schemeClr val="bg2"/>
          </a:solidFill>
          <a:ln/>
        </p:spPr>
      </p:sp>
      <p:sp>
        <p:nvSpPr>
          <p:cNvPr id="24" name="Shape 17"/>
          <p:cNvSpPr/>
          <p:nvPr/>
        </p:nvSpPr>
        <p:spPr>
          <a:xfrm>
            <a:off x="7635240" y="3383280"/>
            <a:ext cx="457200" cy="457200"/>
          </a:xfrm>
          <a:prstGeom prst="ellipse">
            <a:avLst/>
          </a:prstGeom>
          <a:solidFill>
            <a:schemeClr val="accent3"/>
          </a:solidFill>
          <a:ln/>
        </p:spPr>
      </p:sp>
      <p:pic>
        <p:nvPicPr>
          <p:cNvPr id="25" name="Image 4" descr="preencoded.png">    </p:cNvPr>
          <p:cNvPicPr>
            <a:picLocks noChangeAspect="1"/>
          </p:cNvPicPr>
          <p:nvPr/>
        </p:nvPicPr>
        <p:blipFill>
          <a:blip r:embed="rId5"/>
          <a:stretch>
            <a:fillRect/>
          </a:stretch>
        </p:blipFill>
        <p:spPr>
          <a:xfrm>
            <a:off x="7749540" y="3497580"/>
            <a:ext cx="228600" cy="228600"/>
          </a:xfrm>
          <a:prstGeom prst="rect">
            <a:avLst/>
          </a:prstGeom>
        </p:spPr>
      </p:pic>
      <p:sp>
        <p:nvSpPr>
          <p:cNvPr id="26" name="Text 18"/>
          <p:cNvSpPr txBox="1"/>
          <p:nvPr/>
        </p:nvSpPr>
        <p:spPr>
          <a:xfrm>
            <a:off x="708660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RAG Pipeline</a:t>
            </a:r>
            <a:endParaRPr lang="en-US" sz="1400" dirty="0"/>
          </a:p>
        </p:txBody>
      </p:sp>
      <p:sp>
        <p:nvSpPr>
          <p:cNvPr id="27" name="Shape 19"/>
          <p:cNvSpPr/>
          <p:nvPr/>
        </p:nvSpPr>
        <p:spPr>
          <a:xfrm>
            <a:off x="6583680" y="3758184"/>
            <a:ext cx="365760" cy="256032"/>
          </a:xfrm>
          <a:prstGeom prst="leftArrow">
            <a:avLst/>
          </a:prstGeom>
          <a:solidFill>
            <a:schemeClr val="accent2"/>
          </a:solidFill>
          <a:ln/>
        </p:spPr>
      </p:sp>
      <p:sp>
        <p:nvSpPr>
          <p:cNvPr id="28" name="Shape 20"/>
          <p:cNvSpPr/>
          <p:nvPr/>
        </p:nvSpPr>
        <p:spPr>
          <a:xfrm>
            <a:off x="4846320" y="3246120"/>
            <a:ext cx="1645920" cy="1280160"/>
          </a:xfrm>
          <a:prstGeom prst="roundRect">
            <a:avLst>
              <a:gd name="adj" fmla="val 8571"/>
            </a:avLst>
          </a:prstGeom>
          <a:solidFill>
            <a:schemeClr val="bg2"/>
          </a:solidFill>
          <a:ln/>
        </p:spPr>
      </p:sp>
      <p:sp>
        <p:nvSpPr>
          <p:cNvPr id="29" name="Shape 21"/>
          <p:cNvSpPr/>
          <p:nvPr/>
        </p:nvSpPr>
        <p:spPr>
          <a:xfrm>
            <a:off x="5440680" y="3383280"/>
            <a:ext cx="457200" cy="457200"/>
          </a:xfrm>
          <a:prstGeom prst="ellipse">
            <a:avLst/>
          </a:prstGeom>
          <a:solidFill>
            <a:schemeClr val="accent3"/>
          </a:solidFill>
          <a:ln/>
        </p:spPr>
      </p:sp>
      <p:pic>
        <p:nvPicPr>
          <p:cNvPr id="30" name="Image 5" descr="preencoded.png">    </p:cNvPr>
          <p:cNvPicPr>
            <a:picLocks noChangeAspect="1"/>
          </p:cNvPicPr>
          <p:nvPr/>
        </p:nvPicPr>
        <p:blipFill>
          <a:blip r:embed="rId6"/>
          <a:stretch>
            <a:fillRect/>
          </a:stretch>
        </p:blipFill>
        <p:spPr>
          <a:xfrm>
            <a:off x="5554980" y="3497580"/>
            <a:ext cx="228600" cy="228600"/>
          </a:xfrm>
          <a:prstGeom prst="rect">
            <a:avLst/>
          </a:prstGeom>
        </p:spPr>
      </p:pic>
      <p:sp>
        <p:nvSpPr>
          <p:cNvPr id="31" name="Text 22"/>
          <p:cNvSpPr txBox="1"/>
          <p:nvPr/>
        </p:nvSpPr>
        <p:spPr>
          <a:xfrm>
            <a:off x="489204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ChromaDB</a:t>
            </a:r>
            <a:endParaRPr lang="en-US" sz="1400" dirty="0"/>
          </a:p>
        </p:txBody>
      </p:sp>
      <p:sp>
        <p:nvSpPr>
          <p:cNvPr id="32" name="Shape 23"/>
          <p:cNvSpPr/>
          <p:nvPr/>
        </p:nvSpPr>
        <p:spPr>
          <a:xfrm>
            <a:off x="4389120" y="3758184"/>
            <a:ext cx="365760" cy="256032"/>
          </a:xfrm>
          <a:prstGeom prst="leftArrow">
            <a:avLst/>
          </a:prstGeom>
          <a:solidFill>
            <a:schemeClr val="accent2"/>
          </a:solidFill>
          <a:ln/>
        </p:spPr>
      </p:sp>
      <p:sp>
        <p:nvSpPr>
          <p:cNvPr id="33" name="Shape 24"/>
          <p:cNvSpPr/>
          <p:nvPr/>
        </p:nvSpPr>
        <p:spPr>
          <a:xfrm>
            <a:off x="2651760" y="3246120"/>
            <a:ext cx="1645920" cy="1280160"/>
          </a:xfrm>
          <a:prstGeom prst="roundRect">
            <a:avLst>
              <a:gd name="adj" fmla="val 8571"/>
            </a:avLst>
          </a:prstGeom>
          <a:solidFill>
            <a:schemeClr val="bg2"/>
          </a:solidFill>
          <a:ln/>
        </p:spPr>
      </p:sp>
      <p:sp>
        <p:nvSpPr>
          <p:cNvPr id="34" name="Shape 25"/>
          <p:cNvSpPr/>
          <p:nvPr/>
        </p:nvSpPr>
        <p:spPr>
          <a:xfrm>
            <a:off x="3246120" y="3383280"/>
            <a:ext cx="457200" cy="457200"/>
          </a:xfrm>
          <a:prstGeom prst="ellipse">
            <a:avLst/>
          </a:prstGeom>
          <a:solidFill>
            <a:schemeClr val="accent3"/>
          </a:solidFill>
          <a:ln/>
        </p:spPr>
      </p:sp>
      <p:pic>
        <p:nvPicPr>
          <p:cNvPr id="35" name="Image 6" descr="preencoded.png">    </p:cNvPr>
          <p:cNvPicPr>
            <a:picLocks noChangeAspect="1"/>
          </p:cNvPicPr>
          <p:nvPr/>
        </p:nvPicPr>
        <p:blipFill>
          <a:blip r:embed="rId7"/>
          <a:stretch>
            <a:fillRect/>
          </a:stretch>
        </p:blipFill>
        <p:spPr>
          <a:xfrm>
            <a:off x="3360420" y="3497580"/>
            <a:ext cx="228600" cy="228600"/>
          </a:xfrm>
          <a:prstGeom prst="rect">
            <a:avLst/>
          </a:prstGeom>
        </p:spPr>
      </p:pic>
      <p:sp>
        <p:nvSpPr>
          <p:cNvPr id="36" name="Text 26"/>
          <p:cNvSpPr txBox="1"/>
          <p:nvPr/>
        </p:nvSpPr>
        <p:spPr>
          <a:xfrm>
            <a:off x="269748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Medicine Dataset</a:t>
            </a:r>
            <a:endParaRPr lang="en-US" sz="1400" dirty="0"/>
          </a:p>
        </p:txBody>
      </p:sp>
      <p:sp>
        <p:nvSpPr>
          <p:cNvPr id="37" name="Shape 27"/>
          <p:cNvSpPr/>
          <p:nvPr/>
        </p:nvSpPr>
        <p:spPr>
          <a:xfrm>
            <a:off x="2194560" y="3758184"/>
            <a:ext cx="365760" cy="256032"/>
          </a:xfrm>
          <a:prstGeom prst="leftArrow">
            <a:avLst/>
          </a:prstGeom>
          <a:solidFill>
            <a:schemeClr val="accent2"/>
          </a:solidFill>
          <a:ln/>
        </p:spPr>
      </p:sp>
      <p:sp>
        <p:nvSpPr>
          <p:cNvPr id="38" name="Shape 28"/>
          <p:cNvSpPr/>
          <p:nvPr/>
        </p:nvSpPr>
        <p:spPr>
          <a:xfrm>
            <a:off x="457200" y="3246120"/>
            <a:ext cx="1645920" cy="1280160"/>
          </a:xfrm>
          <a:prstGeom prst="roundRect">
            <a:avLst>
              <a:gd name="adj" fmla="val 8571"/>
            </a:avLst>
          </a:prstGeom>
          <a:solidFill>
            <a:schemeClr val="bg2"/>
          </a:solidFill>
          <a:ln/>
        </p:spPr>
      </p:sp>
      <p:sp>
        <p:nvSpPr>
          <p:cNvPr id="39" name="Shape 29"/>
          <p:cNvSpPr/>
          <p:nvPr/>
        </p:nvSpPr>
        <p:spPr>
          <a:xfrm>
            <a:off x="1051560" y="3383280"/>
            <a:ext cx="457200" cy="457200"/>
          </a:xfrm>
          <a:prstGeom prst="ellipse">
            <a:avLst/>
          </a:prstGeom>
          <a:solidFill>
            <a:schemeClr val="accent6"/>
          </a:solidFill>
          <a:ln/>
        </p:spPr>
      </p:sp>
      <p:pic>
        <p:nvPicPr>
          <p:cNvPr id="40" name="Image 7" descr="preencoded.png">    </p:cNvPr>
          <p:cNvPicPr>
            <a:picLocks noChangeAspect="1"/>
          </p:cNvPicPr>
          <p:nvPr/>
        </p:nvPicPr>
        <p:blipFill>
          <a:blip r:embed="rId8"/>
          <a:stretch>
            <a:fillRect/>
          </a:stretch>
        </p:blipFill>
        <p:spPr>
          <a:xfrm>
            <a:off x="1165860" y="3497580"/>
            <a:ext cx="228600" cy="228600"/>
          </a:xfrm>
          <a:prstGeom prst="rect">
            <a:avLst/>
          </a:prstGeom>
        </p:spPr>
      </p:pic>
      <p:sp>
        <p:nvSpPr>
          <p:cNvPr id="41" name="Text 30"/>
          <p:cNvSpPr txBox="1"/>
          <p:nvPr/>
        </p:nvSpPr>
        <p:spPr>
          <a:xfrm>
            <a:off x="50292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Response</a:t>
            </a:r>
            <a:endParaRPr lang="en-US" sz="1400" dirty="0"/>
          </a:p>
        </p:txBody>
      </p:sp>
      <p:sp>
        <p:nvSpPr>
          <p:cNvPr id="42" name="Shape 31"/>
          <p:cNvSpPr/>
          <p:nvPr/>
        </p:nvSpPr>
        <p:spPr>
          <a:xfrm>
            <a:off x="7726680" y="2450592"/>
            <a:ext cx="274320" cy="722376"/>
          </a:xfrm>
          <a:prstGeom prst="downArrow">
            <a:avLst/>
          </a:prstGeom>
          <a:solidFill>
            <a:schemeClr val="accent2"/>
          </a:solidFill>
          <a:ln/>
        </p:spPr>
      </p:sp>
      <p:sp>
        <p:nvSpPr>
          <p:cNvPr id="43" name="Text 32"/>
          <p:cNvSpPr txBox="1"/>
          <p:nvPr/>
        </p:nvSpPr>
        <p:spPr>
          <a:xfrm>
            <a:off x="457200" y="4572000"/>
            <a:ext cx="7680960" cy="182880"/>
          </a:xfrm>
          <a:prstGeom prst="rect">
            <a:avLst/>
          </a:prstGeom>
          <a:noFill/>
          <a:ln/>
        </p:spPr>
        <p:txBody>
          <a:bodyPr wrap="square" lIns="0" tIns="0" rIns="0" bIns="0" rtlCol="0" anchor="t"/>
          <a:lstStyle/>
          <a:p>
            <a:pPr indent="0" marL="0">
              <a:buNone/>
            </a:pPr>
            <a:r>
              <a:rPr lang="en-US" sz="1100" i="1" dirty="0">
                <a:solidFill>
                  <a:srgbClr val="4A5B78"/>
                </a:solidFill>
              </a:rPr>
              <a:t>Request flows down through the stack; retrieved medicine context flows back as a grounded response.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Project Folder Structure</a:t>
            </a:r>
            <a:endParaRPr lang="en-US" sz="3000" dirty="0"/>
          </a:p>
        </p:txBody>
      </p:sp>
      <p:sp>
        <p:nvSpPr>
          <p:cNvPr id="4" name="Shape 1"/>
          <p:cNvSpPr/>
          <p:nvPr/>
        </p:nvSpPr>
        <p:spPr>
          <a:xfrm>
            <a:off x="457200" y="1097280"/>
            <a:ext cx="4023360" cy="3429000"/>
          </a:xfrm>
          <a:prstGeom prst="roundRect">
            <a:avLst>
              <a:gd name="adj" fmla="val 3200"/>
            </a:avLst>
          </a:prstGeom>
          <a:solidFill>
            <a:schemeClr val="tx2"/>
          </a:solidFill>
          <a:ln/>
        </p:spPr>
      </p:sp>
      <p:sp>
        <p:nvSpPr>
          <p:cNvPr id="5" name="Text 2"/>
          <p:cNvSpPr txBox="1"/>
          <p:nvPr/>
        </p:nvSpPr>
        <p:spPr>
          <a:xfrm>
            <a:off x="731520" y="1371600"/>
            <a:ext cx="3566160" cy="2926080"/>
          </a:xfrm>
          <a:prstGeom prst="rect">
            <a:avLst/>
          </a:prstGeom>
          <a:noFill/>
          <a:ln/>
        </p:spPr>
        <p:txBody>
          <a:bodyPr wrap="square" lIns="0" tIns="0" rIns="0" bIns="0" rtlCol="0" anchor="t"/>
          <a:lstStyle/>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Hospital-AI-Agent/</a:t>
            </a:r>
            <a:endParaRPr lang="en-US" sz="1600" dirty="0"/>
          </a:p>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 backend/</a:t>
            </a:r>
            <a:endParaRPr lang="en-US" sz="1600" dirty="0"/>
          </a:p>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 frontend/</a:t>
            </a:r>
            <a:endParaRPr lang="en-US" sz="1600" dirty="0"/>
          </a:p>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 postman/</a:t>
            </a:r>
            <a:endParaRPr lang="en-US" sz="1600" dirty="0"/>
          </a:p>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 Dockerfile</a:t>
            </a:r>
            <a:endParaRPr lang="en-US" sz="1600" dirty="0"/>
          </a:p>
          <a:p>
            <a:pPr indent="0" marL="0">
              <a:spcAft>
                <a:spcPts val="800"/>
              </a:spcAft>
              <a:buNone/>
            </a:pPr>
            <a:r>
              <a:rPr lang="en-US" sz="1600" dirty="0">
                <a:solidFill>
                  <a:srgbClr val="BFE0FF"/>
                </a:solidFill>
                <a:latin typeface="Courier New" pitchFamily="34" charset="0"/>
                <a:ea typeface="Courier New" pitchFamily="34" charset="-122"/>
                <a:cs typeface="Courier New" pitchFamily="34" charset="-120"/>
              </a:rPr>
              <a:t>`-- README.md</a:t>
            </a:r>
            <a:endParaRPr lang="en-US" sz="1600" dirty="0"/>
          </a:p>
        </p:txBody>
      </p:sp>
      <p:sp>
        <p:nvSpPr>
          <p:cNvPr id="6" name="Shape 3"/>
          <p:cNvSpPr/>
          <p:nvPr/>
        </p:nvSpPr>
        <p:spPr>
          <a:xfrm>
            <a:off x="4754880" y="1097280"/>
            <a:ext cx="3931920" cy="612648"/>
          </a:xfrm>
          <a:prstGeom prst="roundRect">
            <a:avLst>
              <a:gd name="adj" fmla="val 17910"/>
            </a:avLst>
          </a:prstGeom>
          <a:solidFill>
            <a:schemeClr val="bg2"/>
          </a:solidFill>
          <a:ln/>
        </p:spPr>
      </p:sp>
      <p:sp>
        <p:nvSpPr>
          <p:cNvPr id="7" name="Shape 4"/>
          <p:cNvSpPr/>
          <p:nvPr/>
        </p:nvSpPr>
        <p:spPr>
          <a:xfrm>
            <a:off x="4864608" y="1188720"/>
            <a:ext cx="429768" cy="42976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4972050" y="1296162"/>
            <a:ext cx="214884" cy="214884"/>
          </a:xfrm>
          <a:prstGeom prst="rect">
            <a:avLst/>
          </a:prstGeom>
        </p:spPr>
      </p:pic>
      <p:sp>
        <p:nvSpPr>
          <p:cNvPr id="9" name="Text 5"/>
          <p:cNvSpPr txBox="1"/>
          <p:nvPr/>
        </p:nvSpPr>
        <p:spPr>
          <a:xfrm>
            <a:off x="5440680" y="1097280"/>
            <a:ext cx="3200400" cy="612648"/>
          </a:xfrm>
          <a:prstGeom prst="rect">
            <a:avLst/>
          </a:prstGeom>
          <a:noFill/>
          <a:ln/>
        </p:spPr>
        <p:txBody>
          <a:bodyPr wrap="square" lIns="0" tIns="0" rIns="0" bIns="0" rtlCol="0" anchor="ctr"/>
          <a:lstStyle/>
          <a:p>
            <a:pPr indent="0" marL="0">
              <a:buNone/>
            </a:pPr>
            <a:r>
              <a:rPr lang="en-US" sz="1400" b="1" dirty="0">
                <a:solidFill>
                  <a:schemeClr val="tx1"/>
                </a:solidFill>
              </a:rPr>
              <a:t>backend/</a:t>
            </a:r>
            <a:endParaRPr lang="en-US" sz="1400" dirty="0"/>
          </a:p>
          <a:p>
            <a:pPr indent="0" marL="0">
              <a:buNone/>
            </a:pPr>
            <a:r>
              <a:rPr lang="en-US" sz="1400" dirty="0">
                <a:solidFill>
                  <a:schemeClr val="tx1"/>
                </a:solidFill>
              </a:rPr>
              <a:t>FastAPI, agent, RAG, dataset</a:t>
            </a:r>
            <a:endParaRPr lang="en-US" sz="1400" dirty="0"/>
          </a:p>
        </p:txBody>
      </p:sp>
      <p:sp>
        <p:nvSpPr>
          <p:cNvPr id="10" name="Shape 6"/>
          <p:cNvSpPr/>
          <p:nvPr/>
        </p:nvSpPr>
        <p:spPr>
          <a:xfrm>
            <a:off x="4754880" y="1801368"/>
            <a:ext cx="3931920" cy="612648"/>
          </a:xfrm>
          <a:prstGeom prst="roundRect">
            <a:avLst>
              <a:gd name="adj" fmla="val 17910"/>
            </a:avLst>
          </a:prstGeom>
          <a:solidFill>
            <a:schemeClr val="bg2"/>
          </a:solidFill>
          <a:ln/>
        </p:spPr>
      </p:sp>
      <p:sp>
        <p:nvSpPr>
          <p:cNvPr id="11" name="Shape 7"/>
          <p:cNvSpPr/>
          <p:nvPr/>
        </p:nvSpPr>
        <p:spPr>
          <a:xfrm>
            <a:off x="4864608" y="1892808"/>
            <a:ext cx="429768" cy="429768"/>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972050" y="2000250"/>
            <a:ext cx="214884" cy="214884"/>
          </a:xfrm>
          <a:prstGeom prst="rect">
            <a:avLst/>
          </a:prstGeom>
        </p:spPr>
      </p:pic>
      <p:sp>
        <p:nvSpPr>
          <p:cNvPr id="13" name="Text 8"/>
          <p:cNvSpPr txBox="1"/>
          <p:nvPr/>
        </p:nvSpPr>
        <p:spPr>
          <a:xfrm>
            <a:off x="5440680" y="1801368"/>
            <a:ext cx="3200400" cy="612648"/>
          </a:xfrm>
          <a:prstGeom prst="rect">
            <a:avLst/>
          </a:prstGeom>
          <a:noFill/>
          <a:ln/>
        </p:spPr>
        <p:txBody>
          <a:bodyPr wrap="square" lIns="0" tIns="0" rIns="0" bIns="0" rtlCol="0" anchor="ctr"/>
          <a:lstStyle/>
          <a:p>
            <a:pPr indent="0" marL="0">
              <a:buNone/>
            </a:pPr>
            <a:r>
              <a:rPr lang="en-US" sz="1400" b="1" dirty="0">
                <a:solidFill>
                  <a:schemeClr val="tx1"/>
                </a:solidFill>
              </a:rPr>
              <a:t>frontend/</a:t>
            </a:r>
            <a:endParaRPr lang="en-US" sz="1400" dirty="0"/>
          </a:p>
          <a:p>
            <a:pPr indent="0" marL="0">
              <a:buNone/>
            </a:pPr>
            <a:r>
              <a:rPr lang="en-US" sz="1400" dirty="0">
                <a:solidFill>
                  <a:schemeClr val="tx1"/>
                </a:solidFill>
              </a:rPr>
              <a:t>React + Vite + Tailwind UI</a:t>
            </a:r>
            <a:endParaRPr lang="en-US" sz="1400" dirty="0"/>
          </a:p>
        </p:txBody>
      </p:sp>
      <p:sp>
        <p:nvSpPr>
          <p:cNvPr id="14" name="Shape 9"/>
          <p:cNvSpPr/>
          <p:nvPr/>
        </p:nvSpPr>
        <p:spPr>
          <a:xfrm>
            <a:off x="4754880" y="2505456"/>
            <a:ext cx="3931920" cy="612648"/>
          </a:xfrm>
          <a:prstGeom prst="roundRect">
            <a:avLst>
              <a:gd name="adj" fmla="val 17910"/>
            </a:avLst>
          </a:prstGeom>
          <a:solidFill>
            <a:schemeClr val="bg2"/>
          </a:solidFill>
          <a:ln/>
        </p:spPr>
      </p:sp>
      <p:sp>
        <p:nvSpPr>
          <p:cNvPr id="15" name="Shape 10"/>
          <p:cNvSpPr/>
          <p:nvPr/>
        </p:nvSpPr>
        <p:spPr>
          <a:xfrm>
            <a:off x="4864608" y="2596896"/>
            <a:ext cx="429768" cy="429768"/>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972050" y="2704338"/>
            <a:ext cx="214884" cy="214884"/>
          </a:xfrm>
          <a:prstGeom prst="rect">
            <a:avLst/>
          </a:prstGeom>
        </p:spPr>
      </p:pic>
      <p:sp>
        <p:nvSpPr>
          <p:cNvPr id="17" name="Text 11"/>
          <p:cNvSpPr txBox="1"/>
          <p:nvPr/>
        </p:nvSpPr>
        <p:spPr>
          <a:xfrm>
            <a:off x="5440680" y="2505456"/>
            <a:ext cx="3200400" cy="612648"/>
          </a:xfrm>
          <a:prstGeom prst="rect">
            <a:avLst/>
          </a:prstGeom>
          <a:noFill/>
          <a:ln/>
        </p:spPr>
        <p:txBody>
          <a:bodyPr wrap="square" lIns="0" tIns="0" rIns="0" bIns="0" rtlCol="0" anchor="ctr"/>
          <a:lstStyle/>
          <a:p>
            <a:pPr indent="0" marL="0">
              <a:buNone/>
            </a:pPr>
            <a:r>
              <a:rPr lang="en-US" sz="1400" b="1" dirty="0">
                <a:solidFill>
                  <a:schemeClr val="tx1"/>
                </a:solidFill>
              </a:rPr>
              <a:t>postman/</a:t>
            </a:r>
            <a:endParaRPr lang="en-US" sz="1400" dirty="0"/>
          </a:p>
          <a:p>
            <a:pPr indent="0" marL="0">
              <a:buNone/>
            </a:pPr>
            <a:r>
              <a:rPr lang="en-US" sz="1400" dirty="0">
                <a:solidFill>
                  <a:schemeClr val="tx1"/>
                </a:solidFill>
              </a:rPr>
              <a:t>API test collections</a:t>
            </a:r>
            <a:endParaRPr lang="en-US" sz="1400" dirty="0"/>
          </a:p>
        </p:txBody>
      </p:sp>
      <p:sp>
        <p:nvSpPr>
          <p:cNvPr id="18" name="Shape 12"/>
          <p:cNvSpPr/>
          <p:nvPr/>
        </p:nvSpPr>
        <p:spPr>
          <a:xfrm>
            <a:off x="4754880" y="3209544"/>
            <a:ext cx="3931920" cy="612648"/>
          </a:xfrm>
          <a:prstGeom prst="roundRect">
            <a:avLst>
              <a:gd name="adj" fmla="val 17910"/>
            </a:avLst>
          </a:prstGeom>
          <a:solidFill>
            <a:schemeClr val="bg2"/>
          </a:solidFill>
          <a:ln/>
        </p:spPr>
      </p:sp>
      <p:sp>
        <p:nvSpPr>
          <p:cNvPr id="19" name="Shape 13"/>
          <p:cNvSpPr/>
          <p:nvPr/>
        </p:nvSpPr>
        <p:spPr>
          <a:xfrm>
            <a:off x="4864608" y="3300984"/>
            <a:ext cx="429768" cy="42976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4972050" y="3408426"/>
            <a:ext cx="214884" cy="214884"/>
          </a:xfrm>
          <a:prstGeom prst="rect">
            <a:avLst/>
          </a:prstGeom>
        </p:spPr>
      </p:pic>
      <p:sp>
        <p:nvSpPr>
          <p:cNvPr id="21" name="Text 14"/>
          <p:cNvSpPr txBox="1"/>
          <p:nvPr/>
        </p:nvSpPr>
        <p:spPr>
          <a:xfrm>
            <a:off x="5440680" y="3209544"/>
            <a:ext cx="3200400" cy="612648"/>
          </a:xfrm>
          <a:prstGeom prst="rect">
            <a:avLst/>
          </a:prstGeom>
          <a:noFill/>
          <a:ln/>
        </p:spPr>
        <p:txBody>
          <a:bodyPr wrap="square" lIns="0" tIns="0" rIns="0" bIns="0" rtlCol="0" anchor="ctr"/>
          <a:lstStyle/>
          <a:p>
            <a:pPr indent="0" marL="0">
              <a:buNone/>
            </a:pPr>
            <a:r>
              <a:rPr lang="en-US" sz="1400" b="1" dirty="0">
                <a:solidFill>
                  <a:schemeClr val="tx1"/>
                </a:solidFill>
              </a:rPr>
              <a:t>Docker</a:t>
            </a:r>
            <a:endParaRPr lang="en-US" sz="1400" dirty="0"/>
          </a:p>
          <a:p>
            <a:pPr indent="0" marL="0">
              <a:buNone/>
            </a:pPr>
            <a:r>
              <a:rPr lang="en-US" sz="1400" dirty="0">
                <a:solidFill>
                  <a:schemeClr val="tx1"/>
                </a:solidFill>
              </a:rPr>
              <a:t>Containerized setup</a:t>
            </a:r>
            <a:endParaRPr lang="en-US" sz="1400" dirty="0"/>
          </a:p>
        </p:txBody>
      </p:sp>
      <p:sp>
        <p:nvSpPr>
          <p:cNvPr id="22" name="Shape 15"/>
          <p:cNvSpPr/>
          <p:nvPr/>
        </p:nvSpPr>
        <p:spPr>
          <a:xfrm>
            <a:off x="4754880" y="3913632"/>
            <a:ext cx="3931920" cy="612648"/>
          </a:xfrm>
          <a:prstGeom prst="roundRect">
            <a:avLst>
              <a:gd name="adj" fmla="val 17910"/>
            </a:avLst>
          </a:prstGeom>
          <a:solidFill>
            <a:schemeClr val="bg2"/>
          </a:solidFill>
          <a:ln/>
        </p:spPr>
      </p:sp>
      <p:sp>
        <p:nvSpPr>
          <p:cNvPr id="23" name="Shape 16"/>
          <p:cNvSpPr/>
          <p:nvPr/>
        </p:nvSpPr>
        <p:spPr>
          <a:xfrm>
            <a:off x="4864608" y="4005072"/>
            <a:ext cx="429768" cy="429768"/>
          </a:xfrm>
          <a:prstGeom prst="ellipse">
            <a:avLst/>
          </a:prstGeom>
          <a:solidFill>
            <a:schemeClr val="accent1"/>
          </a:solidFill>
          <a:ln/>
        </p:spPr>
      </p:sp>
      <p:pic>
        <p:nvPicPr>
          <p:cNvPr id="24" name="Image 4" descr="preencoded.png">    </p:cNvPr>
          <p:cNvPicPr>
            <a:picLocks noChangeAspect="1"/>
          </p:cNvPicPr>
          <p:nvPr/>
        </p:nvPicPr>
        <p:blipFill>
          <a:blip r:embed="rId5"/>
          <a:stretch>
            <a:fillRect/>
          </a:stretch>
        </p:blipFill>
        <p:spPr>
          <a:xfrm>
            <a:off x="4972050" y="4112514"/>
            <a:ext cx="214884" cy="214884"/>
          </a:xfrm>
          <a:prstGeom prst="rect">
            <a:avLst/>
          </a:prstGeom>
        </p:spPr>
      </p:pic>
      <p:sp>
        <p:nvSpPr>
          <p:cNvPr id="25" name="Text 17"/>
          <p:cNvSpPr txBox="1"/>
          <p:nvPr/>
        </p:nvSpPr>
        <p:spPr>
          <a:xfrm>
            <a:off x="5440680" y="3913632"/>
            <a:ext cx="3200400" cy="612648"/>
          </a:xfrm>
          <a:prstGeom prst="rect">
            <a:avLst/>
          </a:prstGeom>
          <a:noFill/>
          <a:ln/>
        </p:spPr>
        <p:txBody>
          <a:bodyPr wrap="square" lIns="0" tIns="0" rIns="0" bIns="0" rtlCol="0" anchor="ctr"/>
          <a:lstStyle/>
          <a:p>
            <a:pPr indent="0" marL="0">
              <a:buNone/>
            </a:pPr>
            <a:r>
              <a:rPr lang="en-US" sz="1400" b="1" dirty="0">
                <a:solidFill>
                  <a:schemeClr val="tx1"/>
                </a:solidFill>
              </a:rPr>
              <a:t>README</a:t>
            </a:r>
            <a:endParaRPr lang="en-US" sz="1400" dirty="0"/>
          </a:p>
          <a:p>
            <a:pPr indent="0" marL="0">
              <a:buNone/>
            </a:pPr>
            <a:r>
              <a:rPr lang="en-US" sz="1400" dirty="0">
                <a:solidFill>
                  <a:schemeClr val="tx1"/>
                </a:solidFill>
              </a:rPr>
              <a:t>Setup and usage guide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Workflow</a:t>
            </a:r>
            <a:endParaRPr lang="en-US" sz="3000" dirty="0"/>
          </a:p>
        </p:txBody>
      </p:sp>
      <p:sp>
        <p:nvSpPr>
          <p:cNvPr id="4" name="Shape 1"/>
          <p:cNvSpPr/>
          <p:nvPr/>
        </p:nvSpPr>
        <p:spPr>
          <a:xfrm>
            <a:off x="457200" y="1097280"/>
            <a:ext cx="1645920" cy="1280160"/>
          </a:xfrm>
          <a:prstGeom prst="roundRect">
            <a:avLst>
              <a:gd name="adj" fmla="val 8571"/>
            </a:avLst>
          </a:prstGeom>
          <a:solidFill>
            <a:schemeClr val="bg2"/>
          </a:solidFill>
          <a:ln/>
        </p:spPr>
      </p:sp>
      <p:sp>
        <p:nvSpPr>
          <p:cNvPr id="5" name="Shape 2"/>
          <p:cNvSpPr/>
          <p:nvPr/>
        </p:nvSpPr>
        <p:spPr>
          <a:xfrm>
            <a:off x="1051560" y="1234440"/>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165860" y="1348740"/>
            <a:ext cx="228600" cy="228600"/>
          </a:xfrm>
          <a:prstGeom prst="rect">
            <a:avLst/>
          </a:prstGeom>
        </p:spPr>
      </p:pic>
      <p:sp>
        <p:nvSpPr>
          <p:cNvPr id="7" name="Text 3"/>
          <p:cNvSpPr txBox="1"/>
          <p:nvPr/>
        </p:nvSpPr>
        <p:spPr>
          <a:xfrm>
            <a:off x="50292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User asks</a:t>
            </a:r>
            <a:endParaRPr lang="en-US" sz="1400" dirty="0"/>
          </a:p>
        </p:txBody>
      </p:sp>
      <p:sp>
        <p:nvSpPr>
          <p:cNvPr id="8" name="Shape 4"/>
          <p:cNvSpPr/>
          <p:nvPr/>
        </p:nvSpPr>
        <p:spPr>
          <a:xfrm>
            <a:off x="530352" y="1170432"/>
            <a:ext cx="256032" cy="256032"/>
          </a:xfrm>
          <a:prstGeom prst="ellipse">
            <a:avLst/>
          </a:prstGeom>
          <a:solidFill>
            <a:schemeClr val="tx2"/>
          </a:solidFill>
          <a:ln/>
        </p:spPr>
      </p:sp>
      <p:sp>
        <p:nvSpPr>
          <p:cNvPr id="9" name="Text 5"/>
          <p:cNvSpPr txBox="1"/>
          <p:nvPr/>
        </p:nvSpPr>
        <p:spPr>
          <a:xfrm>
            <a:off x="530352" y="117043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Shape 6"/>
          <p:cNvSpPr/>
          <p:nvPr/>
        </p:nvSpPr>
        <p:spPr>
          <a:xfrm>
            <a:off x="2194560" y="1609344"/>
            <a:ext cx="365760" cy="256032"/>
          </a:xfrm>
          <a:prstGeom prst="rightArrow">
            <a:avLst/>
          </a:prstGeom>
          <a:solidFill>
            <a:schemeClr val="accent2"/>
          </a:solidFill>
          <a:ln/>
        </p:spPr>
      </p:sp>
      <p:sp>
        <p:nvSpPr>
          <p:cNvPr id="11" name="Shape 7"/>
          <p:cNvSpPr/>
          <p:nvPr/>
        </p:nvSpPr>
        <p:spPr>
          <a:xfrm>
            <a:off x="2651760" y="1097280"/>
            <a:ext cx="1645920" cy="1280160"/>
          </a:xfrm>
          <a:prstGeom prst="roundRect">
            <a:avLst>
              <a:gd name="adj" fmla="val 8571"/>
            </a:avLst>
          </a:prstGeom>
          <a:solidFill>
            <a:schemeClr val="bg2"/>
          </a:solidFill>
          <a:ln/>
        </p:spPr>
      </p:sp>
      <p:sp>
        <p:nvSpPr>
          <p:cNvPr id="12" name="Shape 8"/>
          <p:cNvSpPr/>
          <p:nvPr/>
        </p:nvSpPr>
        <p:spPr>
          <a:xfrm>
            <a:off x="3246120" y="1234440"/>
            <a:ext cx="457200" cy="4572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360420" y="1348740"/>
            <a:ext cx="228600" cy="228600"/>
          </a:xfrm>
          <a:prstGeom prst="rect">
            <a:avLst/>
          </a:prstGeom>
        </p:spPr>
      </p:pic>
      <p:sp>
        <p:nvSpPr>
          <p:cNvPr id="14" name="Text 9"/>
          <p:cNvSpPr txBox="1"/>
          <p:nvPr/>
        </p:nvSpPr>
        <p:spPr>
          <a:xfrm>
            <a:off x="269748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API receives query</a:t>
            </a:r>
            <a:endParaRPr lang="en-US" sz="1400" dirty="0"/>
          </a:p>
        </p:txBody>
      </p:sp>
      <p:sp>
        <p:nvSpPr>
          <p:cNvPr id="15" name="Shape 10"/>
          <p:cNvSpPr/>
          <p:nvPr/>
        </p:nvSpPr>
        <p:spPr>
          <a:xfrm>
            <a:off x="2724912" y="1170432"/>
            <a:ext cx="256032" cy="256032"/>
          </a:xfrm>
          <a:prstGeom prst="ellipse">
            <a:avLst/>
          </a:prstGeom>
          <a:solidFill>
            <a:schemeClr val="tx2"/>
          </a:solidFill>
          <a:ln/>
        </p:spPr>
      </p:sp>
      <p:sp>
        <p:nvSpPr>
          <p:cNvPr id="16" name="Text 11"/>
          <p:cNvSpPr txBox="1"/>
          <p:nvPr/>
        </p:nvSpPr>
        <p:spPr>
          <a:xfrm>
            <a:off x="2724912" y="117043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7" name="Shape 12"/>
          <p:cNvSpPr/>
          <p:nvPr/>
        </p:nvSpPr>
        <p:spPr>
          <a:xfrm>
            <a:off x="4389120" y="1609344"/>
            <a:ext cx="365760" cy="256032"/>
          </a:xfrm>
          <a:prstGeom prst="rightArrow">
            <a:avLst/>
          </a:prstGeom>
          <a:solidFill>
            <a:schemeClr val="accent2"/>
          </a:solidFill>
          <a:ln/>
        </p:spPr>
      </p:sp>
      <p:sp>
        <p:nvSpPr>
          <p:cNvPr id="18" name="Shape 13"/>
          <p:cNvSpPr/>
          <p:nvPr/>
        </p:nvSpPr>
        <p:spPr>
          <a:xfrm>
            <a:off x="4846320" y="1097280"/>
            <a:ext cx="1645920" cy="1280160"/>
          </a:xfrm>
          <a:prstGeom prst="roundRect">
            <a:avLst>
              <a:gd name="adj" fmla="val 8571"/>
            </a:avLst>
          </a:prstGeom>
          <a:solidFill>
            <a:schemeClr val="bg2"/>
          </a:solidFill>
          <a:ln/>
        </p:spPr>
      </p:sp>
      <p:sp>
        <p:nvSpPr>
          <p:cNvPr id="19" name="Shape 14"/>
          <p:cNvSpPr/>
          <p:nvPr/>
        </p:nvSpPr>
        <p:spPr>
          <a:xfrm>
            <a:off x="5440680" y="1234440"/>
            <a:ext cx="457200" cy="45720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5554980" y="1348740"/>
            <a:ext cx="228600" cy="228600"/>
          </a:xfrm>
          <a:prstGeom prst="rect">
            <a:avLst/>
          </a:prstGeom>
        </p:spPr>
      </p:pic>
      <p:sp>
        <p:nvSpPr>
          <p:cNvPr id="21" name="Text 15"/>
          <p:cNvSpPr txBox="1"/>
          <p:nvPr/>
        </p:nvSpPr>
        <p:spPr>
          <a:xfrm>
            <a:off x="489204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Agent analyzes</a:t>
            </a:r>
            <a:endParaRPr lang="en-US" sz="1400" dirty="0"/>
          </a:p>
        </p:txBody>
      </p:sp>
      <p:sp>
        <p:nvSpPr>
          <p:cNvPr id="22" name="Shape 16"/>
          <p:cNvSpPr/>
          <p:nvPr/>
        </p:nvSpPr>
        <p:spPr>
          <a:xfrm>
            <a:off x="4919472" y="1170432"/>
            <a:ext cx="256032" cy="256032"/>
          </a:xfrm>
          <a:prstGeom prst="ellipse">
            <a:avLst/>
          </a:prstGeom>
          <a:solidFill>
            <a:schemeClr val="tx2"/>
          </a:solidFill>
          <a:ln/>
        </p:spPr>
      </p:sp>
      <p:sp>
        <p:nvSpPr>
          <p:cNvPr id="23" name="Text 17"/>
          <p:cNvSpPr txBox="1"/>
          <p:nvPr/>
        </p:nvSpPr>
        <p:spPr>
          <a:xfrm>
            <a:off x="4919472" y="117043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4" name="Shape 18"/>
          <p:cNvSpPr/>
          <p:nvPr/>
        </p:nvSpPr>
        <p:spPr>
          <a:xfrm>
            <a:off x="6583680" y="1609344"/>
            <a:ext cx="365760" cy="256032"/>
          </a:xfrm>
          <a:prstGeom prst="rightArrow">
            <a:avLst/>
          </a:prstGeom>
          <a:solidFill>
            <a:schemeClr val="accent2"/>
          </a:solidFill>
          <a:ln/>
        </p:spPr>
      </p:sp>
      <p:sp>
        <p:nvSpPr>
          <p:cNvPr id="25" name="Shape 19"/>
          <p:cNvSpPr/>
          <p:nvPr/>
        </p:nvSpPr>
        <p:spPr>
          <a:xfrm>
            <a:off x="7040880" y="1097280"/>
            <a:ext cx="1645920" cy="1280160"/>
          </a:xfrm>
          <a:prstGeom prst="roundRect">
            <a:avLst>
              <a:gd name="adj" fmla="val 8571"/>
            </a:avLst>
          </a:prstGeom>
          <a:solidFill>
            <a:schemeClr val="bg2"/>
          </a:solidFill>
          <a:ln/>
        </p:spPr>
      </p:sp>
      <p:sp>
        <p:nvSpPr>
          <p:cNvPr id="26" name="Shape 20"/>
          <p:cNvSpPr/>
          <p:nvPr/>
        </p:nvSpPr>
        <p:spPr>
          <a:xfrm>
            <a:off x="7635240" y="1234440"/>
            <a:ext cx="457200" cy="457200"/>
          </a:xfrm>
          <a:prstGeom prst="ellipse">
            <a:avLst/>
          </a:prstGeom>
          <a:solidFill>
            <a:schemeClr val="accent3"/>
          </a:solidFill>
          <a:ln/>
        </p:spPr>
      </p:sp>
      <p:pic>
        <p:nvPicPr>
          <p:cNvPr id="27" name="Image 3" descr="preencoded.png">    </p:cNvPr>
          <p:cNvPicPr>
            <a:picLocks noChangeAspect="1"/>
          </p:cNvPicPr>
          <p:nvPr/>
        </p:nvPicPr>
        <p:blipFill>
          <a:blip r:embed="rId4"/>
          <a:stretch>
            <a:fillRect/>
          </a:stretch>
        </p:blipFill>
        <p:spPr>
          <a:xfrm>
            <a:off x="7749540" y="1348740"/>
            <a:ext cx="228600" cy="228600"/>
          </a:xfrm>
          <a:prstGeom prst="rect">
            <a:avLst/>
          </a:prstGeom>
        </p:spPr>
      </p:pic>
      <p:sp>
        <p:nvSpPr>
          <p:cNvPr id="28" name="Text 21"/>
          <p:cNvSpPr txBox="1"/>
          <p:nvPr/>
        </p:nvSpPr>
        <p:spPr>
          <a:xfrm>
            <a:off x="7086600" y="178308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Vector search</a:t>
            </a:r>
            <a:endParaRPr lang="en-US" sz="1400" dirty="0"/>
          </a:p>
        </p:txBody>
      </p:sp>
      <p:sp>
        <p:nvSpPr>
          <p:cNvPr id="29" name="Shape 22"/>
          <p:cNvSpPr/>
          <p:nvPr/>
        </p:nvSpPr>
        <p:spPr>
          <a:xfrm>
            <a:off x="7114032" y="1170432"/>
            <a:ext cx="256032" cy="256032"/>
          </a:xfrm>
          <a:prstGeom prst="ellipse">
            <a:avLst/>
          </a:prstGeom>
          <a:solidFill>
            <a:schemeClr val="tx2"/>
          </a:solidFill>
          <a:ln/>
        </p:spPr>
      </p:sp>
      <p:sp>
        <p:nvSpPr>
          <p:cNvPr id="30" name="Text 23"/>
          <p:cNvSpPr txBox="1"/>
          <p:nvPr/>
        </p:nvSpPr>
        <p:spPr>
          <a:xfrm>
            <a:off x="7114032" y="117043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1" name="Shape 24"/>
          <p:cNvSpPr/>
          <p:nvPr/>
        </p:nvSpPr>
        <p:spPr>
          <a:xfrm>
            <a:off x="7040880" y="3246120"/>
            <a:ext cx="1645920" cy="1280160"/>
          </a:xfrm>
          <a:prstGeom prst="roundRect">
            <a:avLst>
              <a:gd name="adj" fmla="val 8571"/>
            </a:avLst>
          </a:prstGeom>
          <a:solidFill>
            <a:schemeClr val="bg2"/>
          </a:solidFill>
          <a:ln/>
        </p:spPr>
      </p:sp>
      <p:sp>
        <p:nvSpPr>
          <p:cNvPr id="32" name="Shape 25"/>
          <p:cNvSpPr/>
          <p:nvPr/>
        </p:nvSpPr>
        <p:spPr>
          <a:xfrm>
            <a:off x="7635240" y="3383280"/>
            <a:ext cx="457200" cy="457200"/>
          </a:xfrm>
          <a:prstGeom prst="ellipse">
            <a:avLst/>
          </a:prstGeom>
          <a:solidFill>
            <a:schemeClr val="accent3"/>
          </a:solidFill>
          <a:ln/>
        </p:spPr>
      </p:sp>
      <p:pic>
        <p:nvPicPr>
          <p:cNvPr id="33" name="Image 4" descr="preencoded.png">    </p:cNvPr>
          <p:cNvPicPr>
            <a:picLocks noChangeAspect="1"/>
          </p:cNvPicPr>
          <p:nvPr/>
        </p:nvPicPr>
        <p:blipFill>
          <a:blip r:embed="rId5"/>
          <a:stretch>
            <a:fillRect/>
          </a:stretch>
        </p:blipFill>
        <p:spPr>
          <a:xfrm>
            <a:off x="7749540" y="3497580"/>
            <a:ext cx="228600" cy="228600"/>
          </a:xfrm>
          <a:prstGeom prst="rect">
            <a:avLst/>
          </a:prstGeom>
        </p:spPr>
      </p:pic>
      <p:sp>
        <p:nvSpPr>
          <p:cNvPr id="34" name="Text 26"/>
          <p:cNvSpPr txBox="1"/>
          <p:nvPr/>
        </p:nvSpPr>
        <p:spPr>
          <a:xfrm>
            <a:off x="708660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Retrieve medicines</a:t>
            </a:r>
            <a:endParaRPr lang="en-US" sz="1400" dirty="0"/>
          </a:p>
        </p:txBody>
      </p:sp>
      <p:sp>
        <p:nvSpPr>
          <p:cNvPr id="35" name="Shape 27"/>
          <p:cNvSpPr/>
          <p:nvPr/>
        </p:nvSpPr>
        <p:spPr>
          <a:xfrm>
            <a:off x="7114032" y="3319272"/>
            <a:ext cx="256032" cy="256032"/>
          </a:xfrm>
          <a:prstGeom prst="ellipse">
            <a:avLst/>
          </a:prstGeom>
          <a:solidFill>
            <a:schemeClr val="tx2"/>
          </a:solidFill>
          <a:ln/>
        </p:spPr>
      </p:sp>
      <p:sp>
        <p:nvSpPr>
          <p:cNvPr id="36" name="Text 28"/>
          <p:cNvSpPr txBox="1"/>
          <p:nvPr/>
        </p:nvSpPr>
        <p:spPr>
          <a:xfrm>
            <a:off x="7114032" y="331927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7" name="Shape 29"/>
          <p:cNvSpPr/>
          <p:nvPr/>
        </p:nvSpPr>
        <p:spPr>
          <a:xfrm>
            <a:off x="6583680" y="3758184"/>
            <a:ext cx="365760" cy="256032"/>
          </a:xfrm>
          <a:prstGeom prst="leftArrow">
            <a:avLst/>
          </a:prstGeom>
          <a:solidFill>
            <a:schemeClr val="accent2"/>
          </a:solidFill>
          <a:ln/>
        </p:spPr>
      </p:sp>
      <p:sp>
        <p:nvSpPr>
          <p:cNvPr id="38" name="Shape 30"/>
          <p:cNvSpPr/>
          <p:nvPr/>
        </p:nvSpPr>
        <p:spPr>
          <a:xfrm>
            <a:off x="4846320" y="3246120"/>
            <a:ext cx="1645920" cy="1280160"/>
          </a:xfrm>
          <a:prstGeom prst="roundRect">
            <a:avLst>
              <a:gd name="adj" fmla="val 8571"/>
            </a:avLst>
          </a:prstGeom>
          <a:solidFill>
            <a:schemeClr val="bg2"/>
          </a:solidFill>
          <a:ln/>
        </p:spPr>
      </p:sp>
      <p:sp>
        <p:nvSpPr>
          <p:cNvPr id="39" name="Shape 31"/>
          <p:cNvSpPr/>
          <p:nvPr/>
        </p:nvSpPr>
        <p:spPr>
          <a:xfrm>
            <a:off x="5440680" y="3383280"/>
            <a:ext cx="457200" cy="457200"/>
          </a:xfrm>
          <a:prstGeom prst="ellipse">
            <a:avLst/>
          </a:prstGeom>
          <a:solidFill>
            <a:schemeClr val="accent6"/>
          </a:solidFill>
          <a:ln/>
        </p:spPr>
      </p:sp>
      <p:pic>
        <p:nvPicPr>
          <p:cNvPr id="40" name="Image 5" descr="preencoded.png">    </p:cNvPr>
          <p:cNvPicPr>
            <a:picLocks noChangeAspect="1"/>
          </p:cNvPicPr>
          <p:nvPr/>
        </p:nvPicPr>
        <p:blipFill>
          <a:blip r:embed="rId6"/>
          <a:stretch>
            <a:fillRect/>
          </a:stretch>
        </p:blipFill>
        <p:spPr>
          <a:xfrm>
            <a:off x="5554980" y="3497580"/>
            <a:ext cx="228600" cy="228600"/>
          </a:xfrm>
          <a:prstGeom prst="rect">
            <a:avLst/>
          </a:prstGeom>
        </p:spPr>
      </p:pic>
      <p:sp>
        <p:nvSpPr>
          <p:cNvPr id="41" name="Text 32"/>
          <p:cNvSpPr txBox="1"/>
          <p:nvPr/>
        </p:nvSpPr>
        <p:spPr>
          <a:xfrm>
            <a:off x="489204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Generate AI response</a:t>
            </a:r>
            <a:endParaRPr lang="en-US" sz="1400" dirty="0"/>
          </a:p>
        </p:txBody>
      </p:sp>
      <p:sp>
        <p:nvSpPr>
          <p:cNvPr id="42" name="Shape 33"/>
          <p:cNvSpPr/>
          <p:nvPr/>
        </p:nvSpPr>
        <p:spPr>
          <a:xfrm>
            <a:off x="4919472" y="3319272"/>
            <a:ext cx="256032" cy="256032"/>
          </a:xfrm>
          <a:prstGeom prst="ellipse">
            <a:avLst/>
          </a:prstGeom>
          <a:solidFill>
            <a:schemeClr val="tx2"/>
          </a:solidFill>
          <a:ln/>
        </p:spPr>
      </p:sp>
      <p:sp>
        <p:nvSpPr>
          <p:cNvPr id="43" name="Text 34"/>
          <p:cNvSpPr txBox="1"/>
          <p:nvPr/>
        </p:nvSpPr>
        <p:spPr>
          <a:xfrm>
            <a:off x="4919472" y="331927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44" name="Shape 35"/>
          <p:cNvSpPr/>
          <p:nvPr/>
        </p:nvSpPr>
        <p:spPr>
          <a:xfrm>
            <a:off x="4389120" y="3758184"/>
            <a:ext cx="365760" cy="256032"/>
          </a:xfrm>
          <a:prstGeom prst="leftArrow">
            <a:avLst/>
          </a:prstGeom>
          <a:solidFill>
            <a:schemeClr val="accent2"/>
          </a:solidFill>
          <a:ln/>
        </p:spPr>
      </p:sp>
      <p:sp>
        <p:nvSpPr>
          <p:cNvPr id="45" name="Shape 36"/>
          <p:cNvSpPr/>
          <p:nvPr/>
        </p:nvSpPr>
        <p:spPr>
          <a:xfrm>
            <a:off x="2651760" y="3246120"/>
            <a:ext cx="1645920" cy="1280160"/>
          </a:xfrm>
          <a:prstGeom prst="roundRect">
            <a:avLst>
              <a:gd name="adj" fmla="val 8571"/>
            </a:avLst>
          </a:prstGeom>
          <a:solidFill>
            <a:schemeClr val="bg2"/>
          </a:solidFill>
          <a:ln/>
        </p:spPr>
      </p:sp>
      <p:sp>
        <p:nvSpPr>
          <p:cNvPr id="46" name="Shape 37"/>
          <p:cNvSpPr/>
          <p:nvPr/>
        </p:nvSpPr>
        <p:spPr>
          <a:xfrm>
            <a:off x="3246120" y="3383280"/>
            <a:ext cx="457200" cy="457200"/>
          </a:xfrm>
          <a:prstGeom prst="ellipse">
            <a:avLst/>
          </a:prstGeom>
          <a:solidFill>
            <a:schemeClr val="accent6"/>
          </a:solidFill>
          <a:ln/>
        </p:spPr>
      </p:sp>
      <p:pic>
        <p:nvPicPr>
          <p:cNvPr id="47" name="Image 6" descr="preencoded.png">    </p:cNvPr>
          <p:cNvPicPr>
            <a:picLocks noChangeAspect="1"/>
          </p:cNvPicPr>
          <p:nvPr/>
        </p:nvPicPr>
        <p:blipFill>
          <a:blip r:embed="rId7"/>
          <a:stretch>
            <a:fillRect/>
          </a:stretch>
        </p:blipFill>
        <p:spPr>
          <a:xfrm>
            <a:off x="3360420" y="3497580"/>
            <a:ext cx="228600" cy="228600"/>
          </a:xfrm>
          <a:prstGeom prst="rect">
            <a:avLst/>
          </a:prstGeom>
        </p:spPr>
      </p:pic>
      <p:sp>
        <p:nvSpPr>
          <p:cNvPr id="48" name="Text 38"/>
          <p:cNvSpPr txBox="1"/>
          <p:nvPr/>
        </p:nvSpPr>
        <p:spPr>
          <a:xfrm>
            <a:off x="2697480" y="3931920"/>
            <a:ext cx="1554480" cy="548640"/>
          </a:xfrm>
          <a:prstGeom prst="rect">
            <a:avLst/>
          </a:prstGeom>
          <a:noFill/>
          <a:ln/>
        </p:spPr>
        <p:txBody>
          <a:bodyPr wrap="square" lIns="0" tIns="0" rIns="0" bIns="0" rtlCol="0" anchor="t"/>
          <a:lstStyle/>
          <a:p>
            <a:pPr algn="ctr" indent="0" marL="0">
              <a:buNone/>
            </a:pPr>
            <a:r>
              <a:rPr lang="en-US" sz="1400" b="1" dirty="0">
                <a:solidFill>
                  <a:schemeClr val="tx1"/>
                </a:solidFill>
              </a:rPr>
              <a:t>Return answer</a:t>
            </a:r>
            <a:endParaRPr lang="en-US" sz="1400" dirty="0"/>
          </a:p>
        </p:txBody>
      </p:sp>
      <p:sp>
        <p:nvSpPr>
          <p:cNvPr id="49" name="Shape 39"/>
          <p:cNvSpPr/>
          <p:nvPr/>
        </p:nvSpPr>
        <p:spPr>
          <a:xfrm>
            <a:off x="2724912" y="3319272"/>
            <a:ext cx="256032" cy="256032"/>
          </a:xfrm>
          <a:prstGeom prst="ellipse">
            <a:avLst/>
          </a:prstGeom>
          <a:solidFill>
            <a:schemeClr val="tx2"/>
          </a:solidFill>
          <a:ln/>
        </p:spPr>
      </p:sp>
      <p:sp>
        <p:nvSpPr>
          <p:cNvPr id="50" name="Text 40"/>
          <p:cNvSpPr txBox="1"/>
          <p:nvPr/>
        </p:nvSpPr>
        <p:spPr>
          <a:xfrm>
            <a:off x="2724912" y="331927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51" name="Shape 41"/>
          <p:cNvSpPr/>
          <p:nvPr/>
        </p:nvSpPr>
        <p:spPr>
          <a:xfrm>
            <a:off x="7726680" y="2450592"/>
            <a:ext cx="274320" cy="722376"/>
          </a:xfrm>
          <a:prstGeom prst="downArrow">
            <a:avLst/>
          </a:prstGeom>
          <a:solidFill>
            <a:schemeClr val="accent2"/>
          </a:solidFill>
          <a:ln/>
        </p:spPr>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Medicine Dataset</a:t>
            </a:r>
            <a:endParaRPr lang="en-US" sz="3000" dirty="0"/>
          </a:p>
        </p:txBody>
      </p:sp>
      <p:sp>
        <p:nvSpPr>
          <p:cNvPr id="4" name="Shape 1"/>
          <p:cNvSpPr/>
          <p:nvPr/>
        </p:nvSpPr>
        <p:spPr>
          <a:xfrm>
            <a:off x="457200" y="1051560"/>
            <a:ext cx="2651760" cy="777240"/>
          </a:xfrm>
          <a:prstGeom prst="roundRect">
            <a:avLst>
              <a:gd name="adj" fmla="val 14118"/>
            </a:avLst>
          </a:prstGeom>
          <a:solidFill>
            <a:schemeClr val="bg2"/>
          </a:solidFill>
          <a:ln/>
        </p:spPr>
      </p:sp>
      <p:sp>
        <p:nvSpPr>
          <p:cNvPr id="5" name="Text 2"/>
          <p:cNvSpPr txBox="1"/>
          <p:nvPr/>
        </p:nvSpPr>
        <p:spPr>
          <a:xfrm>
            <a:off x="640080" y="1051560"/>
            <a:ext cx="109728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100+</a:t>
            </a:r>
            <a:endParaRPr lang="en-US" sz="3000" dirty="0"/>
          </a:p>
        </p:txBody>
      </p:sp>
      <p:sp>
        <p:nvSpPr>
          <p:cNvPr id="6" name="Text 3"/>
          <p:cNvSpPr txBox="1"/>
          <p:nvPr/>
        </p:nvSpPr>
        <p:spPr>
          <a:xfrm>
            <a:off x="1783080" y="1051560"/>
            <a:ext cx="1280160" cy="777240"/>
          </a:xfrm>
          <a:prstGeom prst="rect">
            <a:avLst/>
          </a:prstGeom>
          <a:noFill/>
          <a:ln/>
        </p:spPr>
        <p:txBody>
          <a:bodyPr wrap="square" lIns="0" tIns="0" rIns="0" bIns="0" rtlCol="0" anchor="ctr"/>
          <a:lstStyle/>
          <a:p>
            <a:pPr indent="0" marL="0">
              <a:buNone/>
            </a:pPr>
            <a:r>
              <a:rPr lang="en-US" sz="1400" b="1" dirty="0">
                <a:solidFill>
                  <a:schemeClr val="tx1"/>
                </a:solidFill>
              </a:rPr>
              <a:t>Medicines</a:t>
            </a:r>
            <a:endParaRPr lang="en-US" sz="1400" dirty="0"/>
          </a:p>
        </p:txBody>
      </p:sp>
      <p:sp>
        <p:nvSpPr>
          <p:cNvPr id="7" name="Shape 4"/>
          <p:cNvSpPr/>
          <p:nvPr/>
        </p:nvSpPr>
        <p:spPr>
          <a:xfrm>
            <a:off x="3246120" y="1051560"/>
            <a:ext cx="2651760" cy="777240"/>
          </a:xfrm>
          <a:prstGeom prst="roundRect">
            <a:avLst>
              <a:gd name="adj" fmla="val 14118"/>
            </a:avLst>
          </a:prstGeom>
          <a:solidFill>
            <a:schemeClr val="bg2"/>
          </a:solidFill>
          <a:ln/>
        </p:spPr>
      </p:sp>
      <p:sp>
        <p:nvSpPr>
          <p:cNvPr id="8" name="Text 5"/>
          <p:cNvSpPr txBox="1"/>
          <p:nvPr/>
        </p:nvSpPr>
        <p:spPr>
          <a:xfrm>
            <a:off x="3429000" y="1051560"/>
            <a:ext cx="109728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a:t>
            </a:r>
            <a:endParaRPr lang="en-US" sz="3000" dirty="0"/>
          </a:p>
        </p:txBody>
      </p:sp>
      <p:sp>
        <p:nvSpPr>
          <p:cNvPr id="9" name="Text 6"/>
          <p:cNvSpPr txBox="1"/>
          <p:nvPr/>
        </p:nvSpPr>
        <p:spPr>
          <a:xfrm>
            <a:off x="4572000" y="1051560"/>
            <a:ext cx="1280160" cy="777240"/>
          </a:xfrm>
          <a:prstGeom prst="rect">
            <a:avLst/>
          </a:prstGeom>
          <a:noFill/>
          <a:ln/>
        </p:spPr>
        <p:txBody>
          <a:bodyPr wrap="square" lIns="0" tIns="0" rIns="0" bIns="0" rtlCol="0" anchor="ctr"/>
          <a:lstStyle/>
          <a:p>
            <a:pPr indent="0" marL="0">
              <a:buNone/>
            </a:pPr>
            <a:r>
              <a:rPr lang="en-US" sz="1400" b="1" dirty="0">
                <a:solidFill>
                  <a:schemeClr val="tx1"/>
                </a:solidFill>
              </a:rPr>
              <a:t>Data fields</a:t>
            </a:r>
            <a:endParaRPr lang="en-US" sz="1400" dirty="0"/>
          </a:p>
        </p:txBody>
      </p:sp>
      <p:sp>
        <p:nvSpPr>
          <p:cNvPr id="10" name="Shape 7"/>
          <p:cNvSpPr/>
          <p:nvPr/>
        </p:nvSpPr>
        <p:spPr>
          <a:xfrm>
            <a:off x="6035040" y="1051560"/>
            <a:ext cx="2651760" cy="777240"/>
          </a:xfrm>
          <a:prstGeom prst="roundRect">
            <a:avLst>
              <a:gd name="adj" fmla="val 14118"/>
            </a:avLst>
          </a:prstGeom>
          <a:solidFill>
            <a:schemeClr val="bg2"/>
          </a:solidFill>
          <a:ln/>
        </p:spPr>
      </p:sp>
      <p:sp>
        <p:nvSpPr>
          <p:cNvPr id="11" name="Text 8"/>
          <p:cNvSpPr txBox="1"/>
          <p:nvPr/>
        </p:nvSpPr>
        <p:spPr>
          <a:xfrm>
            <a:off x="6217920" y="1051560"/>
            <a:ext cx="109728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CSV</a:t>
            </a:r>
            <a:endParaRPr lang="en-US" sz="3000" dirty="0"/>
          </a:p>
        </p:txBody>
      </p:sp>
      <p:sp>
        <p:nvSpPr>
          <p:cNvPr id="12" name="Text 9"/>
          <p:cNvSpPr txBox="1"/>
          <p:nvPr/>
        </p:nvSpPr>
        <p:spPr>
          <a:xfrm>
            <a:off x="7360920" y="1051560"/>
            <a:ext cx="1280160" cy="777240"/>
          </a:xfrm>
          <a:prstGeom prst="rect">
            <a:avLst/>
          </a:prstGeom>
          <a:noFill/>
          <a:ln/>
        </p:spPr>
        <p:txBody>
          <a:bodyPr wrap="square" lIns="0" tIns="0" rIns="0" bIns="0" rtlCol="0" anchor="ctr"/>
          <a:lstStyle/>
          <a:p>
            <a:pPr indent="0" marL="0">
              <a:buNone/>
            </a:pPr>
            <a:r>
              <a:rPr lang="en-US" sz="1400" b="1" dirty="0">
                <a:solidFill>
                  <a:schemeClr val="tx1"/>
                </a:solidFill>
              </a:rPr>
              <a:t>Source format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868680"/>
                <a:gridCol w="1371600"/>
                <a:gridCol w="868680"/>
                <a:gridCol w="1691640"/>
                <a:gridCol w="1371600"/>
                <a:gridCol w="685800"/>
                <a:gridCol w="1371600"/>
              </a:tblGrid>
              <a:tr h="384048">
                <a:tc>
                  <a:txBody>
                    <a:bodyPr/>
                    <a:lstStyle/>
                    <a:p>
                      <a:pPr indent="0" marL="0">
                        <a:buNone/>
                      </a:pPr>
                      <a:r>
                        <a:rPr lang="en-US" sz="1200" b="1" dirty="0">
                          <a:solidFill>
                            <a:srgbClr val="FFFFFF"/>
                          </a:solidFill>
                        </a:rPr>
                        <a:t>Medicine ID</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Medicine Name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Strength</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Use Case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Alternative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Stock</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c>
                  <a:txBody>
                    <a:bodyPr/>
                    <a:lstStyle/>
                    <a:p>
                      <a:pPr indent="0" marL="0">
                        <a:buNone/>
                      </a:pPr>
                      <a:r>
                        <a:rPr lang="en-US" sz="1200" b="1" dirty="0">
                          <a:solidFill>
                            <a:srgbClr val="FFFFFF"/>
                          </a:solidFill>
                        </a:rPr>
                        <a:t>Dosage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1D6FE0"/>
                    </a:solidFill>
                  </a:tcPr>
                </a:tc>
              </a:tr>
              <a:tr h="384048">
                <a:tc>
                  <a:txBody>
                    <a:bodyPr/>
                    <a:lstStyle/>
                    <a:p>
                      <a:pPr indent="0" marL="0">
                        <a:buNone/>
                      </a:pPr>
                      <a:r>
                        <a:rPr lang="en-US" sz="1200" dirty="0">
                          <a:solidFill>
                            <a:srgbClr val="0F172A"/>
                          </a:solidFill>
                        </a:rPr>
                        <a:t>M001</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Paracetamol</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500 mg</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Fever, mild pain</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Ibuprofen</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120</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1 tab / 6-8 h</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r>
              <a:tr h="384048">
                <a:tc>
                  <a:txBody>
                    <a:bodyPr/>
                    <a:lstStyle/>
                    <a:p>
                      <a:pPr indent="0" marL="0">
                        <a:buNone/>
                      </a:pPr>
                      <a:r>
                        <a:rPr lang="en-US" sz="1200" dirty="0">
                          <a:solidFill>
                            <a:srgbClr val="0F172A"/>
                          </a:solidFill>
                        </a:rPr>
                        <a:t>M002</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Amoxicillin</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500 mg</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Bacterial infection</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Azithromycin</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45</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1 cap / 8 h</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F172A"/>
                          </a:solidFill>
                        </a:rPr>
                        <a:t>M003</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Cetirizine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10 mg</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Allergy relief</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Levocetirizine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80</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c>
                  <a:txBody>
                    <a:bodyPr/>
                    <a:lstStyle/>
                    <a:p>
                      <a:pPr indent="0" marL="0">
                        <a:buNone/>
                      </a:pPr>
                      <a:r>
                        <a:rPr lang="en-US" sz="1200" dirty="0">
                          <a:solidFill>
                            <a:srgbClr val="0F172A"/>
                          </a:solidFill>
                        </a:rPr>
                        <a:t>1 tab / day</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EAF3FF"/>
                    </a:solidFill>
                  </a:tcPr>
                </a:tc>
              </a:tr>
              <a:tr h="384048">
                <a:tc>
                  <a:txBody>
                    <a:bodyPr/>
                    <a:lstStyle/>
                    <a:p>
                      <a:pPr indent="0" marL="0">
                        <a:buNone/>
                      </a:pPr>
                      <a:r>
                        <a:rPr lang="en-US" sz="1200" dirty="0">
                          <a:solidFill>
                            <a:srgbClr val="0F172A"/>
                          </a:solidFill>
                        </a:rPr>
                        <a:t>M004</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Omeprazole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20 mg</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Acidity, reflux</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Pantoprazole</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0</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1 cap / day</a:t>
                      </a:r>
                      <a:endParaRPr lang="en-US" sz="1200" dirty="0"/>
                    </a:p>
                  </a:txBody>
                  <a:tcPr marL="91440" marR="91440" marT="45720" marB="45720" anchor="ctr">
                    <a:lnL w="6350" cap="flat" cmpd="sng" algn="ctr">
                      <a:solidFill>
                        <a:srgbClr val="C9D9F2"/>
                      </a:solidFill>
                      <a:prstDash val="solid"/>
                      <a:round/>
                      <a:headEnd type="none" w="med" len="med"/>
                      <a:tailEnd type="none" w="med" len="med"/>
                    </a:lnL>
                    <a:lnR w="6350" cap="flat" cmpd="sng" algn="ctr">
                      <a:solidFill>
                        <a:srgbClr val="C9D9F2"/>
                      </a:solidFill>
                      <a:prstDash val="solid"/>
                      <a:round/>
                      <a:headEnd type="none" w="med" len="med"/>
                      <a:tailEnd type="none" w="med" len="med"/>
                    </a:lnR>
                    <a:lnT w="6350" cap="flat" cmpd="sng" algn="ctr">
                      <a:solidFill>
                        <a:srgbClr val="C9D9F2"/>
                      </a:solidFill>
                      <a:prstDash val="solid"/>
                      <a:round/>
                      <a:headEnd type="none" w="med" len="med"/>
                      <a:tailEnd type="none" w="med" len="med"/>
                    </a:lnT>
                    <a:lnB w="6350" cap="flat" cmpd="sng" algn="ctr">
                      <a:solidFill>
                        <a:srgbClr val="C9D9F2"/>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100" i="1" dirty="0">
                <a:solidFill>
                  <a:srgbClr val="4A5B78"/>
                </a:solidFill>
              </a:rPr>
              <a:t>Sample records shown for illustration; replace with rows from your dataset.</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RAG Pipeline</a:t>
            </a:r>
            <a:endParaRPr lang="en-US" sz="3000" dirty="0"/>
          </a:p>
        </p:txBody>
      </p:sp>
      <p:sp>
        <p:nvSpPr>
          <p:cNvPr id="4" name="Shape 1"/>
          <p:cNvSpPr/>
          <p:nvPr/>
        </p:nvSpPr>
        <p:spPr>
          <a:xfrm>
            <a:off x="457200" y="1097280"/>
            <a:ext cx="1188720" cy="1783080"/>
          </a:xfrm>
          <a:prstGeom prst="roundRect">
            <a:avLst>
              <a:gd name="adj" fmla="val 9231"/>
            </a:avLst>
          </a:prstGeom>
          <a:solidFill>
            <a:schemeClr val="bg2"/>
          </a:solidFill>
          <a:ln/>
        </p:spPr>
      </p:sp>
      <p:sp>
        <p:nvSpPr>
          <p:cNvPr id="5" name="Shape 2"/>
          <p:cNvSpPr/>
          <p:nvPr/>
        </p:nvSpPr>
        <p:spPr>
          <a:xfrm>
            <a:off x="777240" y="123444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4400" y="1371600"/>
            <a:ext cx="274320" cy="274320"/>
          </a:xfrm>
          <a:prstGeom prst="rect">
            <a:avLst/>
          </a:prstGeom>
        </p:spPr>
      </p:pic>
      <p:sp>
        <p:nvSpPr>
          <p:cNvPr id="7" name="Text 3"/>
          <p:cNvSpPr txBox="1"/>
          <p:nvPr/>
        </p:nvSpPr>
        <p:spPr>
          <a:xfrm>
            <a:off x="502920"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User Query</a:t>
            </a:r>
            <a:endParaRPr lang="en-US" sz="1400" dirty="0"/>
          </a:p>
        </p:txBody>
      </p:sp>
      <p:sp>
        <p:nvSpPr>
          <p:cNvPr id="8" name="Shape 4"/>
          <p:cNvSpPr/>
          <p:nvPr/>
        </p:nvSpPr>
        <p:spPr>
          <a:xfrm>
            <a:off x="1655064" y="1874520"/>
            <a:ext cx="201168" cy="237744"/>
          </a:xfrm>
          <a:prstGeom prst="rightArrow">
            <a:avLst/>
          </a:prstGeom>
          <a:solidFill>
            <a:schemeClr val="accent2"/>
          </a:solidFill>
          <a:ln/>
        </p:spPr>
      </p:sp>
      <p:sp>
        <p:nvSpPr>
          <p:cNvPr id="9" name="Shape 5"/>
          <p:cNvSpPr/>
          <p:nvPr/>
        </p:nvSpPr>
        <p:spPr>
          <a:xfrm>
            <a:off x="1865376" y="1097280"/>
            <a:ext cx="1188720" cy="1783080"/>
          </a:xfrm>
          <a:prstGeom prst="roundRect">
            <a:avLst>
              <a:gd name="adj" fmla="val 9231"/>
            </a:avLst>
          </a:prstGeom>
          <a:solidFill>
            <a:schemeClr val="bg2"/>
          </a:solidFill>
          <a:ln/>
        </p:spPr>
      </p:sp>
      <p:sp>
        <p:nvSpPr>
          <p:cNvPr id="10" name="Shape 6"/>
          <p:cNvSpPr/>
          <p:nvPr/>
        </p:nvSpPr>
        <p:spPr>
          <a:xfrm>
            <a:off x="2185416" y="1234440"/>
            <a:ext cx="548640" cy="54864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2322576" y="1371600"/>
            <a:ext cx="274320" cy="274320"/>
          </a:xfrm>
          <a:prstGeom prst="rect">
            <a:avLst/>
          </a:prstGeom>
        </p:spPr>
      </p:pic>
      <p:sp>
        <p:nvSpPr>
          <p:cNvPr id="12" name="Text 7"/>
          <p:cNvSpPr txBox="1"/>
          <p:nvPr/>
        </p:nvSpPr>
        <p:spPr>
          <a:xfrm>
            <a:off x="1911096"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Embedding</a:t>
            </a:r>
            <a:endParaRPr lang="en-US" sz="1400" dirty="0"/>
          </a:p>
        </p:txBody>
      </p:sp>
      <p:sp>
        <p:nvSpPr>
          <p:cNvPr id="13" name="Shape 8"/>
          <p:cNvSpPr/>
          <p:nvPr/>
        </p:nvSpPr>
        <p:spPr>
          <a:xfrm>
            <a:off x="3063240" y="1874520"/>
            <a:ext cx="201168" cy="237744"/>
          </a:xfrm>
          <a:prstGeom prst="rightArrow">
            <a:avLst/>
          </a:prstGeom>
          <a:solidFill>
            <a:schemeClr val="accent2"/>
          </a:solidFill>
          <a:ln/>
        </p:spPr>
      </p:sp>
      <p:sp>
        <p:nvSpPr>
          <p:cNvPr id="14" name="Shape 9"/>
          <p:cNvSpPr/>
          <p:nvPr/>
        </p:nvSpPr>
        <p:spPr>
          <a:xfrm>
            <a:off x="3273552" y="1097280"/>
            <a:ext cx="1188720" cy="1783080"/>
          </a:xfrm>
          <a:prstGeom prst="roundRect">
            <a:avLst>
              <a:gd name="adj" fmla="val 9231"/>
            </a:avLst>
          </a:prstGeom>
          <a:solidFill>
            <a:schemeClr val="bg2"/>
          </a:solidFill>
          <a:ln/>
        </p:spPr>
      </p:sp>
      <p:sp>
        <p:nvSpPr>
          <p:cNvPr id="15" name="Shape 10"/>
          <p:cNvSpPr/>
          <p:nvPr/>
        </p:nvSpPr>
        <p:spPr>
          <a:xfrm>
            <a:off x="3593592" y="1234440"/>
            <a:ext cx="548640" cy="548640"/>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3730752" y="1371600"/>
            <a:ext cx="274320" cy="274320"/>
          </a:xfrm>
          <a:prstGeom prst="rect">
            <a:avLst/>
          </a:prstGeom>
        </p:spPr>
      </p:pic>
      <p:sp>
        <p:nvSpPr>
          <p:cNvPr id="17" name="Text 11"/>
          <p:cNvSpPr txBox="1"/>
          <p:nvPr/>
        </p:nvSpPr>
        <p:spPr>
          <a:xfrm>
            <a:off x="3319272"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ChromaDB Similarity Search</a:t>
            </a:r>
            <a:endParaRPr lang="en-US" sz="1400" dirty="0"/>
          </a:p>
        </p:txBody>
      </p:sp>
      <p:sp>
        <p:nvSpPr>
          <p:cNvPr id="18" name="Shape 12"/>
          <p:cNvSpPr/>
          <p:nvPr/>
        </p:nvSpPr>
        <p:spPr>
          <a:xfrm>
            <a:off x="4471416" y="1874520"/>
            <a:ext cx="201168" cy="237744"/>
          </a:xfrm>
          <a:prstGeom prst="rightArrow">
            <a:avLst/>
          </a:prstGeom>
          <a:solidFill>
            <a:schemeClr val="accent2"/>
          </a:solidFill>
          <a:ln/>
        </p:spPr>
      </p:sp>
      <p:sp>
        <p:nvSpPr>
          <p:cNvPr id="19" name="Shape 13"/>
          <p:cNvSpPr/>
          <p:nvPr/>
        </p:nvSpPr>
        <p:spPr>
          <a:xfrm>
            <a:off x="4681728" y="1097280"/>
            <a:ext cx="1188720" cy="1783080"/>
          </a:xfrm>
          <a:prstGeom prst="roundRect">
            <a:avLst>
              <a:gd name="adj" fmla="val 9231"/>
            </a:avLst>
          </a:prstGeom>
          <a:solidFill>
            <a:schemeClr val="bg2"/>
          </a:solidFill>
          <a:ln/>
        </p:spPr>
      </p:sp>
      <p:sp>
        <p:nvSpPr>
          <p:cNvPr id="20" name="Shape 14"/>
          <p:cNvSpPr/>
          <p:nvPr/>
        </p:nvSpPr>
        <p:spPr>
          <a:xfrm>
            <a:off x="5001768" y="1234440"/>
            <a:ext cx="548640" cy="548640"/>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5138928" y="1371600"/>
            <a:ext cx="274320" cy="274320"/>
          </a:xfrm>
          <a:prstGeom prst="rect">
            <a:avLst/>
          </a:prstGeom>
        </p:spPr>
      </p:pic>
      <p:sp>
        <p:nvSpPr>
          <p:cNvPr id="22" name="Text 15"/>
          <p:cNvSpPr txBox="1"/>
          <p:nvPr/>
        </p:nvSpPr>
        <p:spPr>
          <a:xfrm>
            <a:off x="4727448"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Relevant Medicines Retrieved</a:t>
            </a:r>
            <a:endParaRPr lang="en-US" sz="1400" dirty="0"/>
          </a:p>
        </p:txBody>
      </p:sp>
      <p:sp>
        <p:nvSpPr>
          <p:cNvPr id="23" name="Shape 16"/>
          <p:cNvSpPr/>
          <p:nvPr/>
        </p:nvSpPr>
        <p:spPr>
          <a:xfrm>
            <a:off x="5879592" y="1874520"/>
            <a:ext cx="201168" cy="237744"/>
          </a:xfrm>
          <a:prstGeom prst="rightArrow">
            <a:avLst/>
          </a:prstGeom>
          <a:solidFill>
            <a:schemeClr val="accent2"/>
          </a:solidFill>
          <a:ln/>
        </p:spPr>
      </p:sp>
      <p:sp>
        <p:nvSpPr>
          <p:cNvPr id="24" name="Shape 17"/>
          <p:cNvSpPr/>
          <p:nvPr/>
        </p:nvSpPr>
        <p:spPr>
          <a:xfrm>
            <a:off x="6089904" y="1097280"/>
            <a:ext cx="1188720" cy="1783080"/>
          </a:xfrm>
          <a:prstGeom prst="roundRect">
            <a:avLst>
              <a:gd name="adj" fmla="val 9231"/>
            </a:avLst>
          </a:prstGeom>
          <a:solidFill>
            <a:schemeClr val="bg2"/>
          </a:solidFill>
          <a:ln/>
        </p:spPr>
      </p:sp>
      <p:sp>
        <p:nvSpPr>
          <p:cNvPr id="25" name="Shape 18"/>
          <p:cNvSpPr/>
          <p:nvPr/>
        </p:nvSpPr>
        <p:spPr>
          <a:xfrm>
            <a:off x="6409944" y="1234440"/>
            <a:ext cx="548640" cy="548640"/>
          </a:xfrm>
          <a:prstGeom prst="ellipse">
            <a:avLst/>
          </a:prstGeom>
          <a:solidFill>
            <a:schemeClr val="accent6"/>
          </a:solidFill>
          <a:ln/>
        </p:spPr>
      </p:sp>
      <p:pic>
        <p:nvPicPr>
          <p:cNvPr id="26" name="Image 4" descr="preencoded.png">    </p:cNvPr>
          <p:cNvPicPr>
            <a:picLocks noChangeAspect="1"/>
          </p:cNvPicPr>
          <p:nvPr/>
        </p:nvPicPr>
        <p:blipFill>
          <a:blip r:embed="rId5"/>
          <a:stretch>
            <a:fillRect/>
          </a:stretch>
        </p:blipFill>
        <p:spPr>
          <a:xfrm>
            <a:off x="6547104" y="1371600"/>
            <a:ext cx="274320" cy="274320"/>
          </a:xfrm>
          <a:prstGeom prst="rect">
            <a:avLst/>
          </a:prstGeom>
        </p:spPr>
      </p:pic>
      <p:sp>
        <p:nvSpPr>
          <p:cNvPr id="27" name="Text 19"/>
          <p:cNvSpPr txBox="1"/>
          <p:nvPr/>
        </p:nvSpPr>
        <p:spPr>
          <a:xfrm>
            <a:off x="6135624"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LLM Generates Response</a:t>
            </a:r>
            <a:endParaRPr lang="en-US" sz="1400" dirty="0"/>
          </a:p>
        </p:txBody>
      </p:sp>
      <p:sp>
        <p:nvSpPr>
          <p:cNvPr id="28" name="Shape 20"/>
          <p:cNvSpPr/>
          <p:nvPr/>
        </p:nvSpPr>
        <p:spPr>
          <a:xfrm>
            <a:off x="7287768" y="1874520"/>
            <a:ext cx="201168" cy="237744"/>
          </a:xfrm>
          <a:prstGeom prst="rightArrow">
            <a:avLst/>
          </a:prstGeom>
          <a:solidFill>
            <a:schemeClr val="accent2"/>
          </a:solidFill>
          <a:ln/>
        </p:spPr>
      </p:sp>
      <p:sp>
        <p:nvSpPr>
          <p:cNvPr id="29" name="Shape 21"/>
          <p:cNvSpPr/>
          <p:nvPr/>
        </p:nvSpPr>
        <p:spPr>
          <a:xfrm>
            <a:off x="7498080" y="1097280"/>
            <a:ext cx="1188720" cy="1783080"/>
          </a:xfrm>
          <a:prstGeom prst="roundRect">
            <a:avLst>
              <a:gd name="adj" fmla="val 9231"/>
            </a:avLst>
          </a:prstGeom>
          <a:solidFill>
            <a:schemeClr val="bg2"/>
          </a:solidFill>
          <a:ln/>
        </p:spPr>
      </p:sp>
      <p:sp>
        <p:nvSpPr>
          <p:cNvPr id="30" name="Shape 22"/>
          <p:cNvSpPr/>
          <p:nvPr/>
        </p:nvSpPr>
        <p:spPr>
          <a:xfrm>
            <a:off x="7818120" y="1234440"/>
            <a:ext cx="548640" cy="54864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7955280" y="1371600"/>
            <a:ext cx="274320" cy="274320"/>
          </a:xfrm>
          <a:prstGeom prst="rect">
            <a:avLst/>
          </a:prstGeom>
        </p:spPr>
      </p:pic>
      <p:sp>
        <p:nvSpPr>
          <p:cNvPr id="32" name="Text 23"/>
          <p:cNvSpPr txBox="1"/>
          <p:nvPr/>
        </p:nvSpPr>
        <p:spPr>
          <a:xfrm>
            <a:off x="7543800" y="1920240"/>
            <a:ext cx="1097280" cy="914400"/>
          </a:xfrm>
          <a:prstGeom prst="rect">
            <a:avLst/>
          </a:prstGeom>
          <a:noFill/>
          <a:ln/>
        </p:spPr>
        <p:txBody>
          <a:bodyPr wrap="square" lIns="0" tIns="0" rIns="0" bIns="0" rtlCol="0" anchor="t"/>
          <a:lstStyle/>
          <a:p>
            <a:pPr algn="ctr" indent="0" marL="0">
              <a:buNone/>
            </a:pPr>
            <a:r>
              <a:rPr lang="en-US" sz="1400" b="1" dirty="0">
                <a:solidFill>
                  <a:schemeClr val="tx1"/>
                </a:solidFill>
              </a:rPr>
              <a:t>Final Answer</a:t>
            </a:r>
            <a:endParaRPr lang="en-US" sz="1400" dirty="0"/>
          </a:p>
        </p:txBody>
      </p:sp>
      <p:sp>
        <p:nvSpPr>
          <p:cNvPr id="33" name="Shape 24"/>
          <p:cNvSpPr/>
          <p:nvPr/>
        </p:nvSpPr>
        <p:spPr>
          <a:xfrm>
            <a:off x="457200" y="3108960"/>
            <a:ext cx="2651760" cy="1417320"/>
          </a:xfrm>
          <a:prstGeom prst="roundRect">
            <a:avLst>
              <a:gd name="adj" fmla="val 7742"/>
            </a:avLst>
          </a:prstGeom>
          <a:solidFill>
            <a:schemeClr val="bg2"/>
          </a:solidFill>
          <a:ln/>
        </p:spPr>
      </p:sp>
      <p:sp>
        <p:nvSpPr>
          <p:cNvPr id="34" name="Text 25"/>
          <p:cNvSpPr txBox="1"/>
          <p:nvPr/>
        </p:nvSpPr>
        <p:spPr>
          <a:xfrm>
            <a:off x="640080" y="3218688"/>
            <a:ext cx="2286000" cy="274320"/>
          </a:xfrm>
          <a:prstGeom prst="rect">
            <a:avLst/>
          </a:prstGeom>
          <a:noFill/>
          <a:ln/>
        </p:spPr>
        <p:txBody>
          <a:bodyPr wrap="square" lIns="0" tIns="0" rIns="0" bIns="0" rtlCol="0" anchor="t"/>
          <a:lstStyle/>
          <a:p>
            <a:pPr indent="0" marL="0">
              <a:buNone/>
            </a:pPr>
            <a:r>
              <a:rPr lang="en-US" sz="1600" b="1" dirty="0">
                <a:solidFill>
                  <a:schemeClr val="tx2"/>
                </a:solidFill>
              </a:rPr>
              <a:t>Grounded answers</a:t>
            </a:r>
            <a:endParaRPr lang="en-US" sz="1600" dirty="0"/>
          </a:p>
        </p:txBody>
      </p:sp>
      <p:sp>
        <p:nvSpPr>
          <p:cNvPr id="35" name="Text 26"/>
          <p:cNvSpPr txBox="1"/>
          <p:nvPr/>
        </p:nvSpPr>
        <p:spPr>
          <a:xfrm>
            <a:off x="64008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Responses come from the medicine dataset, reducing hallucination.</a:t>
            </a:r>
            <a:endParaRPr lang="en-US" sz="1400" dirty="0"/>
          </a:p>
        </p:txBody>
      </p:sp>
      <p:sp>
        <p:nvSpPr>
          <p:cNvPr id="36" name="Shape 27"/>
          <p:cNvSpPr/>
          <p:nvPr/>
        </p:nvSpPr>
        <p:spPr>
          <a:xfrm>
            <a:off x="3246120" y="3108960"/>
            <a:ext cx="2651760" cy="1417320"/>
          </a:xfrm>
          <a:prstGeom prst="roundRect">
            <a:avLst>
              <a:gd name="adj" fmla="val 7742"/>
            </a:avLst>
          </a:prstGeom>
          <a:solidFill>
            <a:schemeClr val="bg2"/>
          </a:solidFill>
          <a:ln/>
        </p:spPr>
      </p:sp>
      <p:sp>
        <p:nvSpPr>
          <p:cNvPr id="37" name="Text 28"/>
          <p:cNvSpPr txBox="1"/>
          <p:nvPr/>
        </p:nvSpPr>
        <p:spPr>
          <a:xfrm>
            <a:off x="3429000" y="3218688"/>
            <a:ext cx="2286000" cy="274320"/>
          </a:xfrm>
          <a:prstGeom prst="rect">
            <a:avLst/>
          </a:prstGeom>
          <a:noFill/>
          <a:ln/>
        </p:spPr>
        <p:txBody>
          <a:bodyPr wrap="square" lIns="0" tIns="0" rIns="0" bIns="0" rtlCol="0" anchor="t"/>
          <a:lstStyle/>
          <a:p>
            <a:pPr indent="0" marL="0">
              <a:buNone/>
            </a:pPr>
            <a:r>
              <a:rPr lang="en-US" sz="1600" b="1" dirty="0">
                <a:solidFill>
                  <a:schemeClr val="tx2"/>
                </a:solidFill>
              </a:rPr>
              <a:t>Easy to update</a:t>
            </a:r>
            <a:endParaRPr lang="en-US" sz="1600" dirty="0"/>
          </a:p>
        </p:txBody>
      </p:sp>
      <p:sp>
        <p:nvSpPr>
          <p:cNvPr id="38" name="Text 29"/>
          <p:cNvSpPr txBox="1"/>
          <p:nvPr/>
        </p:nvSpPr>
        <p:spPr>
          <a:xfrm>
            <a:off x="342900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Edit the CSV and re-index; no model retraining needed.</a:t>
            </a:r>
            <a:endParaRPr lang="en-US" sz="1400" dirty="0"/>
          </a:p>
        </p:txBody>
      </p:sp>
      <p:sp>
        <p:nvSpPr>
          <p:cNvPr id="39" name="Shape 30"/>
          <p:cNvSpPr/>
          <p:nvPr/>
        </p:nvSpPr>
        <p:spPr>
          <a:xfrm>
            <a:off x="6035040" y="3108960"/>
            <a:ext cx="2651760" cy="1417320"/>
          </a:xfrm>
          <a:prstGeom prst="roundRect">
            <a:avLst>
              <a:gd name="adj" fmla="val 7742"/>
            </a:avLst>
          </a:prstGeom>
          <a:solidFill>
            <a:schemeClr val="bg2"/>
          </a:solidFill>
          <a:ln/>
        </p:spPr>
      </p:sp>
      <p:sp>
        <p:nvSpPr>
          <p:cNvPr id="40" name="Text 31"/>
          <p:cNvSpPr txBox="1"/>
          <p:nvPr/>
        </p:nvSpPr>
        <p:spPr>
          <a:xfrm>
            <a:off x="6217920" y="3218688"/>
            <a:ext cx="2286000" cy="274320"/>
          </a:xfrm>
          <a:prstGeom prst="rect">
            <a:avLst/>
          </a:prstGeom>
          <a:noFill/>
          <a:ln/>
        </p:spPr>
        <p:txBody>
          <a:bodyPr wrap="square" lIns="0" tIns="0" rIns="0" bIns="0" rtlCol="0" anchor="t"/>
          <a:lstStyle/>
          <a:p>
            <a:pPr indent="0" marL="0">
              <a:buNone/>
            </a:pPr>
            <a:r>
              <a:rPr lang="en-US" sz="1600" b="1" dirty="0">
                <a:solidFill>
                  <a:schemeClr val="tx2"/>
                </a:solidFill>
              </a:rPr>
              <a:t>Private and local</a:t>
            </a:r>
            <a:endParaRPr lang="en-US" sz="1600" dirty="0"/>
          </a:p>
        </p:txBody>
      </p:sp>
      <p:sp>
        <p:nvSpPr>
          <p:cNvPr id="41" name="Text 32"/>
          <p:cNvSpPr txBox="1"/>
          <p:nvPr/>
        </p:nvSpPr>
        <p:spPr>
          <a:xfrm>
            <a:off x="621792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Runs with a local LLM (Ollama, Mistral) when required.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Frontend Screens</a:t>
            </a:r>
            <a:endParaRPr lang="en-US" sz="3000" dirty="0"/>
          </a:p>
        </p:txBody>
      </p:sp>
      <p:sp>
        <p:nvSpPr>
          <p:cNvPr id="4" name="Shape 1"/>
          <p:cNvSpPr/>
          <p:nvPr/>
        </p:nvSpPr>
        <p:spPr>
          <a:xfrm>
            <a:off x="594360" y="1051560"/>
            <a:ext cx="2377440" cy="1188720"/>
          </a:xfrm>
          <a:prstGeom prst="roundRect">
            <a:avLst>
              <a:gd name="adj" fmla="val 6154"/>
            </a:avLst>
          </a:prstGeom>
          <a:solidFill>
            <a:schemeClr val="tx2"/>
          </a:solidFill>
          <a:ln/>
        </p:spPr>
      </p:sp>
      <p:sp>
        <p:nvSpPr>
          <p:cNvPr id="5" name="Shape 2"/>
          <p:cNvSpPr/>
          <p:nvPr/>
        </p:nvSpPr>
        <p:spPr>
          <a:xfrm>
            <a:off x="685800" y="1143000"/>
            <a:ext cx="2194560" cy="1005840"/>
          </a:xfrm>
          <a:prstGeom prst="rect">
            <a:avLst/>
          </a:prstGeom>
          <a:solidFill>
            <a:srgbClr val="EAF3FF"/>
          </a:solidFill>
          <a:ln/>
        </p:spPr>
      </p:sp>
      <p:sp>
        <p:nvSpPr>
          <p:cNvPr id="6" name="Shape 3"/>
          <p:cNvSpPr/>
          <p:nvPr/>
        </p:nvSpPr>
        <p:spPr>
          <a:xfrm>
            <a:off x="1554480" y="123444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668780" y="1348740"/>
            <a:ext cx="228600" cy="228600"/>
          </a:xfrm>
          <a:prstGeom prst="rect">
            <a:avLst/>
          </a:prstGeom>
        </p:spPr>
      </p:pic>
      <p:sp>
        <p:nvSpPr>
          <p:cNvPr id="8" name="Text 4"/>
          <p:cNvSpPr txBox="1"/>
          <p:nvPr/>
        </p:nvSpPr>
        <p:spPr>
          <a:xfrm>
            <a:off x="685800" y="1764792"/>
            <a:ext cx="2194560" cy="274320"/>
          </a:xfrm>
          <a:prstGeom prst="rect">
            <a:avLst/>
          </a:prstGeom>
          <a:noFill/>
          <a:ln/>
        </p:spPr>
        <p:txBody>
          <a:bodyPr wrap="square" lIns="0" tIns="0" rIns="0" bIns="0" rtlCol="0" anchor="t"/>
          <a:lstStyle/>
          <a:p>
            <a:pPr algn="ctr" indent="0" marL="0">
              <a:buNone/>
            </a:pPr>
            <a:r>
              <a:rPr lang="en-US" sz="1100" dirty="0">
                <a:solidFill>
                  <a:srgbClr val="4A5B78"/>
                </a:solidFill>
              </a:rPr>
              <a:t>Screenshot</a:t>
            </a:r>
            <a:endParaRPr lang="en-US" sz="1100" dirty="0"/>
          </a:p>
        </p:txBody>
      </p:sp>
      <p:sp>
        <p:nvSpPr>
          <p:cNvPr id="9" name="Shape 5"/>
          <p:cNvSpPr/>
          <p:nvPr/>
        </p:nvSpPr>
        <p:spPr>
          <a:xfrm>
            <a:off x="457200" y="2240280"/>
            <a:ext cx="2651760" cy="91440"/>
          </a:xfrm>
          <a:prstGeom prst="roundRect">
            <a:avLst>
              <a:gd name="adj" fmla="val 40000"/>
            </a:avLst>
          </a:prstGeom>
          <a:solidFill>
            <a:srgbClr val="9DB8E8"/>
          </a:solidFill>
          <a:ln/>
        </p:spPr>
      </p:sp>
      <p:sp>
        <p:nvSpPr>
          <p:cNvPr id="10" name="Text 6"/>
          <p:cNvSpPr txBox="1"/>
          <p:nvPr/>
        </p:nvSpPr>
        <p:spPr>
          <a:xfrm>
            <a:off x="457200" y="239572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Home</a:t>
            </a:r>
            <a:endParaRPr lang="en-US" sz="1500" dirty="0"/>
          </a:p>
        </p:txBody>
      </p:sp>
      <p:sp>
        <p:nvSpPr>
          <p:cNvPr id="11" name="Shape 7"/>
          <p:cNvSpPr/>
          <p:nvPr/>
        </p:nvSpPr>
        <p:spPr>
          <a:xfrm>
            <a:off x="3383280" y="1051560"/>
            <a:ext cx="2377440" cy="1188720"/>
          </a:xfrm>
          <a:prstGeom prst="roundRect">
            <a:avLst>
              <a:gd name="adj" fmla="val 6154"/>
            </a:avLst>
          </a:prstGeom>
          <a:solidFill>
            <a:schemeClr val="tx2"/>
          </a:solidFill>
          <a:ln/>
        </p:spPr>
      </p:sp>
      <p:sp>
        <p:nvSpPr>
          <p:cNvPr id="12" name="Shape 8"/>
          <p:cNvSpPr/>
          <p:nvPr/>
        </p:nvSpPr>
        <p:spPr>
          <a:xfrm>
            <a:off x="3474720" y="1143000"/>
            <a:ext cx="2194560" cy="1005840"/>
          </a:xfrm>
          <a:prstGeom prst="rect">
            <a:avLst/>
          </a:prstGeom>
          <a:solidFill>
            <a:srgbClr val="EAF3FF"/>
          </a:solidFill>
          <a:ln/>
        </p:spPr>
      </p:sp>
      <p:sp>
        <p:nvSpPr>
          <p:cNvPr id="13" name="Shape 9"/>
          <p:cNvSpPr/>
          <p:nvPr/>
        </p:nvSpPr>
        <p:spPr>
          <a:xfrm>
            <a:off x="4343400" y="1234440"/>
            <a:ext cx="457200" cy="45720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4457700" y="1348740"/>
            <a:ext cx="228600" cy="228600"/>
          </a:xfrm>
          <a:prstGeom prst="rect">
            <a:avLst/>
          </a:prstGeom>
        </p:spPr>
      </p:pic>
      <p:sp>
        <p:nvSpPr>
          <p:cNvPr id="15" name="Text 10"/>
          <p:cNvSpPr txBox="1"/>
          <p:nvPr/>
        </p:nvSpPr>
        <p:spPr>
          <a:xfrm>
            <a:off x="3474720" y="1764792"/>
            <a:ext cx="2194560" cy="274320"/>
          </a:xfrm>
          <a:prstGeom prst="rect">
            <a:avLst/>
          </a:prstGeom>
          <a:noFill/>
          <a:ln/>
        </p:spPr>
        <p:txBody>
          <a:bodyPr wrap="square" lIns="0" tIns="0" rIns="0" bIns="0" rtlCol="0" anchor="t"/>
          <a:lstStyle/>
          <a:p>
            <a:pPr algn="ctr" indent="0" marL="0">
              <a:buNone/>
            </a:pPr>
            <a:r>
              <a:rPr lang="en-US" sz="1100" dirty="0">
                <a:solidFill>
                  <a:srgbClr val="4A5B78"/>
                </a:solidFill>
              </a:rPr>
              <a:t>Screenshot</a:t>
            </a:r>
            <a:endParaRPr lang="en-US" sz="1100" dirty="0"/>
          </a:p>
        </p:txBody>
      </p:sp>
      <p:sp>
        <p:nvSpPr>
          <p:cNvPr id="16" name="Shape 11"/>
          <p:cNvSpPr/>
          <p:nvPr/>
        </p:nvSpPr>
        <p:spPr>
          <a:xfrm>
            <a:off x="3246120" y="2240280"/>
            <a:ext cx="2651760" cy="91440"/>
          </a:xfrm>
          <a:prstGeom prst="roundRect">
            <a:avLst>
              <a:gd name="adj" fmla="val 40000"/>
            </a:avLst>
          </a:prstGeom>
          <a:solidFill>
            <a:srgbClr val="9DB8E8"/>
          </a:solidFill>
          <a:ln/>
        </p:spPr>
      </p:sp>
      <p:sp>
        <p:nvSpPr>
          <p:cNvPr id="17" name="Text 12"/>
          <p:cNvSpPr txBox="1"/>
          <p:nvPr/>
        </p:nvSpPr>
        <p:spPr>
          <a:xfrm>
            <a:off x="3246120" y="239572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Chat</a:t>
            </a:r>
            <a:endParaRPr lang="en-US" sz="1500" dirty="0"/>
          </a:p>
        </p:txBody>
      </p:sp>
      <p:sp>
        <p:nvSpPr>
          <p:cNvPr id="18" name="Shape 13"/>
          <p:cNvSpPr/>
          <p:nvPr/>
        </p:nvSpPr>
        <p:spPr>
          <a:xfrm>
            <a:off x="6172200" y="1051560"/>
            <a:ext cx="2377440" cy="1188720"/>
          </a:xfrm>
          <a:prstGeom prst="roundRect">
            <a:avLst>
              <a:gd name="adj" fmla="val 6154"/>
            </a:avLst>
          </a:prstGeom>
          <a:solidFill>
            <a:schemeClr val="tx2"/>
          </a:solidFill>
          <a:ln/>
        </p:spPr>
      </p:sp>
      <p:sp>
        <p:nvSpPr>
          <p:cNvPr id="19" name="Shape 14"/>
          <p:cNvSpPr/>
          <p:nvPr/>
        </p:nvSpPr>
        <p:spPr>
          <a:xfrm>
            <a:off x="6263640" y="1143000"/>
            <a:ext cx="2194560" cy="1005840"/>
          </a:xfrm>
          <a:prstGeom prst="rect">
            <a:avLst/>
          </a:prstGeom>
          <a:solidFill>
            <a:srgbClr val="EAF3FF"/>
          </a:solidFill>
          <a:ln/>
        </p:spPr>
      </p:sp>
      <p:sp>
        <p:nvSpPr>
          <p:cNvPr id="20" name="Shape 15"/>
          <p:cNvSpPr/>
          <p:nvPr/>
        </p:nvSpPr>
        <p:spPr>
          <a:xfrm>
            <a:off x="7132320" y="1234440"/>
            <a:ext cx="457200" cy="457200"/>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7246620" y="1348740"/>
            <a:ext cx="228600" cy="228600"/>
          </a:xfrm>
          <a:prstGeom prst="rect">
            <a:avLst/>
          </a:prstGeom>
        </p:spPr>
      </p:pic>
      <p:sp>
        <p:nvSpPr>
          <p:cNvPr id="22" name="Text 16"/>
          <p:cNvSpPr txBox="1"/>
          <p:nvPr/>
        </p:nvSpPr>
        <p:spPr>
          <a:xfrm>
            <a:off x="6263640" y="1764792"/>
            <a:ext cx="2194560" cy="274320"/>
          </a:xfrm>
          <a:prstGeom prst="rect">
            <a:avLst/>
          </a:prstGeom>
          <a:noFill/>
          <a:ln/>
        </p:spPr>
        <p:txBody>
          <a:bodyPr wrap="square" lIns="0" tIns="0" rIns="0" bIns="0" rtlCol="0" anchor="t"/>
          <a:lstStyle/>
          <a:p>
            <a:pPr algn="ctr" indent="0" marL="0">
              <a:buNone/>
            </a:pPr>
            <a:r>
              <a:rPr lang="en-US" sz="1100" dirty="0">
                <a:solidFill>
                  <a:srgbClr val="4A5B78"/>
                </a:solidFill>
              </a:rPr>
              <a:t>Screenshot</a:t>
            </a:r>
            <a:endParaRPr lang="en-US" sz="1100" dirty="0"/>
          </a:p>
        </p:txBody>
      </p:sp>
      <p:sp>
        <p:nvSpPr>
          <p:cNvPr id="23" name="Shape 17"/>
          <p:cNvSpPr/>
          <p:nvPr/>
        </p:nvSpPr>
        <p:spPr>
          <a:xfrm>
            <a:off x="6035040" y="2240280"/>
            <a:ext cx="2651760" cy="91440"/>
          </a:xfrm>
          <a:prstGeom prst="roundRect">
            <a:avLst>
              <a:gd name="adj" fmla="val 40000"/>
            </a:avLst>
          </a:prstGeom>
          <a:solidFill>
            <a:srgbClr val="9DB8E8"/>
          </a:solidFill>
          <a:ln/>
        </p:spPr>
      </p:sp>
      <p:sp>
        <p:nvSpPr>
          <p:cNvPr id="24" name="Text 18"/>
          <p:cNvSpPr txBox="1"/>
          <p:nvPr/>
        </p:nvSpPr>
        <p:spPr>
          <a:xfrm>
            <a:off x="6035040" y="239572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Medicine Search</a:t>
            </a:r>
            <a:endParaRPr lang="en-US" sz="1500" dirty="0"/>
          </a:p>
        </p:txBody>
      </p:sp>
      <p:sp>
        <p:nvSpPr>
          <p:cNvPr id="25" name="Shape 19"/>
          <p:cNvSpPr/>
          <p:nvPr/>
        </p:nvSpPr>
        <p:spPr>
          <a:xfrm>
            <a:off x="594360" y="2834640"/>
            <a:ext cx="2377440" cy="1188720"/>
          </a:xfrm>
          <a:prstGeom prst="roundRect">
            <a:avLst>
              <a:gd name="adj" fmla="val 6154"/>
            </a:avLst>
          </a:prstGeom>
          <a:solidFill>
            <a:schemeClr val="tx2"/>
          </a:solidFill>
          <a:ln/>
        </p:spPr>
      </p:sp>
      <p:sp>
        <p:nvSpPr>
          <p:cNvPr id="26" name="Shape 20"/>
          <p:cNvSpPr/>
          <p:nvPr/>
        </p:nvSpPr>
        <p:spPr>
          <a:xfrm>
            <a:off x="685800" y="2926080"/>
            <a:ext cx="2194560" cy="1005840"/>
          </a:xfrm>
          <a:prstGeom prst="rect">
            <a:avLst/>
          </a:prstGeom>
          <a:solidFill>
            <a:srgbClr val="EAF3FF"/>
          </a:solidFill>
          <a:ln/>
        </p:spPr>
      </p:sp>
      <p:sp>
        <p:nvSpPr>
          <p:cNvPr id="27" name="Shape 21"/>
          <p:cNvSpPr/>
          <p:nvPr/>
        </p:nvSpPr>
        <p:spPr>
          <a:xfrm>
            <a:off x="1554480" y="3017520"/>
            <a:ext cx="457200" cy="457200"/>
          </a:xfrm>
          <a:prstGeom prst="ellipse">
            <a:avLst/>
          </a:prstGeom>
          <a:solidFill>
            <a:schemeClr val="accent1"/>
          </a:solidFill>
          <a:ln/>
        </p:spPr>
      </p:sp>
      <p:pic>
        <p:nvPicPr>
          <p:cNvPr id="28" name="Image 3" descr="preencoded.png">    </p:cNvPr>
          <p:cNvPicPr>
            <a:picLocks noChangeAspect="1"/>
          </p:cNvPicPr>
          <p:nvPr/>
        </p:nvPicPr>
        <p:blipFill>
          <a:blip r:embed="rId4"/>
          <a:stretch>
            <a:fillRect/>
          </a:stretch>
        </p:blipFill>
        <p:spPr>
          <a:xfrm>
            <a:off x="1668780" y="3131820"/>
            <a:ext cx="228600" cy="228600"/>
          </a:xfrm>
          <a:prstGeom prst="rect">
            <a:avLst/>
          </a:prstGeom>
        </p:spPr>
      </p:pic>
      <p:sp>
        <p:nvSpPr>
          <p:cNvPr id="29" name="Text 22"/>
          <p:cNvSpPr txBox="1"/>
          <p:nvPr/>
        </p:nvSpPr>
        <p:spPr>
          <a:xfrm>
            <a:off x="685800" y="3547872"/>
            <a:ext cx="2194560" cy="274320"/>
          </a:xfrm>
          <a:prstGeom prst="rect">
            <a:avLst/>
          </a:prstGeom>
          <a:noFill/>
          <a:ln/>
        </p:spPr>
        <p:txBody>
          <a:bodyPr wrap="square" lIns="0" tIns="0" rIns="0" bIns="0" rtlCol="0" anchor="t"/>
          <a:lstStyle/>
          <a:p>
            <a:pPr algn="ctr" indent="0" marL="0">
              <a:buNone/>
            </a:pPr>
            <a:r>
              <a:rPr lang="en-US" sz="1100" dirty="0">
                <a:solidFill>
                  <a:srgbClr val="4A5B78"/>
                </a:solidFill>
              </a:rPr>
              <a:t>Screenshot</a:t>
            </a:r>
            <a:endParaRPr lang="en-US" sz="1100" dirty="0"/>
          </a:p>
        </p:txBody>
      </p:sp>
      <p:sp>
        <p:nvSpPr>
          <p:cNvPr id="30" name="Shape 23"/>
          <p:cNvSpPr/>
          <p:nvPr/>
        </p:nvSpPr>
        <p:spPr>
          <a:xfrm>
            <a:off x="457200" y="4023360"/>
            <a:ext cx="2651760" cy="91440"/>
          </a:xfrm>
          <a:prstGeom prst="roundRect">
            <a:avLst>
              <a:gd name="adj" fmla="val 40000"/>
            </a:avLst>
          </a:prstGeom>
          <a:solidFill>
            <a:srgbClr val="9DB8E8"/>
          </a:solidFill>
          <a:ln/>
        </p:spPr>
      </p:sp>
      <p:sp>
        <p:nvSpPr>
          <p:cNvPr id="31" name="Text 24"/>
          <p:cNvSpPr txBox="1"/>
          <p:nvPr/>
        </p:nvSpPr>
        <p:spPr>
          <a:xfrm>
            <a:off x="457200" y="417880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Stock Search</a:t>
            </a:r>
            <a:endParaRPr lang="en-US" sz="1500" dirty="0"/>
          </a:p>
        </p:txBody>
      </p:sp>
      <p:sp>
        <p:nvSpPr>
          <p:cNvPr id="32" name="Shape 25"/>
          <p:cNvSpPr/>
          <p:nvPr/>
        </p:nvSpPr>
        <p:spPr>
          <a:xfrm>
            <a:off x="3383280" y="2834640"/>
            <a:ext cx="2377440" cy="1188720"/>
          </a:xfrm>
          <a:prstGeom prst="roundRect">
            <a:avLst>
              <a:gd name="adj" fmla="val 6154"/>
            </a:avLst>
          </a:prstGeom>
          <a:solidFill>
            <a:schemeClr val="tx2"/>
          </a:solidFill>
          <a:ln/>
        </p:spPr>
      </p:sp>
      <p:sp>
        <p:nvSpPr>
          <p:cNvPr id="33" name="Shape 26"/>
          <p:cNvSpPr/>
          <p:nvPr/>
        </p:nvSpPr>
        <p:spPr>
          <a:xfrm>
            <a:off x="3474720" y="2926080"/>
            <a:ext cx="2194560" cy="1005840"/>
          </a:xfrm>
          <a:prstGeom prst="rect">
            <a:avLst/>
          </a:prstGeom>
          <a:solidFill>
            <a:srgbClr val="EAF3FF"/>
          </a:solidFill>
          <a:ln/>
        </p:spPr>
      </p:sp>
      <p:sp>
        <p:nvSpPr>
          <p:cNvPr id="34" name="Shape 27"/>
          <p:cNvSpPr/>
          <p:nvPr/>
        </p:nvSpPr>
        <p:spPr>
          <a:xfrm>
            <a:off x="4343400" y="3017520"/>
            <a:ext cx="457200" cy="457200"/>
          </a:xfrm>
          <a:prstGeom prst="ellipse">
            <a:avLst/>
          </a:prstGeom>
          <a:solidFill>
            <a:schemeClr val="accent1"/>
          </a:solidFill>
          <a:ln/>
        </p:spPr>
      </p:sp>
      <p:pic>
        <p:nvPicPr>
          <p:cNvPr id="35" name="Image 4" descr="preencoded.png">    </p:cNvPr>
          <p:cNvPicPr>
            <a:picLocks noChangeAspect="1"/>
          </p:cNvPicPr>
          <p:nvPr/>
        </p:nvPicPr>
        <p:blipFill>
          <a:blip r:embed="rId5"/>
          <a:stretch>
            <a:fillRect/>
          </a:stretch>
        </p:blipFill>
        <p:spPr>
          <a:xfrm>
            <a:off x="4457700" y="3131820"/>
            <a:ext cx="228600" cy="228600"/>
          </a:xfrm>
          <a:prstGeom prst="rect">
            <a:avLst/>
          </a:prstGeom>
        </p:spPr>
      </p:pic>
      <p:sp>
        <p:nvSpPr>
          <p:cNvPr id="36" name="Text 28"/>
          <p:cNvSpPr txBox="1"/>
          <p:nvPr/>
        </p:nvSpPr>
        <p:spPr>
          <a:xfrm>
            <a:off x="3474720" y="3547872"/>
            <a:ext cx="2194560" cy="274320"/>
          </a:xfrm>
          <a:prstGeom prst="rect">
            <a:avLst/>
          </a:prstGeom>
          <a:noFill/>
          <a:ln/>
        </p:spPr>
        <p:txBody>
          <a:bodyPr wrap="square" lIns="0" tIns="0" rIns="0" bIns="0" rtlCol="0" anchor="t"/>
          <a:lstStyle/>
          <a:p>
            <a:pPr algn="ctr" indent="0" marL="0">
              <a:buNone/>
            </a:pPr>
            <a:r>
              <a:rPr lang="en-US" sz="1100" dirty="0">
                <a:solidFill>
                  <a:srgbClr val="4A5B78"/>
                </a:solidFill>
              </a:rPr>
              <a:t>Screenshot</a:t>
            </a:r>
            <a:endParaRPr lang="en-US" sz="1100" dirty="0"/>
          </a:p>
        </p:txBody>
      </p:sp>
      <p:sp>
        <p:nvSpPr>
          <p:cNvPr id="37" name="Shape 29"/>
          <p:cNvSpPr/>
          <p:nvPr/>
        </p:nvSpPr>
        <p:spPr>
          <a:xfrm>
            <a:off x="3246120" y="4023360"/>
            <a:ext cx="2651760" cy="91440"/>
          </a:xfrm>
          <a:prstGeom prst="roundRect">
            <a:avLst>
              <a:gd name="adj" fmla="val 40000"/>
            </a:avLst>
          </a:prstGeom>
          <a:solidFill>
            <a:srgbClr val="9DB8E8"/>
          </a:solidFill>
          <a:ln/>
        </p:spPr>
      </p:sp>
      <p:sp>
        <p:nvSpPr>
          <p:cNvPr id="38" name="Text 30"/>
          <p:cNvSpPr txBox="1"/>
          <p:nvPr/>
        </p:nvSpPr>
        <p:spPr>
          <a:xfrm>
            <a:off x="3246120" y="417880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FAQ</a:t>
            </a:r>
            <a:endParaRPr lang="en-US" sz="1500" dirty="0"/>
          </a:p>
        </p:txBody>
      </p:sp>
      <p:sp>
        <p:nvSpPr>
          <p:cNvPr id="39" name="Shape 31"/>
          <p:cNvSpPr/>
          <p:nvPr/>
        </p:nvSpPr>
        <p:spPr>
          <a:xfrm>
            <a:off x="6172200" y="2834640"/>
            <a:ext cx="2377440" cy="1188720"/>
          </a:xfrm>
          <a:prstGeom prst="roundRect">
            <a:avLst>
              <a:gd name="adj" fmla="val 6154"/>
            </a:avLst>
          </a:prstGeom>
          <a:solidFill>
            <a:schemeClr val="tx2"/>
          </a:solidFill>
          <a:ln/>
        </p:spPr>
      </p:sp>
      <p:sp>
        <p:nvSpPr>
          <p:cNvPr id="40" name="Shape 32"/>
          <p:cNvSpPr/>
          <p:nvPr/>
        </p:nvSpPr>
        <p:spPr>
          <a:xfrm>
            <a:off x="6263640" y="2926080"/>
            <a:ext cx="2194560" cy="1005840"/>
          </a:xfrm>
          <a:prstGeom prst="rect">
            <a:avLst/>
          </a:prstGeom>
          <a:solidFill>
            <a:srgbClr val="1E293B"/>
          </a:solidFill>
          <a:ln/>
        </p:spPr>
      </p:sp>
      <p:sp>
        <p:nvSpPr>
          <p:cNvPr id="41" name="Shape 33"/>
          <p:cNvSpPr/>
          <p:nvPr/>
        </p:nvSpPr>
        <p:spPr>
          <a:xfrm>
            <a:off x="7132320" y="3017520"/>
            <a:ext cx="457200" cy="457200"/>
          </a:xfrm>
          <a:prstGeom prst="ellipse">
            <a:avLst/>
          </a:prstGeom>
          <a:solidFill>
            <a:schemeClr val="accent2"/>
          </a:solidFill>
          <a:ln/>
        </p:spPr>
      </p:sp>
      <p:pic>
        <p:nvPicPr>
          <p:cNvPr id="42" name="Image 5" descr="preencoded.png">    </p:cNvPr>
          <p:cNvPicPr>
            <a:picLocks noChangeAspect="1"/>
          </p:cNvPicPr>
          <p:nvPr/>
        </p:nvPicPr>
        <p:blipFill>
          <a:blip r:embed="rId6"/>
          <a:stretch>
            <a:fillRect/>
          </a:stretch>
        </p:blipFill>
        <p:spPr>
          <a:xfrm>
            <a:off x="7246620" y="3131820"/>
            <a:ext cx="228600" cy="228600"/>
          </a:xfrm>
          <a:prstGeom prst="rect">
            <a:avLst/>
          </a:prstGeom>
        </p:spPr>
      </p:pic>
      <p:sp>
        <p:nvSpPr>
          <p:cNvPr id="43" name="Text 34"/>
          <p:cNvSpPr txBox="1"/>
          <p:nvPr/>
        </p:nvSpPr>
        <p:spPr>
          <a:xfrm>
            <a:off x="6263640" y="3547872"/>
            <a:ext cx="2194560" cy="274320"/>
          </a:xfrm>
          <a:prstGeom prst="rect">
            <a:avLst/>
          </a:prstGeom>
          <a:noFill/>
          <a:ln/>
        </p:spPr>
        <p:txBody>
          <a:bodyPr wrap="square" lIns="0" tIns="0" rIns="0" bIns="0" rtlCol="0" anchor="t"/>
          <a:lstStyle/>
          <a:p>
            <a:pPr algn="ctr" indent="0" marL="0">
              <a:buNone/>
            </a:pPr>
            <a:r>
              <a:rPr lang="en-US" sz="1100" dirty="0">
                <a:solidFill>
                  <a:srgbClr val="9DB8E8"/>
                </a:solidFill>
              </a:rPr>
              <a:t>Screenshot</a:t>
            </a:r>
            <a:endParaRPr lang="en-US" sz="1100" dirty="0"/>
          </a:p>
        </p:txBody>
      </p:sp>
      <p:sp>
        <p:nvSpPr>
          <p:cNvPr id="44" name="Shape 35"/>
          <p:cNvSpPr/>
          <p:nvPr/>
        </p:nvSpPr>
        <p:spPr>
          <a:xfrm>
            <a:off x="6035040" y="4023360"/>
            <a:ext cx="2651760" cy="91440"/>
          </a:xfrm>
          <a:prstGeom prst="roundRect">
            <a:avLst>
              <a:gd name="adj" fmla="val 40000"/>
            </a:avLst>
          </a:prstGeom>
          <a:solidFill>
            <a:srgbClr val="9DB8E8"/>
          </a:solidFill>
          <a:ln/>
        </p:spPr>
      </p:sp>
      <p:sp>
        <p:nvSpPr>
          <p:cNvPr id="45" name="Text 36"/>
          <p:cNvSpPr txBox="1"/>
          <p:nvPr/>
        </p:nvSpPr>
        <p:spPr>
          <a:xfrm>
            <a:off x="6035040" y="4178808"/>
            <a:ext cx="2651760" cy="274320"/>
          </a:xfrm>
          <a:prstGeom prst="rect">
            <a:avLst/>
          </a:prstGeom>
          <a:noFill/>
          <a:ln/>
        </p:spPr>
        <p:txBody>
          <a:bodyPr wrap="square" lIns="0" tIns="0" rIns="0" bIns="0" rtlCol="0" anchor="t"/>
          <a:lstStyle/>
          <a:p>
            <a:pPr algn="ctr" indent="0" marL="0">
              <a:buNone/>
            </a:pPr>
            <a:r>
              <a:rPr lang="en-US" sz="1500" b="1" dirty="0">
                <a:solidFill>
                  <a:schemeClr val="tx1"/>
                </a:solidFill>
              </a:rPr>
              <a:t>Dark Mode</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Backend API</a:t>
            </a:r>
            <a:endParaRPr lang="en-US" sz="3000" dirty="0"/>
          </a:p>
        </p:txBody>
      </p:sp>
      <p:sp>
        <p:nvSpPr>
          <p:cNvPr id="4" name="Shape 1"/>
          <p:cNvSpPr/>
          <p:nvPr/>
        </p:nvSpPr>
        <p:spPr>
          <a:xfrm>
            <a:off x="457200" y="1097280"/>
            <a:ext cx="8229600" cy="475488"/>
          </a:xfrm>
          <a:prstGeom prst="roundRect">
            <a:avLst>
              <a:gd name="adj" fmla="val 23077"/>
            </a:avLst>
          </a:prstGeom>
          <a:solidFill>
            <a:schemeClr val="bg2"/>
          </a:solidFill>
          <a:ln/>
        </p:spPr>
      </p:sp>
      <p:sp>
        <p:nvSpPr>
          <p:cNvPr id="5" name="Shape 2"/>
          <p:cNvSpPr/>
          <p:nvPr/>
        </p:nvSpPr>
        <p:spPr>
          <a:xfrm>
            <a:off x="594360" y="1179576"/>
            <a:ext cx="777240" cy="310896"/>
          </a:xfrm>
          <a:prstGeom prst="roundRect">
            <a:avLst>
              <a:gd name="adj" fmla="val 17647"/>
            </a:avLst>
          </a:prstGeom>
          <a:solidFill>
            <a:schemeClr val="accent1"/>
          </a:solidFill>
          <a:ln/>
        </p:spPr>
      </p:sp>
      <p:sp>
        <p:nvSpPr>
          <p:cNvPr id="6" name="Text 3"/>
          <p:cNvSpPr txBox="1"/>
          <p:nvPr/>
        </p:nvSpPr>
        <p:spPr>
          <a:xfrm>
            <a:off x="594360" y="1179576"/>
            <a:ext cx="777240" cy="310896"/>
          </a:xfrm>
          <a:prstGeom prst="rect">
            <a:avLst/>
          </a:prstGeom>
          <a:noFill/>
          <a:ln/>
        </p:spPr>
        <p:txBody>
          <a:bodyPr wrap="square" lIns="0" tIns="0" rIns="0" bIns="0" rtlCol="0" anchor="ctr"/>
          <a:lstStyle/>
          <a:p>
            <a:pPr algn="ctr" indent="0" marL="0">
              <a:buNone/>
            </a:pPr>
            <a:r>
              <a:rPr lang="en-US" sz="1400" b="1" dirty="0">
                <a:solidFill>
                  <a:schemeClr val="bg1"/>
                </a:solidFill>
              </a:rPr>
              <a:t>POST</a:t>
            </a:r>
            <a:endParaRPr lang="en-US" sz="1400" dirty="0"/>
          </a:p>
        </p:txBody>
      </p:sp>
      <p:sp>
        <p:nvSpPr>
          <p:cNvPr id="7" name="Text 4"/>
          <p:cNvSpPr txBox="1"/>
          <p:nvPr/>
        </p:nvSpPr>
        <p:spPr>
          <a:xfrm>
            <a:off x="1600200" y="1097280"/>
            <a:ext cx="1371600" cy="47548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/chat</a:t>
            </a:r>
            <a:endParaRPr lang="en-US" sz="1500" dirty="0"/>
          </a:p>
        </p:txBody>
      </p:sp>
      <p:sp>
        <p:nvSpPr>
          <p:cNvPr id="8" name="Text 5"/>
          <p:cNvSpPr txBox="1"/>
          <p:nvPr/>
        </p:nvSpPr>
        <p:spPr>
          <a:xfrm>
            <a:off x="3108960" y="1097280"/>
            <a:ext cx="3657600" cy="475488"/>
          </a:xfrm>
          <a:prstGeom prst="rect">
            <a:avLst/>
          </a:prstGeom>
          <a:noFill/>
          <a:ln/>
        </p:spPr>
        <p:txBody>
          <a:bodyPr wrap="square" lIns="0" tIns="0" rIns="0" bIns="0" rtlCol="0" anchor="ctr"/>
          <a:lstStyle/>
          <a:p>
            <a:pPr indent="0" marL="0">
              <a:buNone/>
            </a:pPr>
            <a:r>
              <a:rPr lang="en-US" sz="1400" dirty="0">
                <a:solidFill>
                  <a:schemeClr val="tx1"/>
                </a:solidFill>
              </a:rPr>
              <a:t>Ask the AI assistant a question</a:t>
            </a:r>
            <a:endParaRPr lang="en-US" sz="1400" dirty="0"/>
          </a:p>
        </p:txBody>
      </p:sp>
      <p:sp>
        <p:nvSpPr>
          <p:cNvPr id="9" name="Shape 6"/>
          <p:cNvSpPr/>
          <p:nvPr/>
        </p:nvSpPr>
        <p:spPr>
          <a:xfrm>
            <a:off x="457200" y="1664208"/>
            <a:ext cx="8229600" cy="475488"/>
          </a:xfrm>
          <a:prstGeom prst="roundRect">
            <a:avLst>
              <a:gd name="adj" fmla="val 23077"/>
            </a:avLst>
          </a:prstGeom>
          <a:solidFill>
            <a:schemeClr val="bg2"/>
          </a:solidFill>
          <a:ln/>
        </p:spPr>
      </p:sp>
      <p:sp>
        <p:nvSpPr>
          <p:cNvPr id="10" name="Shape 7"/>
          <p:cNvSpPr/>
          <p:nvPr/>
        </p:nvSpPr>
        <p:spPr>
          <a:xfrm>
            <a:off x="594360" y="1746504"/>
            <a:ext cx="777240" cy="310896"/>
          </a:xfrm>
          <a:prstGeom prst="roundRect">
            <a:avLst>
              <a:gd name="adj" fmla="val 17647"/>
            </a:avLst>
          </a:prstGeom>
          <a:solidFill>
            <a:schemeClr val="accent1"/>
          </a:solidFill>
          <a:ln/>
        </p:spPr>
      </p:sp>
      <p:sp>
        <p:nvSpPr>
          <p:cNvPr id="11" name="Text 8"/>
          <p:cNvSpPr txBox="1"/>
          <p:nvPr/>
        </p:nvSpPr>
        <p:spPr>
          <a:xfrm>
            <a:off x="594360" y="1746504"/>
            <a:ext cx="777240" cy="310896"/>
          </a:xfrm>
          <a:prstGeom prst="rect">
            <a:avLst/>
          </a:prstGeom>
          <a:noFill/>
          <a:ln/>
        </p:spPr>
        <p:txBody>
          <a:bodyPr wrap="square" lIns="0" tIns="0" rIns="0" bIns="0" rtlCol="0" anchor="ctr"/>
          <a:lstStyle/>
          <a:p>
            <a:pPr algn="ctr" indent="0" marL="0">
              <a:buNone/>
            </a:pPr>
            <a:r>
              <a:rPr lang="en-US" sz="1400" b="1" dirty="0">
                <a:solidFill>
                  <a:schemeClr val="bg1"/>
                </a:solidFill>
              </a:rPr>
              <a:t>POST</a:t>
            </a:r>
            <a:endParaRPr lang="en-US" sz="1400" dirty="0"/>
          </a:p>
        </p:txBody>
      </p:sp>
      <p:sp>
        <p:nvSpPr>
          <p:cNvPr id="12" name="Text 9"/>
          <p:cNvSpPr txBox="1"/>
          <p:nvPr/>
        </p:nvSpPr>
        <p:spPr>
          <a:xfrm>
            <a:off x="1600200" y="1664208"/>
            <a:ext cx="1371600" cy="47548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/search</a:t>
            </a:r>
            <a:endParaRPr lang="en-US" sz="1500" dirty="0"/>
          </a:p>
        </p:txBody>
      </p:sp>
      <p:sp>
        <p:nvSpPr>
          <p:cNvPr id="13" name="Text 10"/>
          <p:cNvSpPr txBox="1"/>
          <p:nvPr/>
        </p:nvSpPr>
        <p:spPr>
          <a:xfrm>
            <a:off x="3108960" y="1664208"/>
            <a:ext cx="3657600" cy="475488"/>
          </a:xfrm>
          <a:prstGeom prst="rect">
            <a:avLst/>
          </a:prstGeom>
          <a:noFill/>
          <a:ln/>
        </p:spPr>
        <p:txBody>
          <a:bodyPr wrap="square" lIns="0" tIns="0" rIns="0" bIns="0" rtlCol="0" anchor="ctr"/>
          <a:lstStyle/>
          <a:p>
            <a:pPr indent="0" marL="0">
              <a:buNone/>
            </a:pPr>
            <a:r>
              <a:rPr lang="en-US" sz="1400" dirty="0">
                <a:solidFill>
                  <a:schemeClr val="tx1"/>
                </a:solidFill>
              </a:rPr>
              <a:t>Semantic medicine search</a:t>
            </a:r>
            <a:endParaRPr lang="en-US" sz="1400" dirty="0"/>
          </a:p>
        </p:txBody>
      </p:sp>
      <p:sp>
        <p:nvSpPr>
          <p:cNvPr id="14" name="Shape 11"/>
          <p:cNvSpPr/>
          <p:nvPr/>
        </p:nvSpPr>
        <p:spPr>
          <a:xfrm>
            <a:off x="457200" y="2231136"/>
            <a:ext cx="8229600" cy="475488"/>
          </a:xfrm>
          <a:prstGeom prst="roundRect">
            <a:avLst>
              <a:gd name="adj" fmla="val 23077"/>
            </a:avLst>
          </a:prstGeom>
          <a:solidFill>
            <a:schemeClr val="bg2"/>
          </a:solidFill>
          <a:ln/>
        </p:spPr>
      </p:sp>
      <p:sp>
        <p:nvSpPr>
          <p:cNvPr id="15" name="Shape 12"/>
          <p:cNvSpPr/>
          <p:nvPr/>
        </p:nvSpPr>
        <p:spPr>
          <a:xfrm>
            <a:off x="594360" y="2313432"/>
            <a:ext cx="777240" cy="310896"/>
          </a:xfrm>
          <a:prstGeom prst="roundRect">
            <a:avLst>
              <a:gd name="adj" fmla="val 17647"/>
            </a:avLst>
          </a:prstGeom>
          <a:solidFill>
            <a:schemeClr val="accent3"/>
          </a:solidFill>
          <a:ln/>
        </p:spPr>
      </p:sp>
      <p:sp>
        <p:nvSpPr>
          <p:cNvPr id="16" name="Text 13"/>
          <p:cNvSpPr txBox="1"/>
          <p:nvPr/>
        </p:nvSpPr>
        <p:spPr>
          <a:xfrm>
            <a:off x="594360" y="2313432"/>
            <a:ext cx="777240" cy="310896"/>
          </a:xfrm>
          <a:prstGeom prst="rect">
            <a:avLst/>
          </a:prstGeom>
          <a:noFill/>
          <a:ln/>
        </p:spPr>
        <p:txBody>
          <a:bodyPr wrap="square" lIns="0" tIns="0" rIns="0" bIns="0" rtlCol="0" anchor="ctr"/>
          <a:lstStyle/>
          <a:p>
            <a:pPr algn="ctr" indent="0" marL="0">
              <a:buNone/>
            </a:pPr>
            <a:r>
              <a:rPr lang="en-US" sz="1400" b="1" dirty="0">
                <a:solidFill>
                  <a:schemeClr val="bg1"/>
                </a:solidFill>
              </a:rPr>
              <a:t>GET</a:t>
            </a:r>
            <a:endParaRPr lang="en-US" sz="1400" dirty="0"/>
          </a:p>
        </p:txBody>
      </p:sp>
      <p:sp>
        <p:nvSpPr>
          <p:cNvPr id="17" name="Text 14"/>
          <p:cNvSpPr txBox="1"/>
          <p:nvPr/>
        </p:nvSpPr>
        <p:spPr>
          <a:xfrm>
            <a:off x="1600200" y="2231136"/>
            <a:ext cx="1371600" cy="47548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/stock</a:t>
            </a:r>
            <a:endParaRPr lang="en-US" sz="1500" dirty="0"/>
          </a:p>
        </p:txBody>
      </p:sp>
      <p:sp>
        <p:nvSpPr>
          <p:cNvPr id="18" name="Text 15"/>
          <p:cNvSpPr txBox="1"/>
          <p:nvPr/>
        </p:nvSpPr>
        <p:spPr>
          <a:xfrm>
            <a:off x="3108960" y="2231136"/>
            <a:ext cx="3657600" cy="475488"/>
          </a:xfrm>
          <a:prstGeom prst="rect">
            <a:avLst/>
          </a:prstGeom>
          <a:noFill/>
          <a:ln/>
        </p:spPr>
        <p:txBody>
          <a:bodyPr wrap="square" lIns="0" tIns="0" rIns="0" bIns="0" rtlCol="0" anchor="ctr"/>
          <a:lstStyle/>
          <a:p>
            <a:pPr indent="0" marL="0">
              <a:buNone/>
            </a:pPr>
            <a:r>
              <a:rPr lang="en-US" sz="1400" dirty="0">
                <a:solidFill>
                  <a:schemeClr val="tx1"/>
                </a:solidFill>
              </a:rPr>
              <a:t>Check medicine availability</a:t>
            </a:r>
            <a:endParaRPr lang="en-US" sz="1400" dirty="0"/>
          </a:p>
        </p:txBody>
      </p:sp>
      <p:sp>
        <p:nvSpPr>
          <p:cNvPr id="19" name="Shape 16"/>
          <p:cNvSpPr/>
          <p:nvPr/>
        </p:nvSpPr>
        <p:spPr>
          <a:xfrm>
            <a:off x="457200" y="2798064"/>
            <a:ext cx="8229600" cy="475488"/>
          </a:xfrm>
          <a:prstGeom prst="roundRect">
            <a:avLst>
              <a:gd name="adj" fmla="val 23077"/>
            </a:avLst>
          </a:prstGeom>
          <a:solidFill>
            <a:schemeClr val="bg2"/>
          </a:solidFill>
          <a:ln/>
        </p:spPr>
      </p:sp>
      <p:sp>
        <p:nvSpPr>
          <p:cNvPr id="20" name="Shape 17"/>
          <p:cNvSpPr/>
          <p:nvPr/>
        </p:nvSpPr>
        <p:spPr>
          <a:xfrm>
            <a:off x="594360" y="2880360"/>
            <a:ext cx="777240" cy="310896"/>
          </a:xfrm>
          <a:prstGeom prst="roundRect">
            <a:avLst>
              <a:gd name="adj" fmla="val 17647"/>
            </a:avLst>
          </a:prstGeom>
          <a:solidFill>
            <a:schemeClr val="accent3"/>
          </a:solidFill>
          <a:ln/>
        </p:spPr>
      </p:sp>
      <p:sp>
        <p:nvSpPr>
          <p:cNvPr id="21" name="Text 18"/>
          <p:cNvSpPr txBox="1"/>
          <p:nvPr/>
        </p:nvSpPr>
        <p:spPr>
          <a:xfrm>
            <a:off x="594360" y="2880360"/>
            <a:ext cx="777240" cy="310896"/>
          </a:xfrm>
          <a:prstGeom prst="rect">
            <a:avLst/>
          </a:prstGeom>
          <a:noFill/>
          <a:ln/>
        </p:spPr>
        <p:txBody>
          <a:bodyPr wrap="square" lIns="0" tIns="0" rIns="0" bIns="0" rtlCol="0" anchor="ctr"/>
          <a:lstStyle/>
          <a:p>
            <a:pPr algn="ctr" indent="0" marL="0">
              <a:buNone/>
            </a:pPr>
            <a:r>
              <a:rPr lang="en-US" sz="1400" b="1" dirty="0">
                <a:solidFill>
                  <a:schemeClr val="bg1"/>
                </a:solidFill>
              </a:rPr>
              <a:t>GET</a:t>
            </a:r>
            <a:endParaRPr lang="en-US" sz="1400" dirty="0"/>
          </a:p>
        </p:txBody>
      </p:sp>
      <p:sp>
        <p:nvSpPr>
          <p:cNvPr id="22" name="Text 19"/>
          <p:cNvSpPr txBox="1"/>
          <p:nvPr/>
        </p:nvSpPr>
        <p:spPr>
          <a:xfrm>
            <a:off x="1600200" y="2798064"/>
            <a:ext cx="1371600" cy="475488"/>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/health</a:t>
            </a:r>
            <a:endParaRPr lang="en-US" sz="1500" dirty="0"/>
          </a:p>
        </p:txBody>
      </p:sp>
      <p:sp>
        <p:nvSpPr>
          <p:cNvPr id="23" name="Text 20"/>
          <p:cNvSpPr txBox="1"/>
          <p:nvPr/>
        </p:nvSpPr>
        <p:spPr>
          <a:xfrm>
            <a:off x="3108960" y="2798064"/>
            <a:ext cx="3657600" cy="475488"/>
          </a:xfrm>
          <a:prstGeom prst="rect">
            <a:avLst/>
          </a:prstGeom>
          <a:noFill/>
          <a:ln/>
        </p:spPr>
        <p:txBody>
          <a:bodyPr wrap="square" lIns="0" tIns="0" rIns="0" bIns="0" rtlCol="0" anchor="ctr"/>
          <a:lstStyle/>
          <a:p>
            <a:pPr indent="0" marL="0">
              <a:buNone/>
            </a:pPr>
            <a:r>
              <a:rPr lang="en-US" sz="1400" dirty="0">
                <a:solidFill>
                  <a:schemeClr val="tx1"/>
                </a:solidFill>
              </a:rPr>
              <a:t>Service health check</a:t>
            </a:r>
            <a:endParaRPr lang="en-US" sz="1400" dirty="0"/>
          </a:p>
        </p:txBody>
      </p:sp>
      <p:sp>
        <p:nvSpPr>
          <p:cNvPr id="24" name="Text 21"/>
          <p:cNvSpPr txBox="1"/>
          <p:nvPr/>
        </p:nvSpPr>
        <p:spPr>
          <a:xfrm>
            <a:off x="457200" y="3474720"/>
            <a:ext cx="3657600" cy="274320"/>
          </a:xfrm>
          <a:prstGeom prst="rect">
            <a:avLst/>
          </a:prstGeom>
          <a:noFill/>
          <a:ln/>
        </p:spPr>
        <p:txBody>
          <a:bodyPr wrap="square" lIns="0" tIns="0" rIns="0" bIns="0" rtlCol="0" anchor="t"/>
          <a:lstStyle/>
          <a:p>
            <a:pPr indent="0" marL="0">
              <a:buNone/>
            </a:pPr>
            <a:r>
              <a:rPr lang="en-US" sz="1600" b="1" dirty="0">
                <a:solidFill>
                  <a:schemeClr val="tx2"/>
                </a:solidFill>
              </a:rPr>
              <a:t>API Request Flow</a:t>
            </a:r>
            <a:endParaRPr lang="en-US" sz="1600" dirty="0"/>
          </a:p>
        </p:txBody>
      </p:sp>
      <p:sp>
        <p:nvSpPr>
          <p:cNvPr id="25" name="Shape 22"/>
          <p:cNvSpPr/>
          <p:nvPr/>
        </p:nvSpPr>
        <p:spPr>
          <a:xfrm>
            <a:off x="457200" y="3794760"/>
            <a:ext cx="1463040" cy="731520"/>
          </a:xfrm>
          <a:prstGeom prst="roundRect">
            <a:avLst>
              <a:gd name="adj" fmla="val 15000"/>
            </a:avLst>
          </a:prstGeom>
          <a:solidFill>
            <a:schemeClr val="bg2"/>
          </a:solidFill>
          <a:ln/>
        </p:spPr>
      </p:sp>
      <p:sp>
        <p:nvSpPr>
          <p:cNvPr id="26" name="Shape 23"/>
          <p:cNvSpPr/>
          <p:nvPr/>
        </p:nvSpPr>
        <p:spPr>
          <a:xfrm>
            <a:off x="548640" y="3931920"/>
            <a:ext cx="457200" cy="457200"/>
          </a:xfrm>
          <a:prstGeom prst="ellipse">
            <a:avLst/>
          </a:prstGeom>
          <a:solidFill>
            <a:schemeClr val="accent1"/>
          </a:solidFill>
          <a:ln/>
        </p:spPr>
      </p:sp>
      <p:pic>
        <p:nvPicPr>
          <p:cNvPr id="27" name="Image 0" descr="preencoded.png">    </p:cNvPr>
          <p:cNvPicPr>
            <a:picLocks noChangeAspect="1"/>
          </p:cNvPicPr>
          <p:nvPr/>
        </p:nvPicPr>
        <p:blipFill>
          <a:blip r:embed="rId1"/>
          <a:stretch>
            <a:fillRect/>
          </a:stretch>
        </p:blipFill>
        <p:spPr>
          <a:xfrm>
            <a:off x="662940" y="4046220"/>
            <a:ext cx="228600" cy="228600"/>
          </a:xfrm>
          <a:prstGeom prst="rect">
            <a:avLst/>
          </a:prstGeom>
        </p:spPr>
      </p:pic>
      <p:sp>
        <p:nvSpPr>
          <p:cNvPr id="28" name="Text 24"/>
          <p:cNvSpPr txBox="1"/>
          <p:nvPr/>
        </p:nvSpPr>
        <p:spPr>
          <a:xfrm>
            <a:off x="1078992" y="3794760"/>
            <a:ext cx="822960" cy="731520"/>
          </a:xfrm>
          <a:prstGeom prst="rect">
            <a:avLst/>
          </a:prstGeom>
          <a:noFill/>
          <a:ln/>
        </p:spPr>
        <p:txBody>
          <a:bodyPr wrap="square" lIns="0" tIns="0" rIns="0" bIns="0" rtlCol="0" anchor="ctr"/>
          <a:lstStyle/>
          <a:p>
            <a:pPr indent="0" marL="0">
              <a:buNone/>
            </a:pPr>
            <a:r>
              <a:rPr lang="en-US" sz="1400" b="1" dirty="0">
                <a:solidFill>
                  <a:schemeClr val="tx1"/>
                </a:solidFill>
              </a:rPr>
              <a:t>Client</a:t>
            </a:r>
            <a:endParaRPr lang="en-US" sz="1400" dirty="0"/>
          </a:p>
        </p:txBody>
      </p:sp>
      <p:sp>
        <p:nvSpPr>
          <p:cNvPr id="29" name="Shape 25"/>
          <p:cNvSpPr/>
          <p:nvPr/>
        </p:nvSpPr>
        <p:spPr>
          <a:xfrm>
            <a:off x="1947672" y="4050792"/>
            <a:ext cx="173736" cy="219456"/>
          </a:xfrm>
          <a:prstGeom prst="rightArrow">
            <a:avLst/>
          </a:prstGeom>
          <a:solidFill>
            <a:schemeClr val="accent2"/>
          </a:solidFill>
          <a:ln/>
        </p:spPr>
      </p:sp>
      <p:sp>
        <p:nvSpPr>
          <p:cNvPr id="30" name="Shape 26"/>
          <p:cNvSpPr/>
          <p:nvPr/>
        </p:nvSpPr>
        <p:spPr>
          <a:xfrm>
            <a:off x="2148840" y="3794760"/>
            <a:ext cx="1463040" cy="731520"/>
          </a:xfrm>
          <a:prstGeom prst="roundRect">
            <a:avLst>
              <a:gd name="adj" fmla="val 15000"/>
            </a:avLst>
          </a:prstGeom>
          <a:solidFill>
            <a:schemeClr val="bg2"/>
          </a:solidFill>
          <a:ln/>
        </p:spPr>
      </p:sp>
      <p:sp>
        <p:nvSpPr>
          <p:cNvPr id="31" name="Shape 27"/>
          <p:cNvSpPr/>
          <p:nvPr/>
        </p:nvSpPr>
        <p:spPr>
          <a:xfrm>
            <a:off x="2240280" y="3931920"/>
            <a:ext cx="457200" cy="457200"/>
          </a:xfrm>
          <a:prstGeom prst="ellipse">
            <a:avLst/>
          </a:prstGeom>
          <a:solidFill>
            <a:schemeClr val="accent1"/>
          </a:solidFill>
          <a:ln/>
        </p:spPr>
      </p:sp>
      <p:pic>
        <p:nvPicPr>
          <p:cNvPr id="32" name="Image 1" descr="preencoded.png">    </p:cNvPr>
          <p:cNvPicPr>
            <a:picLocks noChangeAspect="1"/>
          </p:cNvPicPr>
          <p:nvPr/>
        </p:nvPicPr>
        <p:blipFill>
          <a:blip r:embed="rId2"/>
          <a:stretch>
            <a:fillRect/>
          </a:stretch>
        </p:blipFill>
        <p:spPr>
          <a:xfrm>
            <a:off x="2354580" y="4046220"/>
            <a:ext cx="228600" cy="228600"/>
          </a:xfrm>
          <a:prstGeom prst="rect">
            <a:avLst/>
          </a:prstGeom>
        </p:spPr>
      </p:pic>
      <p:sp>
        <p:nvSpPr>
          <p:cNvPr id="33" name="Text 28"/>
          <p:cNvSpPr txBox="1"/>
          <p:nvPr/>
        </p:nvSpPr>
        <p:spPr>
          <a:xfrm>
            <a:off x="2770632" y="3794760"/>
            <a:ext cx="822960" cy="731520"/>
          </a:xfrm>
          <a:prstGeom prst="rect">
            <a:avLst/>
          </a:prstGeom>
          <a:noFill/>
          <a:ln/>
        </p:spPr>
        <p:txBody>
          <a:bodyPr wrap="square" lIns="0" tIns="0" rIns="0" bIns="0" rtlCol="0" anchor="ctr"/>
          <a:lstStyle/>
          <a:p>
            <a:pPr indent="0" marL="0">
              <a:buNone/>
            </a:pPr>
            <a:r>
              <a:rPr lang="en-US" sz="1400" b="1" dirty="0">
                <a:solidFill>
                  <a:schemeClr val="tx1"/>
                </a:solidFill>
              </a:rPr>
              <a:t>FastAPI route</a:t>
            </a:r>
            <a:endParaRPr lang="en-US" sz="1400" dirty="0"/>
          </a:p>
        </p:txBody>
      </p:sp>
      <p:sp>
        <p:nvSpPr>
          <p:cNvPr id="34" name="Shape 29"/>
          <p:cNvSpPr/>
          <p:nvPr/>
        </p:nvSpPr>
        <p:spPr>
          <a:xfrm>
            <a:off x="3639312" y="4050792"/>
            <a:ext cx="173736" cy="219456"/>
          </a:xfrm>
          <a:prstGeom prst="rightArrow">
            <a:avLst/>
          </a:prstGeom>
          <a:solidFill>
            <a:schemeClr val="accent2"/>
          </a:solidFill>
          <a:ln/>
        </p:spPr>
      </p:sp>
      <p:sp>
        <p:nvSpPr>
          <p:cNvPr id="35" name="Shape 30"/>
          <p:cNvSpPr/>
          <p:nvPr/>
        </p:nvSpPr>
        <p:spPr>
          <a:xfrm>
            <a:off x="3840480" y="3794760"/>
            <a:ext cx="1463040" cy="731520"/>
          </a:xfrm>
          <a:prstGeom prst="roundRect">
            <a:avLst>
              <a:gd name="adj" fmla="val 15000"/>
            </a:avLst>
          </a:prstGeom>
          <a:solidFill>
            <a:schemeClr val="bg2"/>
          </a:solidFill>
          <a:ln/>
        </p:spPr>
      </p:sp>
      <p:sp>
        <p:nvSpPr>
          <p:cNvPr id="36" name="Shape 31"/>
          <p:cNvSpPr/>
          <p:nvPr/>
        </p:nvSpPr>
        <p:spPr>
          <a:xfrm>
            <a:off x="3931920" y="3931920"/>
            <a:ext cx="457200" cy="457200"/>
          </a:xfrm>
          <a:prstGeom prst="ellipse">
            <a:avLst/>
          </a:prstGeom>
          <a:solidFill>
            <a:schemeClr val="accent1"/>
          </a:solidFill>
          <a:ln/>
        </p:spPr>
      </p:sp>
      <p:pic>
        <p:nvPicPr>
          <p:cNvPr id="37" name="Image 2" descr="preencoded.png">    </p:cNvPr>
          <p:cNvPicPr>
            <a:picLocks noChangeAspect="1"/>
          </p:cNvPicPr>
          <p:nvPr/>
        </p:nvPicPr>
        <p:blipFill>
          <a:blip r:embed="rId3"/>
          <a:stretch>
            <a:fillRect/>
          </a:stretch>
        </p:blipFill>
        <p:spPr>
          <a:xfrm>
            <a:off x="4046220" y="4046220"/>
            <a:ext cx="228600" cy="228600"/>
          </a:xfrm>
          <a:prstGeom prst="rect">
            <a:avLst/>
          </a:prstGeom>
        </p:spPr>
      </p:pic>
      <p:sp>
        <p:nvSpPr>
          <p:cNvPr id="38" name="Text 32"/>
          <p:cNvSpPr txBox="1"/>
          <p:nvPr/>
        </p:nvSpPr>
        <p:spPr>
          <a:xfrm>
            <a:off x="4462272" y="3794760"/>
            <a:ext cx="822960" cy="731520"/>
          </a:xfrm>
          <a:prstGeom prst="rect">
            <a:avLst/>
          </a:prstGeom>
          <a:noFill/>
          <a:ln/>
        </p:spPr>
        <p:txBody>
          <a:bodyPr wrap="square" lIns="0" tIns="0" rIns="0" bIns="0" rtlCol="0" anchor="ctr"/>
          <a:lstStyle/>
          <a:p>
            <a:pPr indent="0" marL="0">
              <a:buNone/>
            </a:pPr>
            <a:r>
              <a:rPr lang="en-US" sz="1400" b="1" dirty="0">
                <a:solidFill>
                  <a:schemeClr val="tx1"/>
                </a:solidFill>
              </a:rPr>
              <a:t>Validation</a:t>
            </a:r>
            <a:endParaRPr lang="en-US" sz="1400" dirty="0"/>
          </a:p>
        </p:txBody>
      </p:sp>
      <p:sp>
        <p:nvSpPr>
          <p:cNvPr id="39" name="Shape 33"/>
          <p:cNvSpPr/>
          <p:nvPr/>
        </p:nvSpPr>
        <p:spPr>
          <a:xfrm>
            <a:off x="5330952" y="4050792"/>
            <a:ext cx="173736" cy="219456"/>
          </a:xfrm>
          <a:prstGeom prst="rightArrow">
            <a:avLst/>
          </a:prstGeom>
          <a:solidFill>
            <a:schemeClr val="accent2"/>
          </a:solidFill>
          <a:ln/>
        </p:spPr>
      </p:sp>
      <p:sp>
        <p:nvSpPr>
          <p:cNvPr id="40" name="Shape 34"/>
          <p:cNvSpPr/>
          <p:nvPr/>
        </p:nvSpPr>
        <p:spPr>
          <a:xfrm>
            <a:off x="5532120" y="3794760"/>
            <a:ext cx="1463040" cy="731520"/>
          </a:xfrm>
          <a:prstGeom prst="roundRect">
            <a:avLst>
              <a:gd name="adj" fmla="val 15000"/>
            </a:avLst>
          </a:prstGeom>
          <a:solidFill>
            <a:schemeClr val="bg2"/>
          </a:solidFill>
          <a:ln/>
        </p:spPr>
      </p:sp>
      <p:sp>
        <p:nvSpPr>
          <p:cNvPr id="41" name="Shape 35"/>
          <p:cNvSpPr/>
          <p:nvPr/>
        </p:nvSpPr>
        <p:spPr>
          <a:xfrm>
            <a:off x="5623560" y="3931920"/>
            <a:ext cx="457200" cy="457200"/>
          </a:xfrm>
          <a:prstGeom prst="ellipse">
            <a:avLst/>
          </a:prstGeom>
          <a:solidFill>
            <a:schemeClr val="accent3"/>
          </a:solidFill>
          <a:ln/>
        </p:spPr>
      </p:sp>
      <p:pic>
        <p:nvPicPr>
          <p:cNvPr id="42" name="Image 3" descr="preencoded.png">    </p:cNvPr>
          <p:cNvPicPr>
            <a:picLocks noChangeAspect="1"/>
          </p:cNvPicPr>
          <p:nvPr/>
        </p:nvPicPr>
        <p:blipFill>
          <a:blip r:embed="rId4"/>
          <a:stretch>
            <a:fillRect/>
          </a:stretch>
        </p:blipFill>
        <p:spPr>
          <a:xfrm>
            <a:off x="5737860" y="4046220"/>
            <a:ext cx="228600" cy="228600"/>
          </a:xfrm>
          <a:prstGeom prst="rect">
            <a:avLst/>
          </a:prstGeom>
        </p:spPr>
      </p:pic>
      <p:sp>
        <p:nvSpPr>
          <p:cNvPr id="43" name="Text 36"/>
          <p:cNvSpPr txBox="1"/>
          <p:nvPr/>
        </p:nvSpPr>
        <p:spPr>
          <a:xfrm>
            <a:off x="6153912" y="3794760"/>
            <a:ext cx="822960" cy="731520"/>
          </a:xfrm>
          <a:prstGeom prst="rect">
            <a:avLst/>
          </a:prstGeom>
          <a:noFill/>
          <a:ln/>
        </p:spPr>
        <p:txBody>
          <a:bodyPr wrap="square" lIns="0" tIns="0" rIns="0" bIns="0" rtlCol="0" anchor="ctr"/>
          <a:lstStyle/>
          <a:p>
            <a:pPr indent="0" marL="0">
              <a:buNone/>
            </a:pPr>
            <a:r>
              <a:rPr lang="en-US" sz="1400" b="1" dirty="0">
                <a:solidFill>
                  <a:schemeClr val="tx1"/>
                </a:solidFill>
              </a:rPr>
              <a:t>Agent + RAG</a:t>
            </a:r>
            <a:endParaRPr lang="en-US" sz="1400" dirty="0"/>
          </a:p>
        </p:txBody>
      </p:sp>
      <p:sp>
        <p:nvSpPr>
          <p:cNvPr id="44" name="Shape 37"/>
          <p:cNvSpPr/>
          <p:nvPr/>
        </p:nvSpPr>
        <p:spPr>
          <a:xfrm>
            <a:off x="7022592" y="4050792"/>
            <a:ext cx="173736" cy="219456"/>
          </a:xfrm>
          <a:prstGeom prst="rightArrow">
            <a:avLst/>
          </a:prstGeom>
          <a:solidFill>
            <a:schemeClr val="accent2"/>
          </a:solidFill>
          <a:ln/>
        </p:spPr>
      </p:sp>
      <p:sp>
        <p:nvSpPr>
          <p:cNvPr id="45" name="Shape 38"/>
          <p:cNvSpPr/>
          <p:nvPr/>
        </p:nvSpPr>
        <p:spPr>
          <a:xfrm>
            <a:off x="7223760" y="3794760"/>
            <a:ext cx="1463040" cy="731520"/>
          </a:xfrm>
          <a:prstGeom prst="roundRect">
            <a:avLst>
              <a:gd name="adj" fmla="val 15000"/>
            </a:avLst>
          </a:prstGeom>
          <a:solidFill>
            <a:schemeClr val="bg2"/>
          </a:solidFill>
          <a:ln/>
        </p:spPr>
      </p:sp>
      <p:sp>
        <p:nvSpPr>
          <p:cNvPr id="46" name="Shape 39"/>
          <p:cNvSpPr/>
          <p:nvPr/>
        </p:nvSpPr>
        <p:spPr>
          <a:xfrm>
            <a:off x="7315200" y="3931920"/>
            <a:ext cx="457200" cy="457200"/>
          </a:xfrm>
          <a:prstGeom prst="ellipse">
            <a:avLst/>
          </a:prstGeom>
          <a:solidFill>
            <a:schemeClr val="accent1"/>
          </a:solidFill>
          <a:ln/>
        </p:spPr>
      </p:sp>
      <p:pic>
        <p:nvPicPr>
          <p:cNvPr id="47" name="Image 4" descr="preencoded.png">    </p:cNvPr>
          <p:cNvPicPr>
            <a:picLocks noChangeAspect="1"/>
          </p:cNvPicPr>
          <p:nvPr/>
        </p:nvPicPr>
        <p:blipFill>
          <a:blip r:embed="rId5"/>
          <a:stretch>
            <a:fillRect/>
          </a:stretch>
        </p:blipFill>
        <p:spPr>
          <a:xfrm>
            <a:off x="7429500" y="4046220"/>
            <a:ext cx="228600" cy="228600"/>
          </a:xfrm>
          <a:prstGeom prst="rect">
            <a:avLst/>
          </a:prstGeom>
        </p:spPr>
      </p:pic>
      <p:sp>
        <p:nvSpPr>
          <p:cNvPr id="48" name="Text 40"/>
          <p:cNvSpPr txBox="1"/>
          <p:nvPr/>
        </p:nvSpPr>
        <p:spPr>
          <a:xfrm>
            <a:off x="7845552" y="3794760"/>
            <a:ext cx="822960" cy="731520"/>
          </a:xfrm>
          <a:prstGeom prst="rect">
            <a:avLst/>
          </a:prstGeom>
          <a:noFill/>
          <a:ln/>
        </p:spPr>
        <p:txBody>
          <a:bodyPr wrap="square" lIns="0" tIns="0" rIns="0" bIns="0" rtlCol="0" anchor="ctr"/>
          <a:lstStyle/>
          <a:p>
            <a:pPr indent="0" marL="0">
              <a:buNone/>
            </a:pPr>
            <a:r>
              <a:rPr lang="en-US" sz="1400" b="1" dirty="0">
                <a:solidFill>
                  <a:schemeClr val="tx1"/>
                </a:solidFill>
              </a:rPr>
              <a:t>JSON response</a:t>
            </a:r>
            <a:endParaRPr lang="en-US" sz="1400" dirty="0"/>
          </a:p>
        </p:txBody>
      </p:sp>
      <p:sp>
        <p:nvSpPr>
          <p:cNvPr id="49" name="Text 41"/>
          <p:cNvSpPr txBox="1"/>
          <p:nvPr/>
        </p:nvSpPr>
        <p:spPr>
          <a:xfrm>
            <a:off x="6858000" y="3474720"/>
            <a:ext cx="1828800" cy="274320"/>
          </a:xfrm>
          <a:prstGeom prst="rect">
            <a:avLst/>
          </a:prstGeom>
          <a:noFill/>
          <a:ln/>
        </p:spPr>
        <p:txBody>
          <a:bodyPr wrap="square" lIns="0" tIns="0" rIns="0" bIns="0" rtlCol="0" anchor="t"/>
          <a:lstStyle/>
          <a:p>
            <a:pPr algn="r" indent="0" marL="0">
              <a:buNone/>
            </a:pPr>
            <a:r>
              <a:rPr lang="en-US" sz="1400" b="1" dirty="0">
                <a:solidFill>
                  <a:schemeClr val="accent1"/>
                </a:solidFill>
              </a:rPr>
              <a:t>Swagger UI: /docs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Key Features</a:t>
            </a:r>
            <a:endParaRPr lang="en-US" sz="3000" dirty="0"/>
          </a:p>
        </p:txBody>
      </p:sp>
      <p:sp>
        <p:nvSpPr>
          <p:cNvPr id="4" name="Shape 1"/>
          <p:cNvSpPr/>
          <p:nvPr/>
        </p:nvSpPr>
        <p:spPr>
          <a:xfrm>
            <a:off x="457200" y="1097280"/>
            <a:ext cx="1920240" cy="1051560"/>
          </a:xfrm>
          <a:prstGeom prst="roundRect">
            <a:avLst>
              <a:gd name="adj" fmla="val 10435"/>
            </a:avLst>
          </a:prstGeom>
          <a:solidFill>
            <a:schemeClr val="bg2"/>
          </a:solidFill>
          <a:ln/>
        </p:spPr>
      </p:sp>
      <p:sp>
        <p:nvSpPr>
          <p:cNvPr id="5" name="Shape 2"/>
          <p:cNvSpPr/>
          <p:nvPr/>
        </p:nvSpPr>
        <p:spPr>
          <a:xfrm>
            <a:off x="621792" y="1207008"/>
            <a:ext cx="411480" cy="4114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24662" y="1309878"/>
            <a:ext cx="205740" cy="205740"/>
          </a:xfrm>
          <a:prstGeom prst="rect">
            <a:avLst/>
          </a:prstGeom>
        </p:spPr>
      </p:pic>
      <p:sp>
        <p:nvSpPr>
          <p:cNvPr id="7" name="Text 3"/>
          <p:cNvSpPr txBox="1"/>
          <p:nvPr/>
        </p:nvSpPr>
        <p:spPr>
          <a:xfrm>
            <a:off x="621792" y="1719072"/>
            <a:ext cx="1691640" cy="365760"/>
          </a:xfrm>
          <a:prstGeom prst="rect">
            <a:avLst/>
          </a:prstGeom>
          <a:noFill/>
          <a:ln/>
        </p:spPr>
        <p:txBody>
          <a:bodyPr wrap="square" lIns="0" tIns="0" rIns="0" bIns="0" rtlCol="0" anchor="t"/>
          <a:lstStyle/>
          <a:p>
            <a:pPr indent="0" marL="0">
              <a:buNone/>
            </a:pPr>
            <a:r>
              <a:rPr lang="en-US" sz="1400" b="1" dirty="0">
                <a:solidFill>
                  <a:schemeClr val="tx1"/>
                </a:solidFill>
              </a:rPr>
              <a:t>AI Chat</a:t>
            </a:r>
            <a:endParaRPr lang="en-US" sz="1400" dirty="0"/>
          </a:p>
        </p:txBody>
      </p:sp>
      <p:sp>
        <p:nvSpPr>
          <p:cNvPr id="8" name="Shape 4"/>
          <p:cNvSpPr/>
          <p:nvPr/>
        </p:nvSpPr>
        <p:spPr>
          <a:xfrm>
            <a:off x="2560320" y="1097280"/>
            <a:ext cx="1920240" cy="1051560"/>
          </a:xfrm>
          <a:prstGeom prst="roundRect">
            <a:avLst>
              <a:gd name="adj" fmla="val 10435"/>
            </a:avLst>
          </a:prstGeom>
          <a:solidFill>
            <a:schemeClr val="bg2"/>
          </a:solidFill>
          <a:ln/>
        </p:spPr>
      </p:sp>
      <p:sp>
        <p:nvSpPr>
          <p:cNvPr id="9" name="Shape 5"/>
          <p:cNvSpPr/>
          <p:nvPr/>
        </p:nvSpPr>
        <p:spPr>
          <a:xfrm>
            <a:off x="2724912" y="1207008"/>
            <a:ext cx="411480" cy="4114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827782" y="1309878"/>
            <a:ext cx="205740" cy="205740"/>
          </a:xfrm>
          <a:prstGeom prst="rect">
            <a:avLst/>
          </a:prstGeom>
        </p:spPr>
      </p:pic>
      <p:sp>
        <p:nvSpPr>
          <p:cNvPr id="11" name="Text 6"/>
          <p:cNvSpPr txBox="1"/>
          <p:nvPr/>
        </p:nvSpPr>
        <p:spPr>
          <a:xfrm>
            <a:off x="2724912" y="1719072"/>
            <a:ext cx="1691640" cy="365760"/>
          </a:xfrm>
          <a:prstGeom prst="rect">
            <a:avLst/>
          </a:prstGeom>
          <a:noFill/>
          <a:ln/>
        </p:spPr>
        <p:txBody>
          <a:bodyPr wrap="square" lIns="0" tIns="0" rIns="0" bIns="0" rtlCol="0" anchor="t"/>
          <a:lstStyle/>
          <a:p>
            <a:pPr indent="0" marL="0">
              <a:buNone/>
            </a:pPr>
            <a:r>
              <a:rPr lang="en-US" sz="1400" b="1" dirty="0">
                <a:solidFill>
                  <a:schemeClr val="tx1"/>
                </a:solidFill>
              </a:rPr>
              <a:t>Medicine Search</a:t>
            </a:r>
            <a:endParaRPr lang="en-US" sz="1400" dirty="0"/>
          </a:p>
        </p:txBody>
      </p:sp>
      <p:sp>
        <p:nvSpPr>
          <p:cNvPr id="12" name="Shape 7"/>
          <p:cNvSpPr/>
          <p:nvPr/>
        </p:nvSpPr>
        <p:spPr>
          <a:xfrm>
            <a:off x="4663440" y="1097280"/>
            <a:ext cx="1920240" cy="1051560"/>
          </a:xfrm>
          <a:prstGeom prst="roundRect">
            <a:avLst>
              <a:gd name="adj" fmla="val 10435"/>
            </a:avLst>
          </a:prstGeom>
          <a:solidFill>
            <a:schemeClr val="bg2"/>
          </a:solidFill>
          <a:ln/>
        </p:spPr>
      </p:sp>
      <p:sp>
        <p:nvSpPr>
          <p:cNvPr id="13" name="Shape 8"/>
          <p:cNvSpPr/>
          <p:nvPr/>
        </p:nvSpPr>
        <p:spPr>
          <a:xfrm>
            <a:off x="4828032" y="1207008"/>
            <a:ext cx="411480" cy="41148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4930902" y="1309878"/>
            <a:ext cx="205740" cy="205740"/>
          </a:xfrm>
          <a:prstGeom prst="rect">
            <a:avLst/>
          </a:prstGeom>
        </p:spPr>
      </p:pic>
      <p:sp>
        <p:nvSpPr>
          <p:cNvPr id="15" name="Text 9"/>
          <p:cNvSpPr txBox="1"/>
          <p:nvPr/>
        </p:nvSpPr>
        <p:spPr>
          <a:xfrm>
            <a:off x="4828032" y="1719072"/>
            <a:ext cx="1691640" cy="365760"/>
          </a:xfrm>
          <a:prstGeom prst="rect">
            <a:avLst/>
          </a:prstGeom>
          <a:noFill/>
          <a:ln/>
        </p:spPr>
        <p:txBody>
          <a:bodyPr wrap="square" lIns="0" tIns="0" rIns="0" bIns="0" rtlCol="0" anchor="t"/>
          <a:lstStyle/>
          <a:p>
            <a:pPr indent="0" marL="0">
              <a:buNone/>
            </a:pPr>
            <a:r>
              <a:rPr lang="en-US" sz="1400" b="1" dirty="0">
                <a:solidFill>
                  <a:schemeClr val="tx1"/>
                </a:solidFill>
              </a:rPr>
              <a:t>Medicine Alternatives</a:t>
            </a:r>
            <a:endParaRPr lang="en-US" sz="1400" dirty="0"/>
          </a:p>
        </p:txBody>
      </p:sp>
      <p:sp>
        <p:nvSpPr>
          <p:cNvPr id="16" name="Shape 10"/>
          <p:cNvSpPr/>
          <p:nvPr/>
        </p:nvSpPr>
        <p:spPr>
          <a:xfrm>
            <a:off x="6766560" y="1097280"/>
            <a:ext cx="1920240" cy="1051560"/>
          </a:xfrm>
          <a:prstGeom prst="roundRect">
            <a:avLst>
              <a:gd name="adj" fmla="val 10435"/>
            </a:avLst>
          </a:prstGeom>
          <a:solidFill>
            <a:schemeClr val="bg2"/>
          </a:solidFill>
          <a:ln/>
        </p:spPr>
      </p:sp>
      <p:sp>
        <p:nvSpPr>
          <p:cNvPr id="17" name="Shape 11"/>
          <p:cNvSpPr/>
          <p:nvPr/>
        </p:nvSpPr>
        <p:spPr>
          <a:xfrm>
            <a:off x="6931152" y="1207008"/>
            <a:ext cx="411480" cy="41148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7034022" y="1309878"/>
            <a:ext cx="205740" cy="205740"/>
          </a:xfrm>
          <a:prstGeom prst="rect">
            <a:avLst/>
          </a:prstGeom>
        </p:spPr>
      </p:pic>
      <p:sp>
        <p:nvSpPr>
          <p:cNvPr id="19" name="Text 12"/>
          <p:cNvSpPr txBox="1"/>
          <p:nvPr/>
        </p:nvSpPr>
        <p:spPr>
          <a:xfrm>
            <a:off x="6931152" y="1719072"/>
            <a:ext cx="1691640" cy="365760"/>
          </a:xfrm>
          <a:prstGeom prst="rect">
            <a:avLst/>
          </a:prstGeom>
          <a:noFill/>
          <a:ln/>
        </p:spPr>
        <p:txBody>
          <a:bodyPr wrap="square" lIns="0" tIns="0" rIns="0" bIns="0" rtlCol="0" anchor="t"/>
          <a:lstStyle/>
          <a:p>
            <a:pPr indent="0" marL="0">
              <a:buNone/>
            </a:pPr>
            <a:r>
              <a:rPr lang="en-US" sz="1400" b="1" dirty="0">
                <a:solidFill>
                  <a:schemeClr val="tx1"/>
                </a:solidFill>
              </a:rPr>
              <a:t>Stock Availability</a:t>
            </a:r>
            <a:endParaRPr lang="en-US" sz="1400" dirty="0"/>
          </a:p>
        </p:txBody>
      </p:sp>
      <p:sp>
        <p:nvSpPr>
          <p:cNvPr id="20" name="Shape 13"/>
          <p:cNvSpPr/>
          <p:nvPr/>
        </p:nvSpPr>
        <p:spPr>
          <a:xfrm>
            <a:off x="457200" y="2286000"/>
            <a:ext cx="1920240" cy="1051560"/>
          </a:xfrm>
          <a:prstGeom prst="roundRect">
            <a:avLst>
              <a:gd name="adj" fmla="val 10435"/>
            </a:avLst>
          </a:prstGeom>
          <a:solidFill>
            <a:schemeClr val="bg2"/>
          </a:solidFill>
          <a:ln/>
        </p:spPr>
      </p:sp>
      <p:sp>
        <p:nvSpPr>
          <p:cNvPr id="21" name="Shape 14"/>
          <p:cNvSpPr/>
          <p:nvPr/>
        </p:nvSpPr>
        <p:spPr>
          <a:xfrm>
            <a:off x="621792" y="2395728"/>
            <a:ext cx="411480" cy="41148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724662" y="2498598"/>
            <a:ext cx="205740" cy="205740"/>
          </a:xfrm>
          <a:prstGeom prst="rect">
            <a:avLst/>
          </a:prstGeom>
        </p:spPr>
      </p:pic>
      <p:sp>
        <p:nvSpPr>
          <p:cNvPr id="23" name="Text 15"/>
          <p:cNvSpPr txBox="1"/>
          <p:nvPr/>
        </p:nvSpPr>
        <p:spPr>
          <a:xfrm>
            <a:off x="621792" y="2907792"/>
            <a:ext cx="1691640" cy="365760"/>
          </a:xfrm>
          <a:prstGeom prst="rect">
            <a:avLst/>
          </a:prstGeom>
          <a:noFill/>
          <a:ln/>
        </p:spPr>
        <p:txBody>
          <a:bodyPr wrap="square" lIns="0" tIns="0" rIns="0" bIns="0" rtlCol="0" anchor="t"/>
          <a:lstStyle/>
          <a:p>
            <a:pPr indent="0" marL="0">
              <a:buNone/>
            </a:pPr>
            <a:r>
              <a:rPr lang="en-US" sz="1400" b="1" dirty="0">
                <a:solidFill>
                  <a:schemeClr val="tx1"/>
                </a:solidFill>
              </a:rPr>
              <a:t>Conversation Memory</a:t>
            </a:r>
            <a:endParaRPr lang="en-US" sz="1400" dirty="0"/>
          </a:p>
        </p:txBody>
      </p:sp>
      <p:sp>
        <p:nvSpPr>
          <p:cNvPr id="24" name="Shape 16"/>
          <p:cNvSpPr/>
          <p:nvPr/>
        </p:nvSpPr>
        <p:spPr>
          <a:xfrm>
            <a:off x="2560320" y="2286000"/>
            <a:ext cx="1920240" cy="1051560"/>
          </a:xfrm>
          <a:prstGeom prst="roundRect">
            <a:avLst>
              <a:gd name="adj" fmla="val 10435"/>
            </a:avLst>
          </a:prstGeom>
          <a:solidFill>
            <a:schemeClr val="bg2"/>
          </a:solidFill>
          <a:ln/>
        </p:spPr>
      </p:sp>
      <p:sp>
        <p:nvSpPr>
          <p:cNvPr id="25" name="Shape 17"/>
          <p:cNvSpPr/>
          <p:nvPr/>
        </p:nvSpPr>
        <p:spPr>
          <a:xfrm>
            <a:off x="2724912" y="2395728"/>
            <a:ext cx="411480" cy="411480"/>
          </a:xfrm>
          <a:prstGeom prst="ellipse">
            <a:avLst/>
          </a:prstGeom>
          <a:solidFill>
            <a:schemeClr val="accent1"/>
          </a:solidFill>
          <a:ln/>
        </p:spPr>
      </p:sp>
      <p:pic>
        <p:nvPicPr>
          <p:cNvPr id="26" name="Image 5" descr="preencoded.png">    </p:cNvPr>
          <p:cNvPicPr>
            <a:picLocks noChangeAspect="1"/>
          </p:cNvPicPr>
          <p:nvPr/>
        </p:nvPicPr>
        <p:blipFill>
          <a:blip r:embed="rId6"/>
          <a:stretch>
            <a:fillRect/>
          </a:stretch>
        </p:blipFill>
        <p:spPr>
          <a:xfrm>
            <a:off x="2827782" y="2498598"/>
            <a:ext cx="205740" cy="205740"/>
          </a:xfrm>
          <a:prstGeom prst="rect">
            <a:avLst/>
          </a:prstGeom>
        </p:spPr>
      </p:pic>
      <p:sp>
        <p:nvSpPr>
          <p:cNvPr id="27" name="Text 18"/>
          <p:cNvSpPr txBox="1"/>
          <p:nvPr/>
        </p:nvSpPr>
        <p:spPr>
          <a:xfrm>
            <a:off x="2724912" y="2907792"/>
            <a:ext cx="1691640" cy="365760"/>
          </a:xfrm>
          <a:prstGeom prst="rect">
            <a:avLst/>
          </a:prstGeom>
          <a:noFill/>
          <a:ln/>
        </p:spPr>
        <p:txBody>
          <a:bodyPr wrap="square" lIns="0" tIns="0" rIns="0" bIns="0" rtlCol="0" anchor="t"/>
          <a:lstStyle/>
          <a:p>
            <a:pPr indent="0" marL="0">
              <a:buNone/>
            </a:pPr>
            <a:r>
              <a:rPr lang="en-US" sz="1400" b="1" dirty="0">
                <a:solidFill>
                  <a:schemeClr val="tx1"/>
                </a:solidFill>
              </a:rPr>
              <a:t>Fast Search</a:t>
            </a:r>
            <a:endParaRPr lang="en-US" sz="1400" dirty="0"/>
          </a:p>
        </p:txBody>
      </p:sp>
      <p:sp>
        <p:nvSpPr>
          <p:cNvPr id="28" name="Shape 19"/>
          <p:cNvSpPr/>
          <p:nvPr/>
        </p:nvSpPr>
        <p:spPr>
          <a:xfrm>
            <a:off x="4663440" y="2286000"/>
            <a:ext cx="1920240" cy="1051560"/>
          </a:xfrm>
          <a:prstGeom prst="roundRect">
            <a:avLst>
              <a:gd name="adj" fmla="val 10435"/>
            </a:avLst>
          </a:prstGeom>
          <a:solidFill>
            <a:schemeClr val="bg2"/>
          </a:solidFill>
          <a:ln/>
        </p:spPr>
      </p:sp>
      <p:sp>
        <p:nvSpPr>
          <p:cNvPr id="29" name="Shape 20"/>
          <p:cNvSpPr/>
          <p:nvPr/>
        </p:nvSpPr>
        <p:spPr>
          <a:xfrm>
            <a:off x="4828032" y="2395728"/>
            <a:ext cx="411480" cy="411480"/>
          </a:xfrm>
          <a:prstGeom prst="ellipse">
            <a:avLst/>
          </a:prstGeom>
          <a:solidFill>
            <a:schemeClr val="accent1"/>
          </a:solidFill>
          <a:ln/>
        </p:spPr>
      </p:sp>
      <p:pic>
        <p:nvPicPr>
          <p:cNvPr id="30" name="Image 6" descr="preencoded.png">    </p:cNvPr>
          <p:cNvPicPr>
            <a:picLocks noChangeAspect="1"/>
          </p:cNvPicPr>
          <p:nvPr/>
        </p:nvPicPr>
        <p:blipFill>
          <a:blip r:embed="rId7"/>
          <a:stretch>
            <a:fillRect/>
          </a:stretch>
        </p:blipFill>
        <p:spPr>
          <a:xfrm>
            <a:off x="4930902" y="2498598"/>
            <a:ext cx="205740" cy="205740"/>
          </a:xfrm>
          <a:prstGeom prst="rect">
            <a:avLst/>
          </a:prstGeom>
        </p:spPr>
      </p:pic>
      <p:sp>
        <p:nvSpPr>
          <p:cNvPr id="31" name="Text 21"/>
          <p:cNvSpPr txBox="1"/>
          <p:nvPr/>
        </p:nvSpPr>
        <p:spPr>
          <a:xfrm>
            <a:off x="4828032" y="2907792"/>
            <a:ext cx="1691640" cy="365760"/>
          </a:xfrm>
          <a:prstGeom prst="rect">
            <a:avLst/>
          </a:prstGeom>
          <a:noFill/>
          <a:ln/>
        </p:spPr>
        <p:txBody>
          <a:bodyPr wrap="square" lIns="0" tIns="0" rIns="0" bIns="0" rtlCol="0" anchor="t"/>
          <a:lstStyle/>
          <a:p>
            <a:pPr indent="0" marL="0">
              <a:buNone/>
            </a:pPr>
            <a:r>
              <a:rPr lang="en-US" sz="1400" b="1" dirty="0">
                <a:solidFill>
                  <a:schemeClr val="tx1"/>
                </a:solidFill>
              </a:rPr>
              <a:t>Semantic Search</a:t>
            </a:r>
            <a:endParaRPr lang="en-US" sz="1400" dirty="0"/>
          </a:p>
        </p:txBody>
      </p:sp>
      <p:sp>
        <p:nvSpPr>
          <p:cNvPr id="32" name="Shape 22"/>
          <p:cNvSpPr/>
          <p:nvPr/>
        </p:nvSpPr>
        <p:spPr>
          <a:xfrm>
            <a:off x="6766560" y="2286000"/>
            <a:ext cx="1920240" cy="1051560"/>
          </a:xfrm>
          <a:prstGeom prst="roundRect">
            <a:avLst>
              <a:gd name="adj" fmla="val 10435"/>
            </a:avLst>
          </a:prstGeom>
          <a:solidFill>
            <a:schemeClr val="bg2"/>
          </a:solidFill>
          <a:ln/>
        </p:spPr>
      </p:sp>
      <p:sp>
        <p:nvSpPr>
          <p:cNvPr id="33" name="Shape 23"/>
          <p:cNvSpPr/>
          <p:nvPr/>
        </p:nvSpPr>
        <p:spPr>
          <a:xfrm>
            <a:off x="6931152" y="2395728"/>
            <a:ext cx="411480" cy="411480"/>
          </a:xfrm>
          <a:prstGeom prst="ellipse">
            <a:avLst/>
          </a:prstGeom>
          <a:solidFill>
            <a:schemeClr val="accent1"/>
          </a:solidFill>
          <a:ln/>
        </p:spPr>
      </p:sp>
      <p:pic>
        <p:nvPicPr>
          <p:cNvPr id="34" name="Image 7" descr="preencoded.png">    </p:cNvPr>
          <p:cNvPicPr>
            <a:picLocks noChangeAspect="1"/>
          </p:cNvPicPr>
          <p:nvPr/>
        </p:nvPicPr>
        <p:blipFill>
          <a:blip r:embed="rId8"/>
          <a:stretch>
            <a:fillRect/>
          </a:stretch>
        </p:blipFill>
        <p:spPr>
          <a:xfrm>
            <a:off x="7034022" y="2498598"/>
            <a:ext cx="205740" cy="205740"/>
          </a:xfrm>
          <a:prstGeom prst="rect">
            <a:avLst/>
          </a:prstGeom>
        </p:spPr>
      </p:pic>
      <p:sp>
        <p:nvSpPr>
          <p:cNvPr id="35" name="Text 24"/>
          <p:cNvSpPr txBox="1"/>
          <p:nvPr/>
        </p:nvSpPr>
        <p:spPr>
          <a:xfrm>
            <a:off x="6931152" y="2907792"/>
            <a:ext cx="1691640" cy="365760"/>
          </a:xfrm>
          <a:prstGeom prst="rect">
            <a:avLst/>
          </a:prstGeom>
          <a:noFill/>
          <a:ln/>
        </p:spPr>
        <p:txBody>
          <a:bodyPr wrap="square" lIns="0" tIns="0" rIns="0" bIns="0" rtlCol="0" anchor="t"/>
          <a:lstStyle/>
          <a:p>
            <a:pPr indent="0" marL="0">
              <a:buNone/>
            </a:pPr>
            <a:r>
              <a:rPr lang="en-US" sz="1400" b="1" dirty="0">
                <a:solidFill>
                  <a:schemeClr val="tx1"/>
                </a:solidFill>
              </a:rPr>
              <a:t>Responsive UI</a:t>
            </a:r>
            <a:endParaRPr lang="en-US" sz="1400" dirty="0"/>
          </a:p>
        </p:txBody>
      </p:sp>
      <p:sp>
        <p:nvSpPr>
          <p:cNvPr id="36" name="Shape 25"/>
          <p:cNvSpPr/>
          <p:nvPr/>
        </p:nvSpPr>
        <p:spPr>
          <a:xfrm>
            <a:off x="457200" y="3474720"/>
            <a:ext cx="1920240" cy="1051560"/>
          </a:xfrm>
          <a:prstGeom prst="roundRect">
            <a:avLst>
              <a:gd name="adj" fmla="val 10435"/>
            </a:avLst>
          </a:prstGeom>
          <a:solidFill>
            <a:schemeClr val="bg2"/>
          </a:solidFill>
          <a:ln/>
        </p:spPr>
      </p:sp>
      <p:sp>
        <p:nvSpPr>
          <p:cNvPr id="37" name="Shape 26"/>
          <p:cNvSpPr/>
          <p:nvPr/>
        </p:nvSpPr>
        <p:spPr>
          <a:xfrm>
            <a:off x="621792" y="3584448"/>
            <a:ext cx="411480" cy="411480"/>
          </a:xfrm>
          <a:prstGeom prst="ellipse">
            <a:avLst/>
          </a:prstGeom>
          <a:solidFill>
            <a:schemeClr val="accent1"/>
          </a:solidFill>
          <a:ln/>
        </p:spPr>
      </p:sp>
      <p:pic>
        <p:nvPicPr>
          <p:cNvPr id="38" name="Image 8" descr="preencoded.png">    </p:cNvPr>
          <p:cNvPicPr>
            <a:picLocks noChangeAspect="1"/>
          </p:cNvPicPr>
          <p:nvPr/>
        </p:nvPicPr>
        <p:blipFill>
          <a:blip r:embed="rId9"/>
          <a:stretch>
            <a:fillRect/>
          </a:stretch>
        </p:blipFill>
        <p:spPr>
          <a:xfrm>
            <a:off x="724662" y="3687318"/>
            <a:ext cx="205740" cy="205740"/>
          </a:xfrm>
          <a:prstGeom prst="rect">
            <a:avLst/>
          </a:prstGeom>
        </p:spPr>
      </p:pic>
      <p:sp>
        <p:nvSpPr>
          <p:cNvPr id="39" name="Text 27"/>
          <p:cNvSpPr txBox="1"/>
          <p:nvPr/>
        </p:nvSpPr>
        <p:spPr>
          <a:xfrm>
            <a:off x="621792" y="4096512"/>
            <a:ext cx="1691640" cy="365760"/>
          </a:xfrm>
          <a:prstGeom prst="rect">
            <a:avLst/>
          </a:prstGeom>
          <a:noFill/>
          <a:ln/>
        </p:spPr>
        <p:txBody>
          <a:bodyPr wrap="square" lIns="0" tIns="0" rIns="0" bIns="0" rtlCol="0" anchor="t"/>
          <a:lstStyle/>
          <a:p>
            <a:pPr indent="0" marL="0">
              <a:buNone/>
            </a:pPr>
            <a:r>
              <a:rPr lang="en-US" sz="1400" b="1" dirty="0">
                <a:solidFill>
                  <a:schemeClr val="tx1"/>
                </a:solidFill>
              </a:rPr>
              <a:t>Dark Mode</a:t>
            </a:r>
            <a:endParaRPr lang="en-US" sz="1400" dirty="0"/>
          </a:p>
        </p:txBody>
      </p:sp>
      <p:sp>
        <p:nvSpPr>
          <p:cNvPr id="40" name="Shape 28"/>
          <p:cNvSpPr/>
          <p:nvPr/>
        </p:nvSpPr>
        <p:spPr>
          <a:xfrm>
            <a:off x="2560320" y="3474720"/>
            <a:ext cx="1920240" cy="1051560"/>
          </a:xfrm>
          <a:prstGeom prst="roundRect">
            <a:avLst>
              <a:gd name="adj" fmla="val 10435"/>
            </a:avLst>
          </a:prstGeom>
          <a:solidFill>
            <a:schemeClr val="bg2"/>
          </a:solidFill>
          <a:ln/>
        </p:spPr>
      </p:sp>
      <p:sp>
        <p:nvSpPr>
          <p:cNvPr id="41" name="Shape 29"/>
          <p:cNvSpPr/>
          <p:nvPr/>
        </p:nvSpPr>
        <p:spPr>
          <a:xfrm>
            <a:off x="2724912" y="3584448"/>
            <a:ext cx="411480" cy="411480"/>
          </a:xfrm>
          <a:prstGeom prst="ellipse">
            <a:avLst/>
          </a:prstGeom>
          <a:solidFill>
            <a:schemeClr val="accent1"/>
          </a:solidFill>
          <a:ln/>
        </p:spPr>
      </p:sp>
      <p:pic>
        <p:nvPicPr>
          <p:cNvPr id="42" name="Image 9" descr="preencoded.png">    </p:cNvPr>
          <p:cNvPicPr>
            <a:picLocks noChangeAspect="1"/>
          </p:cNvPicPr>
          <p:nvPr/>
        </p:nvPicPr>
        <p:blipFill>
          <a:blip r:embed="rId10"/>
          <a:stretch>
            <a:fillRect/>
          </a:stretch>
        </p:blipFill>
        <p:spPr>
          <a:xfrm>
            <a:off x="2827782" y="3687318"/>
            <a:ext cx="205740" cy="205740"/>
          </a:xfrm>
          <a:prstGeom prst="rect">
            <a:avLst/>
          </a:prstGeom>
        </p:spPr>
      </p:pic>
      <p:sp>
        <p:nvSpPr>
          <p:cNvPr id="43" name="Text 30"/>
          <p:cNvSpPr txBox="1"/>
          <p:nvPr/>
        </p:nvSpPr>
        <p:spPr>
          <a:xfrm>
            <a:off x="2724912" y="4096512"/>
            <a:ext cx="1691640" cy="365760"/>
          </a:xfrm>
          <a:prstGeom prst="rect">
            <a:avLst/>
          </a:prstGeom>
          <a:noFill/>
          <a:ln/>
        </p:spPr>
        <p:txBody>
          <a:bodyPr wrap="square" lIns="0" tIns="0" rIns="0" bIns="0" rtlCol="0" anchor="t"/>
          <a:lstStyle/>
          <a:p>
            <a:pPr indent="0" marL="0">
              <a:buNone/>
            </a:pPr>
            <a:r>
              <a:rPr lang="en-US" sz="1400" b="1" dirty="0">
                <a:solidFill>
                  <a:schemeClr val="tx1"/>
                </a:solidFill>
              </a:rPr>
              <a:t>Export Chat</a:t>
            </a:r>
            <a:endParaRPr lang="en-US" sz="1400" dirty="0"/>
          </a:p>
        </p:txBody>
      </p:sp>
      <p:sp>
        <p:nvSpPr>
          <p:cNvPr id="44" name="Shape 31"/>
          <p:cNvSpPr/>
          <p:nvPr/>
        </p:nvSpPr>
        <p:spPr>
          <a:xfrm>
            <a:off x="4663440" y="3474720"/>
            <a:ext cx="1920240" cy="1051560"/>
          </a:xfrm>
          <a:prstGeom prst="roundRect">
            <a:avLst>
              <a:gd name="adj" fmla="val 10435"/>
            </a:avLst>
          </a:prstGeom>
          <a:solidFill>
            <a:schemeClr val="bg2"/>
          </a:solidFill>
          <a:ln/>
        </p:spPr>
      </p:sp>
      <p:sp>
        <p:nvSpPr>
          <p:cNvPr id="45" name="Shape 32"/>
          <p:cNvSpPr/>
          <p:nvPr/>
        </p:nvSpPr>
        <p:spPr>
          <a:xfrm>
            <a:off x="4828032" y="3584448"/>
            <a:ext cx="411480" cy="411480"/>
          </a:xfrm>
          <a:prstGeom prst="ellipse">
            <a:avLst/>
          </a:prstGeom>
          <a:solidFill>
            <a:schemeClr val="accent1"/>
          </a:solidFill>
          <a:ln/>
        </p:spPr>
      </p:sp>
      <p:pic>
        <p:nvPicPr>
          <p:cNvPr id="46" name="Image 10" descr="preencoded.png">    </p:cNvPr>
          <p:cNvPicPr>
            <a:picLocks noChangeAspect="1"/>
          </p:cNvPicPr>
          <p:nvPr/>
        </p:nvPicPr>
        <p:blipFill>
          <a:blip r:embed="rId11"/>
          <a:stretch>
            <a:fillRect/>
          </a:stretch>
        </p:blipFill>
        <p:spPr>
          <a:xfrm>
            <a:off x="4930902" y="3687318"/>
            <a:ext cx="205740" cy="205740"/>
          </a:xfrm>
          <a:prstGeom prst="rect">
            <a:avLst/>
          </a:prstGeom>
        </p:spPr>
      </p:pic>
      <p:sp>
        <p:nvSpPr>
          <p:cNvPr id="47" name="Text 33"/>
          <p:cNvSpPr txBox="1"/>
          <p:nvPr/>
        </p:nvSpPr>
        <p:spPr>
          <a:xfrm>
            <a:off x="4828032" y="4096512"/>
            <a:ext cx="1691640" cy="365760"/>
          </a:xfrm>
          <a:prstGeom prst="rect">
            <a:avLst/>
          </a:prstGeom>
          <a:noFill/>
          <a:ln/>
        </p:spPr>
        <p:txBody>
          <a:bodyPr wrap="square" lIns="0" tIns="0" rIns="0" bIns="0" rtlCol="0" anchor="t"/>
          <a:lstStyle/>
          <a:p>
            <a:pPr indent="0" marL="0">
              <a:buNone/>
            </a:pPr>
            <a:r>
              <a:rPr lang="en-US" sz="1400" b="1" dirty="0">
                <a:solidFill>
                  <a:schemeClr val="tx1"/>
                </a:solidFill>
              </a:rPr>
              <a:t>Voice Input</a:t>
            </a:r>
            <a:endParaRPr lang="en-US" sz="1400" dirty="0"/>
          </a:p>
        </p:txBody>
      </p:sp>
      <p:sp>
        <p:nvSpPr>
          <p:cNvPr id="48" name="Shape 34"/>
          <p:cNvSpPr/>
          <p:nvPr/>
        </p:nvSpPr>
        <p:spPr>
          <a:xfrm>
            <a:off x="6766560" y="3474720"/>
            <a:ext cx="1920240" cy="1051560"/>
          </a:xfrm>
          <a:prstGeom prst="roundRect">
            <a:avLst>
              <a:gd name="adj" fmla="val 10435"/>
            </a:avLst>
          </a:prstGeom>
          <a:solidFill>
            <a:schemeClr val="accent1"/>
          </a:solidFill>
          <a:ln/>
        </p:spPr>
      </p:sp>
      <p:sp>
        <p:nvSpPr>
          <p:cNvPr id="49" name="Text 35"/>
          <p:cNvSpPr txBox="1"/>
          <p:nvPr/>
        </p:nvSpPr>
        <p:spPr>
          <a:xfrm>
            <a:off x="6766560" y="3547872"/>
            <a:ext cx="1737360" cy="5029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11</a:t>
            </a:r>
            <a:endParaRPr lang="en-US" sz="3400" dirty="0"/>
          </a:p>
        </p:txBody>
      </p:sp>
      <p:sp>
        <p:nvSpPr>
          <p:cNvPr id="50" name="Text 36"/>
          <p:cNvSpPr txBox="1"/>
          <p:nvPr/>
        </p:nvSpPr>
        <p:spPr>
          <a:xfrm>
            <a:off x="6766560" y="4069080"/>
            <a:ext cx="1737360" cy="274320"/>
          </a:xfrm>
          <a:prstGeom prst="rect">
            <a:avLst/>
          </a:prstGeom>
          <a:noFill/>
          <a:ln/>
        </p:spPr>
        <p:txBody>
          <a:bodyPr wrap="square" lIns="0" tIns="0" rIns="0" bIns="0" rtlCol="0" anchor="t"/>
          <a:lstStyle/>
          <a:p>
            <a:pPr indent="0" marL="0">
              <a:buNone/>
            </a:pPr>
            <a:r>
              <a:rPr lang="en-US" sz="1400" b="1" dirty="0">
                <a:solidFill>
                  <a:schemeClr val="bg1"/>
                </a:solidFill>
              </a:rPr>
              <a:t>Core features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Results: Expected Outputs</a:t>
            </a:r>
            <a:endParaRPr lang="en-US" sz="3000" dirty="0"/>
          </a:p>
        </p:txBody>
      </p:sp>
      <p:sp>
        <p:nvSpPr>
          <p:cNvPr id="4" name="Shape 1"/>
          <p:cNvSpPr/>
          <p:nvPr/>
        </p:nvSpPr>
        <p:spPr>
          <a:xfrm>
            <a:off x="457200" y="1097280"/>
            <a:ext cx="1920240" cy="2651760"/>
          </a:xfrm>
          <a:prstGeom prst="roundRect">
            <a:avLst>
              <a:gd name="adj" fmla="val 5714"/>
            </a:avLst>
          </a:prstGeom>
          <a:solidFill>
            <a:schemeClr val="bg2"/>
          </a:solidFill>
          <a:ln/>
        </p:spPr>
      </p:sp>
      <p:sp>
        <p:nvSpPr>
          <p:cNvPr id="5" name="Shape 2"/>
          <p:cNvSpPr/>
          <p:nvPr/>
        </p:nvSpPr>
        <p:spPr>
          <a:xfrm>
            <a:off x="594360" y="1188720"/>
            <a:ext cx="384048" cy="38404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90372" y="1284732"/>
            <a:ext cx="192024" cy="192024"/>
          </a:xfrm>
          <a:prstGeom prst="rect">
            <a:avLst/>
          </a:prstGeom>
        </p:spPr>
      </p:pic>
      <p:sp>
        <p:nvSpPr>
          <p:cNvPr id="7" name="Text 3"/>
          <p:cNvSpPr txBox="1"/>
          <p:nvPr/>
        </p:nvSpPr>
        <p:spPr>
          <a:xfrm>
            <a:off x="1097280" y="1188720"/>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Medicine Card</a:t>
            </a:r>
            <a:endParaRPr lang="en-US" sz="1400" dirty="0"/>
          </a:p>
        </p:txBody>
      </p:sp>
      <p:sp>
        <p:nvSpPr>
          <p:cNvPr id="8" name="Shape 4"/>
          <p:cNvSpPr/>
          <p:nvPr/>
        </p:nvSpPr>
        <p:spPr>
          <a:xfrm>
            <a:off x="594360" y="1737360"/>
            <a:ext cx="1645920" cy="1874520"/>
          </a:xfrm>
          <a:prstGeom prst="roundRect">
            <a:avLst>
              <a:gd name="adj" fmla="val 4444"/>
            </a:avLst>
          </a:prstGeom>
          <a:solidFill>
            <a:schemeClr val="bg1"/>
          </a:solidFill>
          <a:ln/>
        </p:spPr>
      </p:sp>
      <p:sp>
        <p:nvSpPr>
          <p:cNvPr id="9" name="Text 5"/>
          <p:cNvSpPr txBox="1"/>
          <p:nvPr/>
        </p:nvSpPr>
        <p:spPr>
          <a:xfrm>
            <a:off x="731520" y="1874520"/>
            <a:ext cx="1417320" cy="16459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Paracetamol</a:t>
            </a:r>
            <a:endParaRPr lang="en-US" sz="1400" dirty="0"/>
          </a:p>
          <a:p>
            <a:pPr indent="0" marL="0">
              <a:spcAft>
                <a:spcPts val="600"/>
              </a:spcAft>
              <a:buNone/>
            </a:pPr>
            <a:r>
              <a:rPr lang="en-US" sz="1400" dirty="0">
                <a:solidFill>
                  <a:schemeClr val="tx1"/>
                </a:solidFill>
              </a:rPr>
              <a:t>500 mg</a:t>
            </a:r>
            <a:endParaRPr lang="en-US" sz="1400" dirty="0"/>
          </a:p>
          <a:p>
            <a:pPr indent="0" marL="0">
              <a:spcAft>
                <a:spcPts val="600"/>
              </a:spcAft>
              <a:buNone/>
            </a:pPr>
            <a:r>
              <a:rPr lang="en-US" sz="1400" dirty="0">
                <a:solidFill>
                  <a:schemeClr val="tx1"/>
                </a:solidFill>
              </a:rPr>
              <a:t>Fever, mild pain</a:t>
            </a:r>
            <a:endParaRPr lang="en-US" sz="1400" dirty="0"/>
          </a:p>
          <a:p>
            <a:pPr indent="0" marL="0">
              <a:spcAft>
                <a:spcPts val="600"/>
              </a:spcAft>
              <a:buNone/>
            </a:pPr>
            <a:r>
              <a:rPr lang="en-US" sz="1400" dirty="0">
                <a:solidFill>
                  <a:schemeClr val="tx1"/>
                </a:solidFill>
              </a:rPr>
              <a:t>Stock: 120</a:t>
            </a:r>
            <a:endParaRPr lang="en-US" sz="1400" dirty="0"/>
          </a:p>
        </p:txBody>
      </p:sp>
      <p:sp>
        <p:nvSpPr>
          <p:cNvPr id="10" name="Shape 6"/>
          <p:cNvSpPr/>
          <p:nvPr/>
        </p:nvSpPr>
        <p:spPr>
          <a:xfrm>
            <a:off x="2560320" y="1097280"/>
            <a:ext cx="1920240" cy="2651760"/>
          </a:xfrm>
          <a:prstGeom prst="roundRect">
            <a:avLst>
              <a:gd name="adj" fmla="val 5714"/>
            </a:avLst>
          </a:prstGeom>
          <a:solidFill>
            <a:schemeClr val="bg2"/>
          </a:solidFill>
          <a:ln/>
        </p:spPr>
      </p:sp>
      <p:sp>
        <p:nvSpPr>
          <p:cNvPr id="11" name="Shape 7"/>
          <p:cNvSpPr/>
          <p:nvPr/>
        </p:nvSpPr>
        <p:spPr>
          <a:xfrm>
            <a:off x="2697480" y="1188720"/>
            <a:ext cx="384048" cy="384048"/>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2793492" y="1284732"/>
            <a:ext cx="192024" cy="192024"/>
          </a:xfrm>
          <a:prstGeom prst="rect">
            <a:avLst/>
          </a:prstGeom>
        </p:spPr>
      </p:pic>
      <p:sp>
        <p:nvSpPr>
          <p:cNvPr id="13" name="Text 8"/>
          <p:cNvSpPr txBox="1"/>
          <p:nvPr/>
        </p:nvSpPr>
        <p:spPr>
          <a:xfrm>
            <a:off x="3200400" y="1188720"/>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Chat Response</a:t>
            </a:r>
            <a:endParaRPr lang="en-US" sz="1400" dirty="0"/>
          </a:p>
        </p:txBody>
      </p:sp>
      <p:sp>
        <p:nvSpPr>
          <p:cNvPr id="14" name="Shape 9"/>
          <p:cNvSpPr/>
          <p:nvPr/>
        </p:nvSpPr>
        <p:spPr>
          <a:xfrm>
            <a:off x="2697480" y="1737360"/>
            <a:ext cx="1645920" cy="594360"/>
          </a:xfrm>
          <a:prstGeom prst="roundRect">
            <a:avLst>
              <a:gd name="adj" fmla="val 18462"/>
            </a:avLst>
          </a:prstGeom>
          <a:solidFill>
            <a:schemeClr val="accent1"/>
          </a:solidFill>
          <a:ln/>
        </p:spPr>
      </p:sp>
      <p:sp>
        <p:nvSpPr>
          <p:cNvPr id="15" name="Text 10"/>
          <p:cNvSpPr txBox="1"/>
          <p:nvPr/>
        </p:nvSpPr>
        <p:spPr>
          <a:xfrm>
            <a:off x="2788920" y="1737360"/>
            <a:ext cx="1463040" cy="594360"/>
          </a:xfrm>
          <a:prstGeom prst="rect">
            <a:avLst/>
          </a:prstGeom>
          <a:noFill/>
          <a:ln/>
        </p:spPr>
        <p:txBody>
          <a:bodyPr wrap="square" lIns="0" tIns="0" rIns="0" bIns="0" rtlCol="0" anchor="ctr"/>
          <a:lstStyle/>
          <a:p>
            <a:pPr indent="0" marL="0">
              <a:buNone/>
            </a:pPr>
            <a:r>
              <a:rPr lang="en-US" sz="1400" dirty="0">
                <a:solidFill>
                  <a:schemeClr val="bg1"/>
                </a:solidFill>
              </a:rPr>
              <a:t>Alternative for Paracetamol?</a:t>
            </a:r>
            <a:endParaRPr lang="en-US" sz="1400" dirty="0"/>
          </a:p>
        </p:txBody>
      </p:sp>
      <p:sp>
        <p:nvSpPr>
          <p:cNvPr id="16" name="Shape 11"/>
          <p:cNvSpPr/>
          <p:nvPr/>
        </p:nvSpPr>
        <p:spPr>
          <a:xfrm>
            <a:off x="2697480" y="2468880"/>
            <a:ext cx="1645920" cy="1143000"/>
          </a:xfrm>
          <a:prstGeom prst="roundRect">
            <a:avLst>
              <a:gd name="adj" fmla="val 9600"/>
            </a:avLst>
          </a:prstGeom>
          <a:solidFill>
            <a:schemeClr val="bg1"/>
          </a:solidFill>
          <a:ln/>
        </p:spPr>
      </p:sp>
      <p:sp>
        <p:nvSpPr>
          <p:cNvPr id="17" name="Text 12"/>
          <p:cNvSpPr txBox="1"/>
          <p:nvPr/>
        </p:nvSpPr>
        <p:spPr>
          <a:xfrm>
            <a:off x="2788920" y="2468880"/>
            <a:ext cx="1463040" cy="1143000"/>
          </a:xfrm>
          <a:prstGeom prst="rect">
            <a:avLst/>
          </a:prstGeom>
          <a:noFill/>
          <a:ln/>
        </p:spPr>
        <p:txBody>
          <a:bodyPr wrap="square" lIns="0" tIns="0" rIns="0" bIns="0" rtlCol="0" anchor="ctr"/>
          <a:lstStyle/>
          <a:p>
            <a:pPr indent="0" marL="0">
              <a:buNone/>
            </a:pPr>
            <a:r>
              <a:rPr lang="en-US" sz="1400" dirty="0">
                <a:solidFill>
                  <a:schemeClr val="tx1"/>
                </a:solidFill>
              </a:rPr>
              <a:t>Ibuprofen 400 mg is an alternative; check with your doctor.</a:t>
            </a:r>
            <a:endParaRPr lang="en-US" sz="1400" dirty="0"/>
          </a:p>
        </p:txBody>
      </p:sp>
      <p:sp>
        <p:nvSpPr>
          <p:cNvPr id="18" name="Shape 13"/>
          <p:cNvSpPr/>
          <p:nvPr/>
        </p:nvSpPr>
        <p:spPr>
          <a:xfrm>
            <a:off x="4663440" y="1097280"/>
            <a:ext cx="1920240" cy="2651760"/>
          </a:xfrm>
          <a:prstGeom prst="roundRect">
            <a:avLst>
              <a:gd name="adj" fmla="val 5714"/>
            </a:avLst>
          </a:prstGeom>
          <a:solidFill>
            <a:schemeClr val="bg2"/>
          </a:solidFill>
          <a:ln/>
        </p:spPr>
      </p:sp>
      <p:sp>
        <p:nvSpPr>
          <p:cNvPr id="19" name="Shape 14"/>
          <p:cNvSpPr/>
          <p:nvPr/>
        </p:nvSpPr>
        <p:spPr>
          <a:xfrm>
            <a:off x="4800600" y="1188720"/>
            <a:ext cx="384048" cy="384048"/>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4896612" y="1284732"/>
            <a:ext cx="192024" cy="192024"/>
          </a:xfrm>
          <a:prstGeom prst="rect">
            <a:avLst/>
          </a:prstGeom>
        </p:spPr>
      </p:pic>
      <p:sp>
        <p:nvSpPr>
          <p:cNvPr id="21" name="Text 15"/>
          <p:cNvSpPr txBox="1"/>
          <p:nvPr/>
        </p:nvSpPr>
        <p:spPr>
          <a:xfrm>
            <a:off x="5303520" y="1188720"/>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Alternatives</a:t>
            </a:r>
            <a:endParaRPr lang="en-US" sz="1400" dirty="0"/>
          </a:p>
        </p:txBody>
      </p:sp>
      <p:sp>
        <p:nvSpPr>
          <p:cNvPr id="22" name="Shape 16"/>
          <p:cNvSpPr/>
          <p:nvPr/>
        </p:nvSpPr>
        <p:spPr>
          <a:xfrm>
            <a:off x="4800600" y="1737360"/>
            <a:ext cx="1645920" cy="530352"/>
          </a:xfrm>
          <a:prstGeom prst="roundRect">
            <a:avLst>
              <a:gd name="adj" fmla="val 20690"/>
            </a:avLst>
          </a:prstGeom>
          <a:solidFill>
            <a:schemeClr val="bg1"/>
          </a:solidFill>
          <a:ln/>
        </p:spPr>
      </p:sp>
      <p:sp>
        <p:nvSpPr>
          <p:cNvPr id="23" name="Text 17"/>
          <p:cNvSpPr txBox="1"/>
          <p:nvPr/>
        </p:nvSpPr>
        <p:spPr>
          <a:xfrm>
            <a:off x="4937760" y="1737360"/>
            <a:ext cx="1417320" cy="530352"/>
          </a:xfrm>
          <a:prstGeom prst="rect">
            <a:avLst/>
          </a:prstGeom>
          <a:noFill/>
          <a:ln/>
        </p:spPr>
        <p:txBody>
          <a:bodyPr wrap="square" lIns="0" tIns="0" rIns="0" bIns="0" rtlCol="0" anchor="ctr"/>
          <a:lstStyle/>
          <a:p>
            <a:pPr indent="0" marL="0">
              <a:buNone/>
            </a:pPr>
            <a:r>
              <a:rPr lang="en-US" sz="1400" b="1" dirty="0">
                <a:solidFill>
                  <a:schemeClr val="tx1"/>
                </a:solidFill>
              </a:rPr>
              <a:t>Ibuprofen</a:t>
            </a:r>
            <a:endParaRPr lang="en-US" sz="1400" dirty="0"/>
          </a:p>
        </p:txBody>
      </p:sp>
      <p:sp>
        <p:nvSpPr>
          <p:cNvPr id="24" name="Shape 18"/>
          <p:cNvSpPr/>
          <p:nvPr/>
        </p:nvSpPr>
        <p:spPr>
          <a:xfrm>
            <a:off x="4800600" y="2377440"/>
            <a:ext cx="1645920" cy="530352"/>
          </a:xfrm>
          <a:prstGeom prst="roundRect">
            <a:avLst>
              <a:gd name="adj" fmla="val 20690"/>
            </a:avLst>
          </a:prstGeom>
          <a:solidFill>
            <a:schemeClr val="bg1"/>
          </a:solidFill>
          <a:ln/>
        </p:spPr>
      </p:sp>
      <p:sp>
        <p:nvSpPr>
          <p:cNvPr id="25" name="Text 19"/>
          <p:cNvSpPr txBox="1"/>
          <p:nvPr/>
        </p:nvSpPr>
        <p:spPr>
          <a:xfrm>
            <a:off x="4937760" y="2377440"/>
            <a:ext cx="1417320" cy="530352"/>
          </a:xfrm>
          <a:prstGeom prst="rect">
            <a:avLst/>
          </a:prstGeom>
          <a:noFill/>
          <a:ln/>
        </p:spPr>
        <p:txBody>
          <a:bodyPr wrap="square" lIns="0" tIns="0" rIns="0" bIns="0" rtlCol="0" anchor="ctr"/>
          <a:lstStyle/>
          <a:p>
            <a:pPr indent="0" marL="0">
              <a:buNone/>
            </a:pPr>
            <a:r>
              <a:rPr lang="en-US" sz="1400" b="1" dirty="0">
                <a:solidFill>
                  <a:schemeClr val="tx1"/>
                </a:solidFill>
              </a:rPr>
              <a:t>Aspirin</a:t>
            </a:r>
            <a:endParaRPr lang="en-US" sz="1400" dirty="0"/>
          </a:p>
        </p:txBody>
      </p:sp>
      <p:sp>
        <p:nvSpPr>
          <p:cNvPr id="26" name="Shape 20"/>
          <p:cNvSpPr/>
          <p:nvPr/>
        </p:nvSpPr>
        <p:spPr>
          <a:xfrm>
            <a:off x="4800600" y="3017520"/>
            <a:ext cx="1645920" cy="530352"/>
          </a:xfrm>
          <a:prstGeom prst="roundRect">
            <a:avLst>
              <a:gd name="adj" fmla="val 20690"/>
            </a:avLst>
          </a:prstGeom>
          <a:solidFill>
            <a:schemeClr val="bg1"/>
          </a:solidFill>
          <a:ln/>
        </p:spPr>
      </p:sp>
      <p:sp>
        <p:nvSpPr>
          <p:cNvPr id="27" name="Text 21"/>
          <p:cNvSpPr txBox="1"/>
          <p:nvPr/>
        </p:nvSpPr>
        <p:spPr>
          <a:xfrm>
            <a:off x="4937760" y="3017520"/>
            <a:ext cx="1417320" cy="530352"/>
          </a:xfrm>
          <a:prstGeom prst="rect">
            <a:avLst/>
          </a:prstGeom>
          <a:noFill/>
          <a:ln/>
        </p:spPr>
        <p:txBody>
          <a:bodyPr wrap="square" lIns="0" tIns="0" rIns="0" bIns="0" rtlCol="0" anchor="ctr"/>
          <a:lstStyle/>
          <a:p>
            <a:pPr indent="0" marL="0">
              <a:buNone/>
            </a:pPr>
            <a:r>
              <a:rPr lang="en-US" sz="1400" b="1" dirty="0">
                <a:solidFill>
                  <a:schemeClr val="tx1"/>
                </a:solidFill>
              </a:rPr>
              <a:t>Diclofenac</a:t>
            </a:r>
            <a:endParaRPr lang="en-US" sz="1400" dirty="0"/>
          </a:p>
        </p:txBody>
      </p:sp>
      <p:sp>
        <p:nvSpPr>
          <p:cNvPr id="28" name="Shape 22"/>
          <p:cNvSpPr/>
          <p:nvPr/>
        </p:nvSpPr>
        <p:spPr>
          <a:xfrm>
            <a:off x="6766560" y="1097280"/>
            <a:ext cx="1920240" cy="2651760"/>
          </a:xfrm>
          <a:prstGeom prst="roundRect">
            <a:avLst>
              <a:gd name="adj" fmla="val 5714"/>
            </a:avLst>
          </a:prstGeom>
          <a:solidFill>
            <a:schemeClr val="bg2"/>
          </a:solidFill>
          <a:ln/>
        </p:spPr>
      </p:sp>
      <p:sp>
        <p:nvSpPr>
          <p:cNvPr id="29" name="Shape 23"/>
          <p:cNvSpPr/>
          <p:nvPr/>
        </p:nvSpPr>
        <p:spPr>
          <a:xfrm>
            <a:off x="6903720" y="1188720"/>
            <a:ext cx="384048" cy="384048"/>
          </a:xfrm>
          <a:prstGeom prst="ellipse">
            <a:avLst/>
          </a:prstGeom>
          <a:solidFill>
            <a:schemeClr val="accent1"/>
          </a:solidFill>
          <a:ln/>
        </p:spPr>
      </p:sp>
      <p:pic>
        <p:nvPicPr>
          <p:cNvPr id="30" name="Image 3" descr="preencoded.png">    </p:cNvPr>
          <p:cNvPicPr>
            <a:picLocks noChangeAspect="1"/>
          </p:cNvPicPr>
          <p:nvPr/>
        </p:nvPicPr>
        <p:blipFill>
          <a:blip r:embed="rId4"/>
          <a:stretch>
            <a:fillRect/>
          </a:stretch>
        </p:blipFill>
        <p:spPr>
          <a:xfrm>
            <a:off x="6999732" y="1284732"/>
            <a:ext cx="192024" cy="192024"/>
          </a:xfrm>
          <a:prstGeom prst="rect">
            <a:avLst/>
          </a:prstGeom>
        </p:spPr>
      </p:pic>
      <p:sp>
        <p:nvSpPr>
          <p:cNvPr id="31" name="Text 24"/>
          <p:cNvSpPr txBox="1"/>
          <p:nvPr/>
        </p:nvSpPr>
        <p:spPr>
          <a:xfrm>
            <a:off x="7406640" y="1188720"/>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Stock Status</a:t>
            </a:r>
            <a:endParaRPr lang="en-US" sz="1400" dirty="0"/>
          </a:p>
        </p:txBody>
      </p:sp>
      <p:sp>
        <p:nvSpPr>
          <p:cNvPr id="32" name="Shape 25"/>
          <p:cNvSpPr/>
          <p:nvPr/>
        </p:nvSpPr>
        <p:spPr>
          <a:xfrm>
            <a:off x="6903720" y="1737360"/>
            <a:ext cx="1645920" cy="530352"/>
          </a:xfrm>
          <a:prstGeom prst="roundRect">
            <a:avLst>
              <a:gd name="adj" fmla="val 20690"/>
            </a:avLst>
          </a:prstGeom>
          <a:solidFill>
            <a:schemeClr val="accent3"/>
          </a:solidFill>
          <a:ln/>
        </p:spPr>
      </p:sp>
      <p:sp>
        <p:nvSpPr>
          <p:cNvPr id="33" name="Text 26"/>
          <p:cNvSpPr txBox="1"/>
          <p:nvPr/>
        </p:nvSpPr>
        <p:spPr>
          <a:xfrm>
            <a:off x="6903720" y="1737360"/>
            <a:ext cx="1645920" cy="530352"/>
          </a:xfrm>
          <a:prstGeom prst="rect">
            <a:avLst/>
          </a:prstGeom>
          <a:noFill/>
          <a:ln/>
        </p:spPr>
        <p:txBody>
          <a:bodyPr wrap="square" lIns="0" tIns="0" rIns="0" bIns="0" rtlCol="0" anchor="ctr"/>
          <a:lstStyle/>
          <a:p>
            <a:pPr algn="ctr" indent="0" marL="0">
              <a:buNone/>
            </a:pPr>
            <a:r>
              <a:rPr lang="en-US" sz="1400" b="1" dirty="0">
                <a:solidFill>
                  <a:schemeClr val="bg1"/>
                </a:solidFill>
              </a:rPr>
              <a:t>In Stock</a:t>
            </a:r>
            <a:endParaRPr lang="en-US" sz="1400" dirty="0"/>
          </a:p>
        </p:txBody>
      </p:sp>
      <p:sp>
        <p:nvSpPr>
          <p:cNvPr id="34" name="Shape 27"/>
          <p:cNvSpPr/>
          <p:nvPr/>
        </p:nvSpPr>
        <p:spPr>
          <a:xfrm>
            <a:off x="6903720" y="2377440"/>
            <a:ext cx="1645920" cy="530352"/>
          </a:xfrm>
          <a:prstGeom prst="roundRect">
            <a:avLst>
              <a:gd name="adj" fmla="val 20690"/>
            </a:avLst>
          </a:prstGeom>
          <a:solidFill>
            <a:schemeClr val="accent4"/>
          </a:solidFill>
          <a:ln/>
        </p:spPr>
      </p:sp>
      <p:sp>
        <p:nvSpPr>
          <p:cNvPr id="35" name="Text 28"/>
          <p:cNvSpPr txBox="1"/>
          <p:nvPr/>
        </p:nvSpPr>
        <p:spPr>
          <a:xfrm>
            <a:off x="6903720" y="2377440"/>
            <a:ext cx="1645920" cy="530352"/>
          </a:xfrm>
          <a:prstGeom prst="rect">
            <a:avLst/>
          </a:prstGeom>
          <a:noFill/>
          <a:ln/>
        </p:spPr>
        <p:txBody>
          <a:bodyPr wrap="square" lIns="0" tIns="0" rIns="0" bIns="0" rtlCol="0" anchor="ctr"/>
          <a:lstStyle/>
          <a:p>
            <a:pPr algn="ctr" indent="0" marL="0">
              <a:buNone/>
            </a:pPr>
            <a:r>
              <a:rPr lang="en-US" sz="1400" b="1" dirty="0">
                <a:solidFill>
                  <a:schemeClr val="bg1"/>
                </a:solidFill>
              </a:rPr>
              <a:t>Low Stock</a:t>
            </a:r>
            <a:endParaRPr lang="en-US" sz="1400" dirty="0"/>
          </a:p>
        </p:txBody>
      </p:sp>
      <p:sp>
        <p:nvSpPr>
          <p:cNvPr id="36" name="Shape 29"/>
          <p:cNvSpPr/>
          <p:nvPr/>
        </p:nvSpPr>
        <p:spPr>
          <a:xfrm>
            <a:off x="6903720" y="3017520"/>
            <a:ext cx="1645920" cy="530352"/>
          </a:xfrm>
          <a:prstGeom prst="roundRect">
            <a:avLst>
              <a:gd name="adj" fmla="val 20690"/>
            </a:avLst>
          </a:prstGeom>
          <a:solidFill>
            <a:schemeClr val="accent5"/>
          </a:solidFill>
          <a:ln/>
        </p:spPr>
      </p:sp>
      <p:sp>
        <p:nvSpPr>
          <p:cNvPr id="37" name="Text 30"/>
          <p:cNvSpPr txBox="1"/>
          <p:nvPr/>
        </p:nvSpPr>
        <p:spPr>
          <a:xfrm>
            <a:off x="6903720" y="3017520"/>
            <a:ext cx="1645920" cy="530352"/>
          </a:xfrm>
          <a:prstGeom prst="rect">
            <a:avLst/>
          </a:prstGeom>
          <a:noFill/>
          <a:ln/>
        </p:spPr>
        <p:txBody>
          <a:bodyPr wrap="square" lIns="0" tIns="0" rIns="0" bIns="0" rtlCol="0" anchor="ctr"/>
          <a:lstStyle/>
          <a:p>
            <a:pPr algn="ctr" indent="0" marL="0">
              <a:buNone/>
            </a:pPr>
            <a:r>
              <a:rPr lang="en-US" sz="1400" b="1" dirty="0">
                <a:solidFill>
                  <a:schemeClr val="bg1"/>
                </a:solidFill>
              </a:rPr>
              <a:t>Out of Stock</a:t>
            </a:r>
            <a:endParaRPr lang="en-US" sz="1400" dirty="0"/>
          </a:p>
        </p:txBody>
      </p:sp>
      <p:sp>
        <p:nvSpPr>
          <p:cNvPr id="38" name="Shape 31"/>
          <p:cNvSpPr/>
          <p:nvPr/>
        </p:nvSpPr>
        <p:spPr>
          <a:xfrm>
            <a:off x="457200" y="3931920"/>
            <a:ext cx="8229600" cy="594360"/>
          </a:xfrm>
          <a:prstGeom prst="roundRect">
            <a:avLst>
              <a:gd name="adj" fmla="val 18462"/>
            </a:avLst>
          </a:prstGeom>
          <a:solidFill>
            <a:schemeClr val="tx2"/>
          </a:solidFill>
          <a:ln/>
        </p:spPr>
      </p:sp>
      <p:sp>
        <p:nvSpPr>
          <p:cNvPr id="39" name="Shape 32"/>
          <p:cNvSpPr/>
          <p:nvPr/>
        </p:nvSpPr>
        <p:spPr>
          <a:xfrm>
            <a:off x="594360" y="4005072"/>
            <a:ext cx="438912" cy="438912"/>
          </a:xfrm>
          <a:prstGeom prst="ellipse">
            <a:avLst/>
          </a:prstGeom>
          <a:solidFill>
            <a:schemeClr val="accent2"/>
          </a:solidFill>
          <a:ln/>
        </p:spPr>
      </p:sp>
      <p:pic>
        <p:nvPicPr>
          <p:cNvPr id="40" name="Image 4" descr="preencoded.png">    </p:cNvPr>
          <p:cNvPicPr>
            <a:picLocks noChangeAspect="1"/>
          </p:cNvPicPr>
          <p:nvPr/>
        </p:nvPicPr>
        <p:blipFill>
          <a:blip r:embed="rId5"/>
          <a:stretch>
            <a:fillRect/>
          </a:stretch>
        </p:blipFill>
        <p:spPr>
          <a:xfrm>
            <a:off x="704088" y="4114800"/>
            <a:ext cx="219456" cy="219456"/>
          </a:xfrm>
          <a:prstGeom prst="rect">
            <a:avLst/>
          </a:prstGeom>
        </p:spPr>
      </p:pic>
      <p:sp>
        <p:nvSpPr>
          <p:cNvPr id="41" name="Text 33"/>
          <p:cNvSpPr txBox="1"/>
          <p:nvPr/>
        </p:nvSpPr>
        <p:spPr>
          <a:xfrm>
            <a:off x="1188720" y="3931920"/>
            <a:ext cx="7315200" cy="594360"/>
          </a:xfrm>
          <a:prstGeom prst="rect">
            <a:avLst/>
          </a:prstGeom>
          <a:noFill/>
          <a:ln/>
        </p:spPr>
        <p:txBody>
          <a:bodyPr wrap="square" lIns="0" tIns="0" rIns="0" bIns="0" rtlCol="0" anchor="ctr"/>
          <a:lstStyle/>
          <a:p>
            <a:pPr indent="0" marL="0">
              <a:buNone/>
            </a:pPr>
            <a:r>
              <a:rPr lang="en-US" sz="1400" dirty="0">
                <a:solidFill>
                  <a:schemeClr val="bg1"/>
                </a:solidFill>
              </a:rPr>
              <a:t>Response time: retrieval is near-instant; total time depends on the local LLM and hardware [add measured value].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Advantages</a:t>
            </a:r>
            <a:endParaRPr lang="en-US" sz="3000" dirty="0"/>
          </a:p>
        </p:txBody>
      </p:sp>
      <p:sp>
        <p:nvSpPr>
          <p:cNvPr id="4" name="Shape 1"/>
          <p:cNvSpPr/>
          <p:nvPr/>
        </p:nvSpPr>
        <p:spPr>
          <a:xfrm>
            <a:off x="457200" y="1143000"/>
            <a:ext cx="1920240" cy="1600200"/>
          </a:xfrm>
          <a:prstGeom prst="roundRect">
            <a:avLst>
              <a:gd name="adj" fmla="val 6857"/>
            </a:avLst>
          </a:prstGeom>
          <a:solidFill>
            <a:schemeClr val="bg2"/>
          </a:solidFill>
          <a:ln/>
        </p:spPr>
      </p:sp>
      <p:sp>
        <p:nvSpPr>
          <p:cNvPr id="5" name="Shape 2"/>
          <p:cNvSpPr/>
          <p:nvPr/>
        </p:nvSpPr>
        <p:spPr>
          <a:xfrm>
            <a:off x="640080" y="1280160"/>
            <a:ext cx="566928" cy="56692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81812" y="1421892"/>
            <a:ext cx="283464" cy="283464"/>
          </a:xfrm>
          <a:prstGeom prst="rect">
            <a:avLst/>
          </a:prstGeom>
        </p:spPr>
      </p:pic>
      <p:sp>
        <p:nvSpPr>
          <p:cNvPr id="7" name="Text 3"/>
          <p:cNvSpPr txBox="1"/>
          <p:nvPr/>
        </p:nvSpPr>
        <p:spPr>
          <a:xfrm>
            <a:off x="640080" y="1965960"/>
            <a:ext cx="1600200" cy="274320"/>
          </a:xfrm>
          <a:prstGeom prst="rect">
            <a:avLst/>
          </a:prstGeom>
          <a:noFill/>
          <a:ln/>
        </p:spPr>
        <p:txBody>
          <a:bodyPr wrap="square" lIns="0" tIns="0" rIns="0" bIns="0" rtlCol="0" anchor="t"/>
          <a:lstStyle/>
          <a:p>
            <a:pPr indent="0" marL="0">
              <a:buNone/>
            </a:pPr>
            <a:r>
              <a:rPr lang="en-US" sz="1600" b="1" dirty="0">
                <a:solidFill>
                  <a:schemeClr val="tx2"/>
                </a:solidFill>
              </a:rPr>
              <a:t>Fast</a:t>
            </a:r>
            <a:endParaRPr lang="en-US" sz="1600" dirty="0"/>
          </a:p>
        </p:txBody>
      </p:sp>
      <p:sp>
        <p:nvSpPr>
          <p:cNvPr id="8" name="Text 4"/>
          <p:cNvSpPr txBox="1"/>
          <p:nvPr/>
        </p:nvSpPr>
        <p:spPr>
          <a:xfrm>
            <a:off x="640080" y="2286000"/>
            <a:ext cx="1600200" cy="411480"/>
          </a:xfrm>
          <a:prstGeom prst="rect">
            <a:avLst/>
          </a:prstGeom>
          <a:noFill/>
          <a:ln/>
        </p:spPr>
        <p:txBody>
          <a:bodyPr wrap="square" lIns="0" tIns="0" rIns="0" bIns="0" rtlCol="0" anchor="t"/>
          <a:lstStyle/>
          <a:p>
            <a:pPr indent="0" marL="0">
              <a:buNone/>
            </a:pPr>
            <a:r>
              <a:rPr lang="en-US" sz="1400" dirty="0">
                <a:solidFill>
                  <a:schemeClr val="tx1"/>
                </a:solidFill>
              </a:rPr>
              <a:t>Answers in seconds</a:t>
            </a:r>
            <a:endParaRPr lang="en-US" sz="1400" dirty="0"/>
          </a:p>
        </p:txBody>
      </p:sp>
      <p:sp>
        <p:nvSpPr>
          <p:cNvPr id="9" name="Shape 5"/>
          <p:cNvSpPr/>
          <p:nvPr/>
        </p:nvSpPr>
        <p:spPr>
          <a:xfrm>
            <a:off x="2560320" y="1143000"/>
            <a:ext cx="1920240" cy="1600200"/>
          </a:xfrm>
          <a:prstGeom prst="roundRect">
            <a:avLst>
              <a:gd name="adj" fmla="val 6857"/>
            </a:avLst>
          </a:prstGeom>
          <a:solidFill>
            <a:schemeClr val="bg2"/>
          </a:solidFill>
          <a:ln/>
        </p:spPr>
      </p:sp>
      <p:sp>
        <p:nvSpPr>
          <p:cNvPr id="10" name="Shape 6"/>
          <p:cNvSpPr/>
          <p:nvPr/>
        </p:nvSpPr>
        <p:spPr>
          <a:xfrm>
            <a:off x="2743200" y="1280160"/>
            <a:ext cx="566928" cy="566928"/>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2884932" y="1421892"/>
            <a:ext cx="283464" cy="283464"/>
          </a:xfrm>
          <a:prstGeom prst="rect">
            <a:avLst/>
          </a:prstGeom>
        </p:spPr>
      </p:pic>
      <p:sp>
        <p:nvSpPr>
          <p:cNvPr id="12" name="Text 7"/>
          <p:cNvSpPr txBox="1"/>
          <p:nvPr/>
        </p:nvSpPr>
        <p:spPr>
          <a:xfrm>
            <a:off x="2743200" y="1965960"/>
            <a:ext cx="1600200" cy="274320"/>
          </a:xfrm>
          <a:prstGeom prst="rect">
            <a:avLst/>
          </a:prstGeom>
          <a:noFill/>
          <a:ln/>
        </p:spPr>
        <p:txBody>
          <a:bodyPr wrap="square" lIns="0" tIns="0" rIns="0" bIns="0" rtlCol="0" anchor="t"/>
          <a:lstStyle/>
          <a:p>
            <a:pPr indent="0" marL="0">
              <a:buNone/>
            </a:pPr>
            <a:r>
              <a:rPr lang="en-US" sz="1600" b="1" dirty="0">
                <a:solidFill>
                  <a:schemeClr val="tx2"/>
                </a:solidFill>
              </a:rPr>
              <a:t>Accurate</a:t>
            </a:r>
            <a:endParaRPr lang="en-US" sz="1600" dirty="0"/>
          </a:p>
        </p:txBody>
      </p:sp>
      <p:sp>
        <p:nvSpPr>
          <p:cNvPr id="13" name="Text 8"/>
          <p:cNvSpPr txBox="1"/>
          <p:nvPr/>
        </p:nvSpPr>
        <p:spPr>
          <a:xfrm>
            <a:off x="2743200" y="2286000"/>
            <a:ext cx="1600200" cy="411480"/>
          </a:xfrm>
          <a:prstGeom prst="rect">
            <a:avLst/>
          </a:prstGeom>
          <a:noFill/>
          <a:ln/>
        </p:spPr>
        <p:txBody>
          <a:bodyPr wrap="square" lIns="0" tIns="0" rIns="0" bIns="0" rtlCol="0" anchor="t"/>
          <a:lstStyle/>
          <a:p>
            <a:pPr indent="0" marL="0">
              <a:buNone/>
            </a:pPr>
            <a:r>
              <a:rPr lang="en-US" sz="1400" dirty="0">
                <a:solidFill>
                  <a:schemeClr val="tx1"/>
                </a:solidFill>
              </a:rPr>
              <a:t>Grounded in the dataset</a:t>
            </a:r>
            <a:endParaRPr lang="en-US" sz="1400" dirty="0"/>
          </a:p>
        </p:txBody>
      </p:sp>
      <p:sp>
        <p:nvSpPr>
          <p:cNvPr id="14" name="Shape 9"/>
          <p:cNvSpPr/>
          <p:nvPr/>
        </p:nvSpPr>
        <p:spPr>
          <a:xfrm>
            <a:off x="4663440" y="1143000"/>
            <a:ext cx="1920240" cy="1600200"/>
          </a:xfrm>
          <a:prstGeom prst="roundRect">
            <a:avLst>
              <a:gd name="adj" fmla="val 6857"/>
            </a:avLst>
          </a:prstGeom>
          <a:solidFill>
            <a:schemeClr val="bg2"/>
          </a:solidFill>
          <a:ln/>
        </p:spPr>
      </p:sp>
      <p:sp>
        <p:nvSpPr>
          <p:cNvPr id="15" name="Shape 10"/>
          <p:cNvSpPr/>
          <p:nvPr/>
        </p:nvSpPr>
        <p:spPr>
          <a:xfrm>
            <a:off x="4846320" y="1280160"/>
            <a:ext cx="566928" cy="566928"/>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988052" y="1421892"/>
            <a:ext cx="283464" cy="283464"/>
          </a:xfrm>
          <a:prstGeom prst="rect">
            <a:avLst/>
          </a:prstGeom>
        </p:spPr>
      </p:pic>
      <p:sp>
        <p:nvSpPr>
          <p:cNvPr id="17" name="Text 11"/>
          <p:cNvSpPr txBox="1"/>
          <p:nvPr/>
        </p:nvSpPr>
        <p:spPr>
          <a:xfrm>
            <a:off x="4846320" y="1965960"/>
            <a:ext cx="1600200" cy="274320"/>
          </a:xfrm>
          <a:prstGeom prst="rect">
            <a:avLst/>
          </a:prstGeom>
          <a:noFill/>
          <a:ln/>
        </p:spPr>
        <p:txBody>
          <a:bodyPr wrap="square" lIns="0" tIns="0" rIns="0" bIns="0" rtlCol="0" anchor="t"/>
          <a:lstStyle/>
          <a:p>
            <a:pPr indent="0" marL="0">
              <a:buNone/>
            </a:pPr>
            <a:r>
              <a:rPr lang="en-US" sz="1600" b="1" dirty="0">
                <a:solidFill>
                  <a:schemeClr val="tx2"/>
                </a:solidFill>
              </a:rPr>
              <a:t>Easy</a:t>
            </a:r>
            <a:endParaRPr lang="en-US" sz="1600" dirty="0"/>
          </a:p>
        </p:txBody>
      </p:sp>
      <p:sp>
        <p:nvSpPr>
          <p:cNvPr id="18" name="Text 12"/>
          <p:cNvSpPr txBox="1"/>
          <p:nvPr/>
        </p:nvSpPr>
        <p:spPr>
          <a:xfrm>
            <a:off x="4846320" y="2286000"/>
            <a:ext cx="1600200" cy="411480"/>
          </a:xfrm>
          <a:prstGeom prst="rect">
            <a:avLst/>
          </a:prstGeom>
          <a:noFill/>
          <a:ln/>
        </p:spPr>
        <p:txBody>
          <a:bodyPr wrap="square" lIns="0" tIns="0" rIns="0" bIns="0" rtlCol="0" anchor="t"/>
          <a:lstStyle/>
          <a:p>
            <a:pPr indent="0" marL="0">
              <a:buNone/>
            </a:pPr>
            <a:r>
              <a:rPr lang="en-US" sz="1400" dirty="0">
                <a:solidFill>
                  <a:schemeClr val="tx1"/>
                </a:solidFill>
              </a:rPr>
              <a:t>Simple chat interface</a:t>
            </a:r>
            <a:endParaRPr lang="en-US" sz="1400" dirty="0"/>
          </a:p>
        </p:txBody>
      </p:sp>
      <p:sp>
        <p:nvSpPr>
          <p:cNvPr id="19" name="Shape 13"/>
          <p:cNvSpPr/>
          <p:nvPr/>
        </p:nvSpPr>
        <p:spPr>
          <a:xfrm>
            <a:off x="6766560" y="1143000"/>
            <a:ext cx="1920240" cy="1600200"/>
          </a:xfrm>
          <a:prstGeom prst="roundRect">
            <a:avLst>
              <a:gd name="adj" fmla="val 6857"/>
            </a:avLst>
          </a:prstGeom>
          <a:solidFill>
            <a:schemeClr val="bg2"/>
          </a:solidFill>
          <a:ln/>
        </p:spPr>
      </p:sp>
      <p:sp>
        <p:nvSpPr>
          <p:cNvPr id="20" name="Shape 14"/>
          <p:cNvSpPr/>
          <p:nvPr/>
        </p:nvSpPr>
        <p:spPr>
          <a:xfrm>
            <a:off x="6949440" y="1280160"/>
            <a:ext cx="566928" cy="566928"/>
          </a:xfrm>
          <a:prstGeom prst="ellipse">
            <a:avLst/>
          </a:prstGeom>
          <a:solidFill>
            <a:schemeClr val="accent3"/>
          </a:solidFill>
          <a:ln/>
        </p:spPr>
      </p:sp>
      <p:pic>
        <p:nvPicPr>
          <p:cNvPr id="21" name="Image 3" descr="preencoded.png">    </p:cNvPr>
          <p:cNvPicPr>
            <a:picLocks noChangeAspect="1"/>
          </p:cNvPicPr>
          <p:nvPr/>
        </p:nvPicPr>
        <p:blipFill>
          <a:blip r:embed="rId4"/>
          <a:stretch>
            <a:fillRect/>
          </a:stretch>
        </p:blipFill>
        <p:spPr>
          <a:xfrm>
            <a:off x="7091172" y="1421892"/>
            <a:ext cx="283464" cy="283464"/>
          </a:xfrm>
          <a:prstGeom prst="rect">
            <a:avLst/>
          </a:prstGeom>
        </p:spPr>
      </p:pic>
      <p:sp>
        <p:nvSpPr>
          <p:cNvPr id="22" name="Text 15"/>
          <p:cNvSpPr txBox="1"/>
          <p:nvPr/>
        </p:nvSpPr>
        <p:spPr>
          <a:xfrm>
            <a:off x="6949440" y="1965960"/>
            <a:ext cx="1600200" cy="274320"/>
          </a:xfrm>
          <a:prstGeom prst="rect">
            <a:avLst/>
          </a:prstGeom>
          <a:noFill/>
          <a:ln/>
        </p:spPr>
        <p:txBody>
          <a:bodyPr wrap="square" lIns="0" tIns="0" rIns="0" bIns="0" rtlCol="0" anchor="t"/>
          <a:lstStyle/>
          <a:p>
            <a:pPr indent="0" marL="0">
              <a:buNone/>
            </a:pPr>
            <a:r>
              <a:rPr lang="en-US" sz="1600" b="1" dirty="0">
                <a:solidFill>
                  <a:schemeClr val="tx2"/>
                </a:solidFill>
              </a:rPr>
              <a:t>AI Powered</a:t>
            </a:r>
            <a:endParaRPr lang="en-US" sz="1600" dirty="0"/>
          </a:p>
        </p:txBody>
      </p:sp>
      <p:sp>
        <p:nvSpPr>
          <p:cNvPr id="23" name="Text 16"/>
          <p:cNvSpPr txBox="1"/>
          <p:nvPr/>
        </p:nvSpPr>
        <p:spPr>
          <a:xfrm>
            <a:off x="6949440" y="2286000"/>
            <a:ext cx="1600200" cy="411480"/>
          </a:xfrm>
          <a:prstGeom prst="rect">
            <a:avLst/>
          </a:prstGeom>
          <a:noFill/>
          <a:ln/>
        </p:spPr>
        <p:txBody>
          <a:bodyPr wrap="square" lIns="0" tIns="0" rIns="0" bIns="0" rtlCol="0" anchor="t"/>
          <a:lstStyle/>
          <a:p>
            <a:pPr indent="0" marL="0">
              <a:buNone/>
            </a:pPr>
            <a:r>
              <a:rPr lang="en-US" sz="1400" dirty="0">
                <a:solidFill>
                  <a:schemeClr val="tx1"/>
                </a:solidFill>
              </a:rPr>
              <a:t>RAG with an LLM</a:t>
            </a:r>
            <a:endParaRPr lang="en-US" sz="1400" dirty="0"/>
          </a:p>
        </p:txBody>
      </p:sp>
      <p:sp>
        <p:nvSpPr>
          <p:cNvPr id="24" name="Shape 17"/>
          <p:cNvSpPr/>
          <p:nvPr/>
        </p:nvSpPr>
        <p:spPr>
          <a:xfrm>
            <a:off x="457200" y="2926080"/>
            <a:ext cx="1920240" cy="1600200"/>
          </a:xfrm>
          <a:prstGeom prst="roundRect">
            <a:avLst>
              <a:gd name="adj" fmla="val 6857"/>
            </a:avLst>
          </a:prstGeom>
          <a:solidFill>
            <a:schemeClr val="bg2"/>
          </a:solidFill>
          <a:ln/>
        </p:spPr>
      </p:sp>
      <p:sp>
        <p:nvSpPr>
          <p:cNvPr id="25" name="Shape 18"/>
          <p:cNvSpPr/>
          <p:nvPr/>
        </p:nvSpPr>
        <p:spPr>
          <a:xfrm>
            <a:off x="640080" y="3063240"/>
            <a:ext cx="566928" cy="566928"/>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781812" y="3204972"/>
            <a:ext cx="283464" cy="283464"/>
          </a:xfrm>
          <a:prstGeom prst="rect">
            <a:avLst/>
          </a:prstGeom>
        </p:spPr>
      </p:pic>
      <p:sp>
        <p:nvSpPr>
          <p:cNvPr id="27" name="Text 19"/>
          <p:cNvSpPr txBox="1"/>
          <p:nvPr/>
        </p:nvSpPr>
        <p:spPr>
          <a:xfrm>
            <a:off x="640080" y="3749040"/>
            <a:ext cx="1600200" cy="274320"/>
          </a:xfrm>
          <a:prstGeom prst="rect">
            <a:avLst/>
          </a:prstGeom>
          <a:noFill/>
          <a:ln/>
        </p:spPr>
        <p:txBody>
          <a:bodyPr wrap="square" lIns="0" tIns="0" rIns="0" bIns="0" rtlCol="0" anchor="t"/>
          <a:lstStyle/>
          <a:p>
            <a:pPr indent="0" marL="0">
              <a:buNone/>
            </a:pPr>
            <a:r>
              <a:rPr lang="en-US" sz="1600" b="1" dirty="0">
                <a:solidFill>
                  <a:schemeClr val="tx2"/>
                </a:solidFill>
              </a:rPr>
              <a:t>Scalable</a:t>
            </a:r>
            <a:endParaRPr lang="en-US" sz="1600" dirty="0"/>
          </a:p>
        </p:txBody>
      </p:sp>
      <p:sp>
        <p:nvSpPr>
          <p:cNvPr id="28" name="Text 20"/>
          <p:cNvSpPr txBox="1"/>
          <p:nvPr/>
        </p:nvSpPr>
        <p:spPr>
          <a:xfrm>
            <a:off x="640080" y="4069080"/>
            <a:ext cx="1600200" cy="411480"/>
          </a:xfrm>
          <a:prstGeom prst="rect">
            <a:avLst/>
          </a:prstGeom>
          <a:noFill/>
          <a:ln/>
        </p:spPr>
        <p:txBody>
          <a:bodyPr wrap="square" lIns="0" tIns="0" rIns="0" bIns="0" rtlCol="0" anchor="t"/>
          <a:lstStyle/>
          <a:p>
            <a:pPr indent="0" marL="0">
              <a:buNone/>
            </a:pPr>
            <a:r>
              <a:rPr lang="en-US" sz="1400" dirty="0">
                <a:solidFill>
                  <a:schemeClr val="tx1"/>
                </a:solidFill>
              </a:rPr>
              <a:t>Modular services</a:t>
            </a:r>
            <a:endParaRPr lang="en-US" sz="1400" dirty="0"/>
          </a:p>
        </p:txBody>
      </p:sp>
      <p:sp>
        <p:nvSpPr>
          <p:cNvPr id="29" name="Shape 21"/>
          <p:cNvSpPr/>
          <p:nvPr/>
        </p:nvSpPr>
        <p:spPr>
          <a:xfrm>
            <a:off x="2560320" y="2926080"/>
            <a:ext cx="1920240" cy="1600200"/>
          </a:xfrm>
          <a:prstGeom prst="roundRect">
            <a:avLst>
              <a:gd name="adj" fmla="val 6857"/>
            </a:avLst>
          </a:prstGeom>
          <a:solidFill>
            <a:schemeClr val="bg2"/>
          </a:solidFill>
          <a:ln/>
        </p:spPr>
      </p:sp>
      <p:sp>
        <p:nvSpPr>
          <p:cNvPr id="30" name="Shape 22"/>
          <p:cNvSpPr/>
          <p:nvPr/>
        </p:nvSpPr>
        <p:spPr>
          <a:xfrm>
            <a:off x="2743200" y="3063240"/>
            <a:ext cx="566928" cy="566928"/>
          </a:xfrm>
          <a:prstGeom prst="ellipse">
            <a:avLst/>
          </a:prstGeom>
          <a:solidFill>
            <a:schemeClr val="accent3"/>
          </a:solidFill>
          <a:ln/>
        </p:spPr>
      </p:sp>
      <p:pic>
        <p:nvPicPr>
          <p:cNvPr id="31" name="Image 5" descr="preencoded.png">    </p:cNvPr>
          <p:cNvPicPr>
            <a:picLocks noChangeAspect="1"/>
          </p:cNvPicPr>
          <p:nvPr/>
        </p:nvPicPr>
        <p:blipFill>
          <a:blip r:embed="rId6"/>
          <a:stretch>
            <a:fillRect/>
          </a:stretch>
        </p:blipFill>
        <p:spPr>
          <a:xfrm>
            <a:off x="2884932" y="3204972"/>
            <a:ext cx="283464" cy="283464"/>
          </a:xfrm>
          <a:prstGeom prst="rect">
            <a:avLst/>
          </a:prstGeom>
        </p:spPr>
      </p:pic>
      <p:sp>
        <p:nvSpPr>
          <p:cNvPr id="32" name="Text 23"/>
          <p:cNvSpPr txBox="1"/>
          <p:nvPr/>
        </p:nvSpPr>
        <p:spPr>
          <a:xfrm>
            <a:off x="2743200" y="3749040"/>
            <a:ext cx="1600200" cy="274320"/>
          </a:xfrm>
          <a:prstGeom prst="rect">
            <a:avLst/>
          </a:prstGeom>
          <a:noFill/>
          <a:ln/>
        </p:spPr>
        <p:txBody>
          <a:bodyPr wrap="square" lIns="0" tIns="0" rIns="0" bIns="0" rtlCol="0" anchor="t"/>
          <a:lstStyle/>
          <a:p>
            <a:pPr indent="0" marL="0">
              <a:buNone/>
            </a:pPr>
            <a:r>
              <a:rPr lang="en-US" sz="1600" b="1" dirty="0">
                <a:solidFill>
                  <a:schemeClr val="tx2"/>
                </a:solidFill>
              </a:rPr>
              <a:t>Offline Support</a:t>
            </a:r>
            <a:endParaRPr lang="en-US" sz="1600" dirty="0"/>
          </a:p>
        </p:txBody>
      </p:sp>
      <p:sp>
        <p:nvSpPr>
          <p:cNvPr id="33" name="Text 24"/>
          <p:cNvSpPr txBox="1"/>
          <p:nvPr/>
        </p:nvSpPr>
        <p:spPr>
          <a:xfrm>
            <a:off x="2743200" y="4069080"/>
            <a:ext cx="1600200" cy="411480"/>
          </a:xfrm>
          <a:prstGeom prst="rect">
            <a:avLst/>
          </a:prstGeom>
          <a:noFill/>
          <a:ln/>
        </p:spPr>
        <p:txBody>
          <a:bodyPr wrap="square" lIns="0" tIns="0" rIns="0" bIns="0" rtlCol="0" anchor="t"/>
          <a:lstStyle/>
          <a:p>
            <a:pPr indent="0" marL="0">
              <a:buNone/>
            </a:pPr>
            <a:r>
              <a:rPr lang="en-US" sz="1400" dirty="0">
                <a:solidFill>
                  <a:schemeClr val="tx1"/>
                </a:solidFill>
              </a:rPr>
              <a:t>Local LLM via Ollama</a:t>
            </a:r>
            <a:endParaRPr lang="en-US" sz="1400" dirty="0"/>
          </a:p>
        </p:txBody>
      </p:sp>
      <p:sp>
        <p:nvSpPr>
          <p:cNvPr id="34" name="Shape 25"/>
          <p:cNvSpPr/>
          <p:nvPr/>
        </p:nvSpPr>
        <p:spPr>
          <a:xfrm>
            <a:off x="4663440" y="2926080"/>
            <a:ext cx="1920240" cy="1600200"/>
          </a:xfrm>
          <a:prstGeom prst="roundRect">
            <a:avLst>
              <a:gd name="adj" fmla="val 6857"/>
            </a:avLst>
          </a:prstGeom>
          <a:solidFill>
            <a:schemeClr val="bg2"/>
          </a:solidFill>
          <a:ln/>
        </p:spPr>
      </p:sp>
      <p:sp>
        <p:nvSpPr>
          <p:cNvPr id="35" name="Shape 26"/>
          <p:cNvSpPr/>
          <p:nvPr/>
        </p:nvSpPr>
        <p:spPr>
          <a:xfrm>
            <a:off x="4846320" y="3063240"/>
            <a:ext cx="566928" cy="566928"/>
          </a:xfrm>
          <a:prstGeom prst="ellipse">
            <a:avLst/>
          </a:prstGeom>
          <a:solidFill>
            <a:schemeClr val="accent1"/>
          </a:solidFill>
          <a:ln/>
        </p:spPr>
      </p:sp>
      <p:pic>
        <p:nvPicPr>
          <p:cNvPr id="36" name="Image 6" descr="preencoded.png">    </p:cNvPr>
          <p:cNvPicPr>
            <a:picLocks noChangeAspect="1"/>
          </p:cNvPicPr>
          <p:nvPr/>
        </p:nvPicPr>
        <p:blipFill>
          <a:blip r:embed="rId7"/>
          <a:stretch>
            <a:fillRect/>
          </a:stretch>
        </p:blipFill>
        <p:spPr>
          <a:xfrm>
            <a:off x="4988052" y="3204972"/>
            <a:ext cx="283464" cy="283464"/>
          </a:xfrm>
          <a:prstGeom prst="rect">
            <a:avLst/>
          </a:prstGeom>
        </p:spPr>
      </p:pic>
      <p:sp>
        <p:nvSpPr>
          <p:cNvPr id="37" name="Text 27"/>
          <p:cNvSpPr txBox="1"/>
          <p:nvPr/>
        </p:nvSpPr>
        <p:spPr>
          <a:xfrm>
            <a:off x="4846320" y="3749040"/>
            <a:ext cx="1600200" cy="274320"/>
          </a:xfrm>
          <a:prstGeom prst="rect">
            <a:avLst/>
          </a:prstGeom>
          <a:noFill/>
          <a:ln/>
        </p:spPr>
        <p:txBody>
          <a:bodyPr wrap="square" lIns="0" tIns="0" rIns="0" bIns="0" rtlCol="0" anchor="t"/>
          <a:lstStyle/>
          <a:p>
            <a:pPr indent="0" marL="0">
              <a:buNone/>
            </a:pPr>
            <a:r>
              <a:rPr lang="en-US" sz="1600" b="1" dirty="0">
                <a:solidFill>
                  <a:schemeClr val="tx2"/>
                </a:solidFill>
              </a:rPr>
              <a:t>Doctor Assistance</a:t>
            </a:r>
            <a:endParaRPr lang="en-US" sz="1600" dirty="0"/>
          </a:p>
        </p:txBody>
      </p:sp>
      <p:sp>
        <p:nvSpPr>
          <p:cNvPr id="38" name="Text 28"/>
          <p:cNvSpPr txBox="1"/>
          <p:nvPr/>
        </p:nvSpPr>
        <p:spPr>
          <a:xfrm>
            <a:off x="4846320" y="4069080"/>
            <a:ext cx="1600200" cy="411480"/>
          </a:xfrm>
          <a:prstGeom prst="rect">
            <a:avLst/>
          </a:prstGeom>
          <a:noFill/>
          <a:ln/>
        </p:spPr>
        <p:txBody>
          <a:bodyPr wrap="square" lIns="0" tIns="0" rIns="0" bIns="0" rtlCol="0" anchor="t"/>
          <a:lstStyle/>
          <a:p>
            <a:pPr indent="0" marL="0">
              <a:buNone/>
            </a:pPr>
            <a:r>
              <a:rPr lang="en-US" sz="1400" dirty="0">
                <a:solidFill>
                  <a:schemeClr val="tx1"/>
                </a:solidFill>
              </a:rPr>
              <a:t>Fewer repeated queries</a:t>
            </a:r>
            <a:endParaRPr lang="en-US" sz="1400" dirty="0"/>
          </a:p>
        </p:txBody>
      </p:sp>
      <p:sp>
        <p:nvSpPr>
          <p:cNvPr id="39" name="Shape 29"/>
          <p:cNvSpPr/>
          <p:nvPr/>
        </p:nvSpPr>
        <p:spPr>
          <a:xfrm>
            <a:off x="6766560" y="2926080"/>
            <a:ext cx="1920240" cy="1600200"/>
          </a:xfrm>
          <a:prstGeom prst="roundRect">
            <a:avLst>
              <a:gd name="adj" fmla="val 6857"/>
            </a:avLst>
          </a:prstGeom>
          <a:solidFill>
            <a:schemeClr val="bg2"/>
          </a:solidFill>
          <a:ln/>
        </p:spPr>
      </p:sp>
      <p:sp>
        <p:nvSpPr>
          <p:cNvPr id="40" name="Shape 30"/>
          <p:cNvSpPr/>
          <p:nvPr/>
        </p:nvSpPr>
        <p:spPr>
          <a:xfrm>
            <a:off x="6949440" y="3063240"/>
            <a:ext cx="566928" cy="566928"/>
          </a:xfrm>
          <a:prstGeom prst="ellipse">
            <a:avLst/>
          </a:prstGeom>
          <a:solidFill>
            <a:schemeClr val="accent3"/>
          </a:solidFill>
          <a:ln/>
        </p:spPr>
      </p:sp>
      <p:pic>
        <p:nvPicPr>
          <p:cNvPr id="41" name="Image 7" descr="preencoded.png">    </p:cNvPr>
          <p:cNvPicPr>
            <a:picLocks noChangeAspect="1"/>
          </p:cNvPicPr>
          <p:nvPr/>
        </p:nvPicPr>
        <p:blipFill>
          <a:blip r:embed="rId8"/>
          <a:stretch>
            <a:fillRect/>
          </a:stretch>
        </p:blipFill>
        <p:spPr>
          <a:xfrm>
            <a:off x="7091172" y="3204972"/>
            <a:ext cx="283464" cy="283464"/>
          </a:xfrm>
          <a:prstGeom prst="rect">
            <a:avLst/>
          </a:prstGeom>
        </p:spPr>
      </p:pic>
      <p:sp>
        <p:nvSpPr>
          <p:cNvPr id="42" name="Text 31"/>
          <p:cNvSpPr txBox="1"/>
          <p:nvPr/>
        </p:nvSpPr>
        <p:spPr>
          <a:xfrm>
            <a:off x="6949440" y="3749040"/>
            <a:ext cx="1600200" cy="274320"/>
          </a:xfrm>
          <a:prstGeom prst="rect">
            <a:avLst/>
          </a:prstGeom>
          <a:noFill/>
          <a:ln/>
        </p:spPr>
        <p:txBody>
          <a:bodyPr wrap="square" lIns="0" tIns="0" rIns="0" bIns="0" rtlCol="0" anchor="t"/>
          <a:lstStyle/>
          <a:p>
            <a:pPr indent="0" marL="0">
              <a:buNone/>
            </a:pPr>
            <a:r>
              <a:rPr lang="en-US" sz="1600" b="1" dirty="0">
                <a:solidFill>
                  <a:schemeClr val="tx2"/>
                </a:solidFill>
              </a:rPr>
              <a:t>Patient Friendly</a:t>
            </a:r>
            <a:endParaRPr lang="en-US" sz="1600" dirty="0"/>
          </a:p>
        </p:txBody>
      </p:sp>
      <p:sp>
        <p:nvSpPr>
          <p:cNvPr id="43" name="Text 32"/>
          <p:cNvSpPr txBox="1"/>
          <p:nvPr/>
        </p:nvSpPr>
        <p:spPr>
          <a:xfrm>
            <a:off x="6949440" y="4069080"/>
            <a:ext cx="1600200" cy="411480"/>
          </a:xfrm>
          <a:prstGeom prst="rect">
            <a:avLst/>
          </a:prstGeom>
          <a:noFill/>
          <a:ln/>
        </p:spPr>
        <p:txBody>
          <a:bodyPr wrap="square" lIns="0" tIns="0" rIns="0" bIns="0" rtlCol="0" anchor="t"/>
          <a:lstStyle/>
          <a:p>
            <a:pPr indent="0" marL="0">
              <a:buNone/>
            </a:pPr>
            <a:r>
              <a:rPr lang="en-US" sz="1400" dirty="0">
                <a:solidFill>
                  <a:schemeClr val="tx1"/>
                </a:solidFill>
              </a:rPr>
              <a:t>Plain-language replies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Future Scope</a:t>
            </a:r>
            <a:endParaRPr lang="en-US" sz="3000" dirty="0"/>
          </a:p>
        </p:txBody>
      </p:sp>
      <p:sp>
        <p:nvSpPr>
          <p:cNvPr id="4" name="Text 1"/>
          <p:cNvSpPr txBox="1"/>
          <p:nvPr/>
        </p:nvSpPr>
        <p:spPr>
          <a:xfrm>
            <a:off x="457200" y="1051560"/>
            <a:ext cx="2743200" cy="320040"/>
          </a:xfrm>
          <a:prstGeom prst="rect">
            <a:avLst/>
          </a:prstGeom>
          <a:noFill/>
          <a:ln/>
        </p:spPr>
        <p:txBody>
          <a:bodyPr wrap="square" lIns="0" tIns="0" rIns="0" bIns="0" rtlCol="0" anchor="t"/>
          <a:lstStyle/>
          <a:p>
            <a:pPr indent="0" marL="0">
              <a:buNone/>
            </a:pPr>
            <a:r>
              <a:rPr lang="en-US" sz="1800" b="1" dirty="0">
                <a:solidFill>
                  <a:schemeClr val="accent1"/>
                </a:solidFill>
              </a:rPr>
              <a:t>Near term</a:t>
            </a:r>
            <a:endParaRPr lang="en-US" sz="1800" dirty="0"/>
          </a:p>
        </p:txBody>
      </p:sp>
      <p:sp>
        <p:nvSpPr>
          <p:cNvPr id="5" name="Shape 2"/>
          <p:cNvSpPr/>
          <p:nvPr/>
        </p:nvSpPr>
        <p:spPr>
          <a:xfrm>
            <a:off x="457200" y="1463040"/>
            <a:ext cx="1920240" cy="1280160"/>
          </a:xfrm>
          <a:prstGeom prst="roundRect">
            <a:avLst>
              <a:gd name="adj" fmla="val 8571"/>
            </a:avLst>
          </a:prstGeom>
          <a:solidFill>
            <a:schemeClr val="bg2"/>
          </a:solidFill>
          <a:ln/>
        </p:spPr>
      </p:sp>
      <p:sp>
        <p:nvSpPr>
          <p:cNvPr id="6" name="Shape 3"/>
          <p:cNvSpPr/>
          <p:nvPr/>
        </p:nvSpPr>
        <p:spPr>
          <a:xfrm>
            <a:off x="640080" y="160020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54380" y="1714500"/>
            <a:ext cx="228600" cy="228600"/>
          </a:xfrm>
          <a:prstGeom prst="rect">
            <a:avLst/>
          </a:prstGeom>
        </p:spPr>
      </p:pic>
      <p:sp>
        <p:nvSpPr>
          <p:cNvPr id="8" name="Text 4"/>
          <p:cNvSpPr txBox="1"/>
          <p:nvPr/>
        </p:nvSpPr>
        <p:spPr>
          <a:xfrm>
            <a:off x="640080" y="2194560"/>
            <a:ext cx="1600200" cy="502920"/>
          </a:xfrm>
          <a:prstGeom prst="rect">
            <a:avLst/>
          </a:prstGeom>
          <a:noFill/>
          <a:ln/>
        </p:spPr>
        <p:txBody>
          <a:bodyPr wrap="square" lIns="0" tIns="0" rIns="0" bIns="0" rtlCol="0" anchor="t"/>
          <a:lstStyle/>
          <a:p>
            <a:pPr indent="0" marL="0">
              <a:buNone/>
            </a:pPr>
            <a:r>
              <a:rPr lang="en-US" sz="1400" b="1" dirty="0">
                <a:solidFill>
                  <a:schemeClr val="tx1"/>
                </a:solidFill>
              </a:rPr>
              <a:t>Prescription OCR</a:t>
            </a:r>
            <a:endParaRPr lang="en-US" sz="1400" dirty="0"/>
          </a:p>
        </p:txBody>
      </p:sp>
      <p:sp>
        <p:nvSpPr>
          <p:cNvPr id="9" name="Shape 5"/>
          <p:cNvSpPr/>
          <p:nvPr/>
        </p:nvSpPr>
        <p:spPr>
          <a:xfrm>
            <a:off x="2560320" y="1463040"/>
            <a:ext cx="1920240" cy="1280160"/>
          </a:xfrm>
          <a:prstGeom prst="roundRect">
            <a:avLst>
              <a:gd name="adj" fmla="val 8571"/>
            </a:avLst>
          </a:prstGeom>
          <a:solidFill>
            <a:schemeClr val="bg2"/>
          </a:solidFill>
          <a:ln/>
        </p:spPr>
      </p:sp>
      <p:sp>
        <p:nvSpPr>
          <p:cNvPr id="10" name="Shape 6"/>
          <p:cNvSpPr/>
          <p:nvPr/>
        </p:nvSpPr>
        <p:spPr>
          <a:xfrm>
            <a:off x="2743200" y="1600200"/>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857500" y="1714500"/>
            <a:ext cx="228600" cy="228600"/>
          </a:xfrm>
          <a:prstGeom prst="rect">
            <a:avLst/>
          </a:prstGeom>
        </p:spPr>
      </p:pic>
      <p:sp>
        <p:nvSpPr>
          <p:cNvPr id="12" name="Text 7"/>
          <p:cNvSpPr txBox="1"/>
          <p:nvPr/>
        </p:nvSpPr>
        <p:spPr>
          <a:xfrm>
            <a:off x="2743200" y="2194560"/>
            <a:ext cx="1600200" cy="502920"/>
          </a:xfrm>
          <a:prstGeom prst="rect">
            <a:avLst/>
          </a:prstGeom>
          <a:noFill/>
          <a:ln/>
        </p:spPr>
        <p:txBody>
          <a:bodyPr wrap="square" lIns="0" tIns="0" rIns="0" bIns="0" rtlCol="0" anchor="t"/>
          <a:lstStyle/>
          <a:p>
            <a:pPr indent="0" marL="0">
              <a:buNone/>
            </a:pPr>
            <a:r>
              <a:rPr lang="en-US" sz="1400" b="1" dirty="0">
                <a:solidFill>
                  <a:schemeClr val="tx1"/>
                </a:solidFill>
              </a:rPr>
              <a:t>Voice Assistant</a:t>
            </a:r>
            <a:endParaRPr lang="en-US" sz="1400" dirty="0"/>
          </a:p>
        </p:txBody>
      </p:sp>
      <p:sp>
        <p:nvSpPr>
          <p:cNvPr id="13" name="Shape 8"/>
          <p:cNvSpPr/>
          <p:nvPr/>
        </p:nvSpPr>
        <p:spPr>
          <a:xfrm>
            <a:off x="4663440" y="1463040"/>
            <a:ext cx="1920240" cy="1280160"/>
          </a:xfrm>
          <a:prstGeom prst="roundRect">
            <a:avLst>
              <a:gd name="adj" fmla="val 8571"/>
            </a:avLst>
          </a:prstGeom>
          <a:solidFill>
            <a:schemeClr val="bg2"/>
          </a:solidFill>
          <a:ln/>
        </p:spPr>
      </p:sp>
      <p:sp>
        <p:nvSpPr>
          <p:cNvPr id="14" name="Shape 9"/>
          <p:cNvSpPr/>
          <p:nvPr/>
        </p:nvSpPr>
        <p:spPr>
          <a:xfrm>
            <a:off x="4846320" y="1600200"/>
            <a:ext cx="457200" cy="4572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960620" y="1714500"/>
            <a:ext cx="228600" cy="228600"/>
          </a:xfrm>
          <a:prstGeom prst="rect">
            <a:avLst/>
          </a:prstGeom>
        </p:spPr>
      </p:pic>
      <p:sp>
        <p:nvSpPr>
          <p:cNvPr id="16" name="Text 10"/>
          <p:cNvSpPr txBox="1"/>
          <p:nvPr/>
        </p:nvSpPr>
        <p:spPr>
          <a:xfrm>
            <a:off x="4846320" y="2194560"/>
            <a:ext cx="1600200" cy="502920"/>
          </a:xfrm>
          <a:prstGeom prst="rect">
            <a:avLst/>
          </a:prstGeom>
          <a:noFill/>
          <a:ln/>
        </p:spPr>
        <p:txBody>
          <a:bodyPr wrap="square" lIns="0" tIns="0" rIns="0" bIns="0" rtlCol="0" anchor="t"/>
          <a:lstStyle/>
          <a:p>
            <a:pPr indent="0" marL="0">
              <a:buNone/>
            </a:pPr>
            <a:r>
              <a:rPr lang="en-US" sz="1400" b="1" dirty="0">
                <a:solidFill>
                  <a:schemeClr val="tx1"/>
                </a:solidFill>
              </a:rPr>
              <a:t>Patient Login</a:t>
            </a:r>
            <a:endParaRPr lang="en-US" sz="1400" dirty="0"/>
          </a:p>
        </p:txBody>
      </p:sp>
      <p:sp>
        <p:nvSpPr>
          <p:cNvPr id="17" name="Shape 11"/>
          <p:cNvSpPr/>
          <p:nvPr/>
        </p:nvSpPr>
        <p:spPr>
          <a:xfrm>
            <a:off x="6766560" y="1463040"/>
            <a:ext cx="1920240" cy="1280160"/>
          </a:xfrm>
          <a:prstGeom prst="roundRect">
            <a:avLst>
              <a:gd name="adj" fmla="val 8571"/>
            </a:avLst>
          </a:prstGeom>
          <a:solidFill>
            <a:schemeClr val="bg2"/>
          </a:solidFill>
          <a:ln/>
        </p:spPr>
      </p:sp>
      <p:sp>
        <p:nvSpPr>
          <p:cNvPr id="18" name="Shape 12"/>
          <p:cNvSpPr/>
          <p:nvPr/>
        </p:nvSpPr>
        <p:spPr>
          <a:xfrm>
            <a:off x="6949440" y="1600200"/>
            <a:ext cx="457200" cy="45720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7063740" y="1714500"/>
            <a:ext cx="228600" cy="228600"/>
          </a:xfrm>
          <a:prstGeom prst="rect">
            <a:avLst/>
          </a:prstGeom>
        </p:spPr>
      </p:pic>
      <p:sp>
        <p:nvSpPr>
          <p:cNvPr id="20" name="Text 13"/>
          <p:cNvSpPr txBox="1"/>
          <p:nvPr/>
        </p:nvSpPr>
        <p:spPr>
          <a:xfrm>
            <a:off x="6949440" y="2194560"/>
            <a:ext cx="1600200" cy="502920"/>
          </a:xfrm>
          <a:prstGeom prst="rect">
            <a:avLst/>
          </a:prstGeom>
          <a:noFill/>
          <a:ln/>
        </p:spPr>
        <p:txBody>
          <a:bodyPr wrap="square" lIns="0" tIns="0" rIns="0" bIns="0" rtlCol="0" anchor="t"/>
          <a:lstStyle/>
          <a:p>
            <a:pPr indent="0" marL="0">
              <a:buNone/>
            </a:pPr>
            <a:r>
              <a:rPr lang="en-US" sz="1400" b="1" dirty="0">
                <a:solidFill>
                  <a:schemeClr val="tx1"/>
                </a:solidFill>
              </a:rPr>
              <a:t>Appointment Booking</a:t>
            </a:r>
            <a:endParaRPr lang="en-US" sz="1400" dirty="0"/>
          </a:p>
        </p:txBody>
      </p:sp>
      <p:sp>
        <p:nvSpPr>
          <p:cNvPr id="21" name="Text 14"/>
          <p:cNvSpPr txBox="1"/>
          <p:nvPr/>
        </p:nvSpPr>
        <p:spPr>
          <a:xfrm>
            <a:off x="457200" y="2834640"/>
            <a:ext cx="2743200" cy="320040"/>
          </a:xfrm>
          <a:prstGeom prst="rect">
            <a:avLst/>
          </a:prstGeom>
          <a:noFill/>
          <a:ln/>
        </p:spPr>
        <p:txBody>
          <a:bodyPr wrap="square" lIns="0" tIns="0" rIns="0" bIns="0" rtlCol="0" anchor="t"/>
          <a:lstStyle/>
          <a:p>
            <a:pPr indent="0" marL="0">
              <a:buNone/>
            </a:pPr>
            <a:r>
              <a:rPr lang="en-US" sz="1800" b="1" dirty="0">
                <a:solidFill>
                  <a:schemeClr val="accent1"/>
                </a:solidFill>
              </a:rPr>
              <a:t>Long term</a:t>
            </a:r>
            <a:endParaRPr lang="en-US" sz="1800" dirty="0"/>
          </a:p>
        </p:txBody>
      </p:sp>
      <p:sp>
        <p:nvSpPr>
          <p:cNvPr id="22" name="Shape 15"/>
          <p:cNvSpPr/>
          <p:nvPr/>
        </p:nvSpPr>
        <p:spPr>
          <a:xfrm>
            <a:off x="457200" y="3246120"/>
            <a:ext cx="1920240" cy="1280160"/>
          </a:xfrm>
          <a:prstGeom prst="roundRect">
            <a:avLst>
              <a:gd name="adj" fmla="val 8571"/>
            </a:avLst>
          </a:prstGeom>
          <a:solidFill>
            <a:schemeClr val="bg2"/>
          </a:solidFill>
          <a:ln/>
        </p:spPr>
      </p:sp>
      <p:sp>
        <p:nvSpPr>
          <p:cNvPr id="23" name="Shape 16"/>
          <p:cNvSpPr/>
          <p:nvPr/>
        </p:nvSpPr>
        <p:spPr>
          <a:xfrm>
            <a:off x="640080" y="3383280"/>
            <a:ext cx="457200" cy="457200"/>
          </a:xfrm>
          <a:prstGeom prst="ellipse">
            <a:avLst/>
          </a:prstGeom>
          <a:solidFill>
            <a:schemeClr val="accent3"/>
          </a:solidFill>
          <a:ln/>
        </p:spPr>
      </p:sp>
      <p:pic>
        <p:nvPicPr>
          <p:cNvPr id="24" name="Image 4" descr="preencoded.png">    </p:cNvPr>
          <p:cNvPicPr>
            <a:picLocks noChangeAspect="1"/>
          </p:cNvPicPr>
          <p:nvPr/>
        </p:nvPicPr>
        <p:blipFill>
          <a:blip r:embed="rId5"/>
          <a:stretch>
            <a:fillRect/>
          </a:stretch>
        </p:blipFill>
        <p:spPr>
          <a:xfrm>
            <a:off x="754380" y="3497580"/>
            <a:ext cx="228600" cy="228600"/>
          </a:xfrm>
          <a:prstGeom prst="rect">
            <a:avLst/>
          </a:prstGeom>
        </p:spPr>
      </p:pic>
      <p:sp>
        <p:nvSpPr>
          <p:cNvPr id="25" name="Text 17"/>
          <p:cNvSpPr txBox="1"/>
          <p:nvPr/>
        </p:nvSpPr>
        <p:spPr>
          <a:xfrm>
            <a:off x="640080" y="3977640"/>
            <a:ext cx="1600200" cy="502920"/>
          </a:xfrm>
          <a:prstGeom prst="rect">
            <a:avLst/>
          </a:prstGeom>
          <a:noFill/>
          <a:ln/>
        </p:spPr>
        <p:txBody>
          <a:bodyPr wrap="square" lIns="0" tIns="0" rIns="0" bIns="0" rtlCol="0" anchor="t"/>
          <a:lstStyle/>
          <a:p>
            <a:pPr indent="0" marL="0">
              <a:buNone/>
            </a:pPr>
            <a:r>
              <a:rPr lang="en-US" sz="1400" b="1" dirty="0">
                <a:solidFill>
                  <a:schemeClr val="tx1"/>
                </a:solidFill>
              </a:rPr>
              <a:t>Hospital ERP Integration</a:t>
            </a:r>
            <a:endParaRPr lang="en-US" sz="1400" dirty="0"/>
          </a:p>
        </p:txBody>
      </p:sp>
      <p:sp>
        <p:nvSpPr>
          <p:cNvPr id="26" name="Shape 18"/>
          <p:cNvSpPr/>
          <p:nvPr/>
        </p:nvSpPr>
        <p:spPr>
          <a:xfrm>
            <a:off x="2560320" y="3246120"/>
            <a:ext cx="1920240" cy="1280160"/>
          </a:xfrm>
          <a:prstGeom prst="roundRect">
            <a:avLst>
              <a:gd name="adj" fmla="val 8571"/>
            </a:avLst>
          </a:prstGeom>
          <a:solidFill>
            <a:schemeClr val="bg2"/>
          </a:solidFill>
          <a:ln/>
        </p:spPr>
      </p:sp>
      <p:sp>
        <p:nvSpPr>
          <p:cNvPr id="27" name="Shape 19"/>
          <p:cNvSpPr/>
          <p:nvPr/>
        </p:nvSpPr>
        <p:spPr>
          <a:xfrm>
            <a:off x="2743200" y="3383280"/>
            <a:ext cx="457200" cy="457200"/>
          </a:xfrm>
          <a:prstGeom prst="ellipse">
            <a:avLst/>
          </a:prstGeom>
          <a:solidFill>
            <a:schemeClr val="accent3"/>
          </a:solidFill>
          <a:ln/>
        </p:spPr>
      </p:sp>
      <p:pic>
        <p:nvPicPr>
          <p:cNvPr id="28" name="Image 5" descr="preencoded.png">    </p:cNvPr>
          <p:cNvPicPr>
            <a:picLocks noChangeAspect="1"/>
          </p:cNvPicPr>
          <p:nvPr/>
        </p:nvPicPr>
        <p:blipFill>
          <a:blip r:embed="rId6"/>
          <a:stretch>
            <a:fillRect/>
          </a:stretch>
        </p:blipFill>
        <p:spPr>
          <a:xfrm>
            <a:off x="2857500" y="3497580"/>
            <a:ext cx="228600" cy="228600"/>
          </a:xfrm>
          <a:prstGeom prst="rect">
            <a:avLst/>
          </a:prstGeom>
        </p:spPr>
      </p:pic>
      <p:sp>
        <p:nvSpPr>
          <p:cNvPr id="29" name="Text 20"/>
          <p:cNvSpPr txBox="1"/>
          <p:nvPr/>
        </p:nvSpPr>
        <p:spPr>
          <a:xfrm>
            <a:off x="2743200" y="3977640"/>
            <a:ext cx="1600200" cy="502920"/>
          </a:xfrm>
          <a:prstGeom prst="rect">
            <a:avLst/>
          </a:prstGeom>
          <a:noFill/>
          <a:ln/>
        </p:spPr>
        <p:txBody>
          <a:bodyPr wrap="square" lIns="0" tIns="0" rIns="0" bIns="0" rtlCol="0" anchor="t"/>
          <a:lstStyle/>
          <a:p>
            <a:pPr indent="0" marL="0">
              <a:buNone/>
            </a:pPr>
            <a:r>
              <a:rPr lang="en-US" sz="1400" b="1" dirty="0">
                <a:solidFill>
                  <a:schemeClr val="tx1"/>
                </a:solidFill>
              </a:rPr>
              <a:t>Doctor Dashboard</a:t>
            </a:r>
            <a:endParaRPr lang="en-US" sz="1400" dirty="0"/>
          </a:p>
        </p:txBody>
      </p:sp>
      <p:sp>
        <p:nvSpPr>
          <p:cNvPr id="30" name="Shape 21"/>
          <p:cNvSpPr/>
          <p:nvPr/>
        </p:nvSpPr>
        <p:spPr>
          <a:xfrm>
            <a:off x="4663440" y="3246120"/>
            <a:ext cx="1920240" cy="1280160"/>
          </a:xfrm>
          <a:prstGeom prst="roundRect">
            <a:avLst>
              <a:gd name="adj" fmla="val 8571"/>
            </a:avLst>
          </a:prstGeom>
          <a:solidFill>
            <a:schemeClr val="bg2"/>
          </a:solidFill>
          <a:ln/>
        </p:spPr>
      </p:sp>
      <p:sp>
        <p:nvSpPr>
          <p:cNvPr id="31" name="Shape 22"/>
          <p:cNvSpPr/>
          <p:nvPr/>
        </p:nvSpPr>
        <p:spPr>
          <a:xfrm>
            <a:off x="4846320" y="3383280"/>
            <a:ext cx="457200" cy="457200"/>
          </a:xfrm>
          <a:prstGeom prst="ellipse">
            <a:avLst/>
          </a:prstGeom>
          <a:solidFill>
            <a:schemeClr val="accent3"/>
          </a:solidFill>
          <a:ln/>
        </p:spPr>
      </p:sp>
      <p:pic>
        <p:nvPicPr>
          <p:cNvPr id="32" name="Image 6" descr="preencoded.png">    </p:cNvPr>
          <p:cNvPicPr>
            <a:picLocks noChangeAspect="1"/>
          </p:cNvPicPr>
          <p:nvPr/>
        </p:nvPicPr>
        <p:blipFill>
          <a:blip r:embed="rId7"/>
          <a:stretch>
            <a:fillRect/>
          </a:stretch>
        </p:blipFill>
        <p:spPr>
          <a:xfrm>
            <a:off x="4960620" y="3497580"/>
            <a:ext cx="228600" cy="228600"/>
          </a:xfrm>
          <a:prstGeom prst="rect">
            <a:avLst/>
          </a:prstGeom>
        </p:spPr>
      </p:pic>
      <p:sp>
        <p:nvSpPr>
          <p:cNvPr id="33" name="Text 23"/>
          <p:cNvSpPr txBox="1"/>
          <p:nvPr/>
        </p:nvSpPr>
        <p:spPr>
          <a:xfrm>
            <a:off x="4846320" y="3977640"/>
            <a:ext cx="1600200" cy="502920"/>
          </a:xfrm>
          <a:prstGeom prst="rect">
            <a:avLst/>
          </a:prstGeom>
          <a:noFill/>
          <a:ln/>
        </p:spPr>
        <p:txBody>
          <a:bodyPr wrap="square" lIns="0" tIns="0" rIns="0" bIns="0" rtlCol="0" anchor="t"/>
          <a:lstStyle/>
          <a:p>
            <a:pPr indent="0" marL="0">
              <a:buNone/>
            </a:pPr>
            <a:r>
              <a:rPr lang="en-US" sz="1400" b="1" dirty="0">
                <a:solidFill>
                  <a:schemeClr val="tx1"/>
                </a:solidFill>
              </a:rPr>
              <a:t>Cloud Deployment</a:t>
            </a:r>
            <a:endParaRPr lang="en-US" sz="1400" dirty="0"/>
          </a:p>
        </p:txBody>
      </p:sp>
      <p:sp>
        <p:nvSpPr>
          <p:cNvPr id="34" name="Shape 24"/>
          <p:cNvSpPr/>
          <p:nvPr/>
        </p:nvSpPr>
        <p:spPr>
          <a:xfrm>
            <a:off x="6766560" y="3246120"/>
            <a:ext cx="1920240" cy="1280160"/>
          </a:xfrm>
          <a:prstGeom prst="roundRect">
            <a:avLst>
              <a:gd name="adj" fmla="val 8571"/>
            </a:avLst>
          </a:prstGeom>
          <a:solidFill>
            <a:schemeClr val="bg2"/>
          </a:solidFill>
          <a:ln/>
        </p:spPr>
      </p:sp>
      <p:sp>
        <p:nvSpPr>
          <p:cNvPr id="35" name="Shape 25"/>
          <p:cNvSpPr/>
          <p:nvPr/>
        </p:nvSpPr>
        <p:spPr>
          <a:xfrm>
            <a:off x="6949440" y="3383280"/>
            <a:ext cx="457200" cy="457200"/>
          </a:xfrm>
          <a:prstGeom prst="ellipse">
            <a:avLst/>
          </a:prstGeom>
          <a:solidFill>
            <a:schemeClr val="accent3"/>
          </a:solidFill>
          <a:ln/>
        </p:spPr>
      </p:sp>
      <p:pic>
        <p:nvPicPr>
          <p:cNvPr id="36" name="Image 7" descr="preencoded.png">    </p:cNvPr>
          <p:cNvPicPr>
            <a:picLocks noChangeAspect="1"/>
          </p:cNvPicPr>
          <p:nvPr/>
        </p:nvPicPr>
        <p:blipFill>
          <a:blip r:embed="rId8"/>
          <a:stretch>
            <a:fillRect/>
          </a:stretch>
        </p:blipFill>
        <p:spPr>
          <a:xfrm>
            <a:off x="7063740" y="3497580"/>
            <a:ext cx="228600" cy="228600"/>
          </a:xfrm>
          <a:prstGeom prst="rect">
            <a:avLst/>
          </a:prstGeom>
        </p:spPr>
      </p:pic>
      <p:sp>
        <p:nvSpPr>
          <p:cNvPr id="37" name="Text 26"/>
          <p:cNvSpPr txBox="1"/>
          <p:nvPr/>
        </p:nvSpPr>
        <p:spPr>
          <a:xfrm>
            <a:off x="6949440" y="3977640"/>
            <a:ext cx="1600200" cy="502920"/>
          </a:xfrm>
          <a:prstGeom prst="rect">
            <a:avLst/>
          </a:prstGeom>
          <a:noFill/>
          <a:ln/>
        </p:spPr>
        <p:txBody>
          <a:bodyPr wrap="square" lIns="0" tIns="0" rIns="0" bIns="0" rtlCol="0" anchor="t"/>
          <a:lstStyle/>
          <a:p>
            <a:pPr indent="0" marL="0">
              <a:buNone/>
            </a:pPr>
            <a:r>
              <a:rPr lang="en-US" sz="1400" b="1" dirty="0">
                <a:solidFill>
                  <a:schemeClr val="tx1"/>
                </a:solidFill>
              </a:rPr>
              <a:t>Medical Image Analysis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Conclusion</a:t>
            </a:r>
            <a:endParaRPr lang="en-US" sz="3000" dirty="0"/>
          </a:p>
        </p:txBody>
      </p:sp>
      <p:sp>
        <p:nvSpPr>
          <p:cNvPr id="4" name="Text 1"/>
          <p:cNvSpPr txBox="1"/>
          <p:nvPr/>
        </p:nvSpPr>
        <p:spPr>
          <a:xfrm>
            <a:off x="457200" y="1097280"/>
            <a:ext cx="8229600" cy="1463040"/>
          </a:xfrm>
          <a:prstGeom prst="rect">
            <a:avLst/>
          </a:prstGeom>
          <a:noFill/>
          <a:ln/>
        </p:spPr>
        <p:txBody>
          <a:bodyPr wrap="square" lIns="0" tIns="0" rIns="0" bIns="0" rtlCol="0" anchor="t"/>
          <a:lstStyle/>
          <a:p>
            <a:pPr indent="0" marL="0">
              <a:buNone/>
            </a:pPr>
            <a:r>
              <a:rPr lang="en-US" sz="1800" dirty="0">
                <a:solidFill>
                  <a:schemeClr val="bg1"/>
                </a:solidFill>
              </a:rPr>
              <a:t>Hospital AI Agent successfully combines AI, FastAPI, React, LangChain, ChromaDB, and RAG to provide an intelligent medicine information assistant that improves accessibility, medicine understanding, and hospital workflow.</a:t>
            </a:r>
            <a:endParaRPr lang="en-US" sz="1800" dirty="0"/>
          </a:p>
        </p:txBody>
      </p:sp>
      <p:sp>
        <p:nvSpPr>
          <p:cNvPr id="5" name="Shape 2"/>
          <p:cNvSpPr/>
          <p:nvPr/>
        </p:nvSpPr>
        <p:spPr>
          <a:xfrm>
            <a:off x="457200" y="2926080"/>
            <a:ext cx="2651760" cy="1600200"/>
          </a:xfrm>
          <a:prstGeom prst="roundRect">
            <a:avLst>
              <a:gd name="adj" fmla="val 6857"/>
            </a:avLst>
          </a:prstGeom>
          <a:solidFill>
            <a:srgbClr val="143F8F"/>
          </a:solidFill>
          <a:ln/>
        </p:spPr>
      </p:sp>
      <p:sp>
        <p:nvSpPr>
          <p:cNvPr id="6" name="Shape 3"/>
          <p:cNvSpPr/>
          <p:nvPr/>
        </p:nvSpPr>
        <p:spPr>
          <a:xfrm>
            <a:off x="640080" y="3063240"/>
            <a:ext cx="502920" cy="50292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765810" y="3188970"/>
            <a:ext cx="251460" cy="251460"/>
          </a:xfrm>
          <a:prstGeom prst="rect">
            <a:avLst/>
          </a:prstGeom>
        </p:spPr>
      </p:pic>
      <p:sp>
        <p:nvSpPr>
          <p:cNvPr id="8" name="Text 4"/>
          <p:cNvSpPr txBox="1"/>
          <p:nvPr/>
        </p:nvSpPr>
        <p:spPr>
          <a:xfrm>
            <a:off x="640080" y="3703320"/>
            <a:ext cx="2331720" cy="274320"/>
          </a:xfrm>
          <a:prstGeom prst="rect">
            <a:avLst/>
          </a:prstGeom>
          <a:noFill/>
          <a:ln/>
        </p:spPr>
        <p:txBody>
          <a:bodyPr wrap="square" lIns="0" tIns="0" rIns="0" bIns="0" rtlCol="0" anchor="t"/>
          <a:lstStyle/>
          <a:p>
            <a:pPr indent="0" marL="0">
              <a:buNone/>
            </a:pPr>
            <a:r>
              <a:rPr lang="en-US" sz="1600" b="1" dirty="0">
                <a:solidFill>
                  <a:schemeClr val="bg1"/>
                </a:solidFill>
              </a:rPr>
              <a:t>Accessibility</a:t>
            </a:r>
            <a:endParaRPr lang="en-US" sz="1600" dirty="0"/>
          </a:p>
        </p:txBody>
      </p:sp>
      <p:sp>
        <p:nvSpPr>
          <p:cNvPr id="9" name="Text 5"/>
          <p:cNvSpPr txBox="1"/>
          <p:nvPr/>
        </p:nvSpPr>
        <p:spPr>
          <a:xfrm>
            <a:off x="640080" y="4023360"/>
            <a:ext cx="2331720" cy="457200"/>
          </a:xfrm>
          <a:prstGeom prst="rect">
            <a:avLst/>
          </a:prstGeom>
          <a:noFill/>
          <a:ln/>
        </p:spPr>
        <p:txBody>
          <a:bodyPr wrap="square" lIns="0" tIns="0" rIns="0" bIns="0" rtlCol="0" anchor="t"/>
          <a:lstStyle/>
          <a:p>
            <a:pPr indent="0" marL="0">
              <a:buNone/>
            </a:pPr>
            <a:r>
              <a:rPr lang="en-US" sz="1400" dirty="0">
                <a:solidFill>
                  <a:srgbClr val="BFD8FF"/>
                </a:solidFill>
              </a:rPr>
              <a:t>Instant medicine information for anyone</a:t>
            </a:r>
            <a:endParaRPr lang="en-US" sz="1400" dirty="0"/>
          </a:p>
        </p:txBody>
      </p:sp>
      <p:sp>
        <p:nvSpPr>
          <p:cNvPr id="10" name="Shape 6"/>
          <p:cNvSpPr/>
          <p:nvPr/>
        </p:nvSpPr>
        <p:spPr>
          <a:xfrm>
            <a:off x="3246120" y="2926080"/>
            <a:ext cx="2651760" cy="1600200"/>
          </a:xfrm>
          <a:prstGeom prst="roundRect">
            <a:avLst>
              <a:gd name="adj" fmla="val 6857"/>
            </a:avLst>
          </a:prstGeom>
          <a:solidFill>
            <a:srgbClr val="143F8F"/>
          </a:solidFill>
          <a:ln/>
        </p:spPr>
      </p:sp>
      <p:sp>
        <p:nvSpPr>
          <p:cNvPr id="11" name="Shape 7"/>
          <p:cNvSpPr/>
          <p:nvPr/>
        </p:nvSpPr>
        <p:spPr>
          <a:xfrm>
            <a:off x="3429000" y="3063240"/>
            <a:ext cx="502920" cy="50292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3554730" y="3188970"/>
            <a:ext cx="251460" cy="251460"/>
          </a:xfrm>
          <a:prstGeom prst="rect">
            <a:avLst/>
          </a:prstGeom>
        </p:spPr>
      </p:pic>
      <p:sp>
        <p:nvSpPr>
          <p:cNvPr id="13" name="Text 8"/>
          <p:cNvSpPr txBox="1"/>
          <p:nvPr/>
        </p:nvSpPr>
        <p:spPr>
          <a:xfrm>
            <a:off x="3429000" y="3703320"/>
            <a:ext cx="2331720" cy="274320"/>
          </a:xfrm>
          <a:prstGeom prst="rect">
            <a:avLst/>
          </a:prstGeom>
          <a:noFill/>
          <a:ln/>
        </p:spPr>
        <p:txBody>
          <a:bodyPr wrap="square" lIns="0" tIns="0" rIns="0" bIns="0" rtlCol="0" anchor="t"/>
          <a:lstStyle/>
          <a:p>
            <a:pPr indent="0" marL="0">
              <a:buNone/>
            </a:pPr>
            <a:r>
              <a:rPr lang="en-US" sz="1600" b="1" dirty="0">
                <a:solidFill>
                  <a:schemeClr val="bg1"/>
                </a:solidFill>
              </a:rPr>
              <a:t>Medicine understanding</a:t>
            </a:r>
            <a:endParaRPr lang="en-US" sz="1600" dirty="0"/>
          </a:p>
        </p:txBody>
      </p:sp>
      <p:sp>
        <p:nvSpPr>
          <p:cNvPr id="14" name="Text 9"/>
          <p:cNvSpPr txBox="1"/>
          <p:nvPr/>
        </p:nvSpPr>
        <p:spPr>
          <a:xfrm>
            <a:off x="3429000" y="4023360"/>
            <a:ext cx="2331720" cy="457200"/>
          </a:xfrm>
          <a:prstGeom prst="rect">
            <a:avLst/>
          </a:prstGeom>
          <a:noFill/>
          <a:ln/>
        </p:spPr>
        <p:txBody>
          <a:bodyPr wrap="square" lIns="0" tIns="0" rIns="0" bIns="0" rtlCol="0" anchor="t"/>
          <a:lstStyle/>
          <a:p>
            <a:pPr indent="0" marL="0">
              <a:buNone/>
            </a:pPr>
            <a:r>
              <a:rPr lang="en-US" sz="1400" dirty="0">
                <a:solidFill>
                  <a:srgbClr val="BFD8FF"/>
                </a:solidFill>
              </a:rPr>
              <a:t>Clear, plain-language explanations</a:t>
            </a:r>
            <a:endParaRPr lang="en-US" sz="1400" dirty="0"/>
          </a:p>
        </p:txBody>
      </p:sp>
      <p:sp>
        <p:nvSpPr>
          <p:cNvPr id="15" name="Shape 10"/>
          <p:cNvSpPr/>
          <p:nvPr/>
        </p:nvSpPr>
        <p:spPr>
          <a:xfrm>
            <a:off x="6035040" y="2926080"/>
            <a:ext cx="2651760" cy="1600200"/>
          </a:xfrm>
          <a:prstGeom prst="roundRect">
            <a:avLst>
              <a:gd name="adj" fmla="val 6857"/>
            </a:avLst>
          </a:prstGeom>
          <a:solidFill>
            <a:srgbClr val="143F8F"/>
          </a:solidFill>
          <a:ln/>
        </p:spPr>
      </p:sp>
      <p:sp>
        <p:nvSpPr>
          <p:cNvPr id="16" name="Shape 11"/>
          <p:cNvSpPr/>
          <p:nvPr/>
        </p:nvSpPr>
        <p:spPr>
          <a:xfrm>
            <a:off x="6217920" y="3063240"/>
            <a:ext cx="502920" cy="50292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6343650" y="3188970"/>
            <a:ext cx="251460" cy="251460"/>
          </a:xfrm>
          <a:prstGeom prst="rect">
            <a:avLst/>
          </a:prstGeom>
        </p:spPr>
      </p:pic>
      <p:sp>
        <p:nvSpPr>
          <p:cNvPr id="18" name="Text 12"/>
          <p:cNvSpPr txBox="1"/>
          <p:nvPr/>
        </p:nvSpPr>
        <p:spPr>
          <a:xfrm>
            <a:off x="6217920" y="3703320"/>
            <a:ext cx="2331720" cy="274320"/>
          </a:xfrm>
          <a:prstGeom prst="rect">
            <a:avLst/>
          </a:prstGeom>
          <a:noFill/>
          <a:ln/>
        </p:spPr>
        <p:txBody>
          <a:bodyPr wrap="square" lIns="0" tIns="0" rIns="0" bIns="0" rtlCol="0" anchor="t"/>
          <a:lstStyle/>
          <a:p>
            <a:pPr indent="0" marL="0">
              <a:buNone/>
            </a:pPr>
            <a:r>
              <a:rPr lang="en-US" sz="1600" b="1" dirty="0">
                <a:solidFill>
                  <a:schemeClr val="bg1"/>
                </a:solidFill>
              </a:rPr>
              <a:t>Hospital workflow</a:t>
            </a:r>
            <a:endParaRPr lang="en-US" sz="1600" dirty="0"/>
          </a:p>
        </p:txBody>
      </p:sp>
      <p:sp>
        <p:nvSpPr>
          <p:cNvPr id="19" name="Text 13"/>
          <p:cNvSpPr txBox="1"/>
          <p:nvPr/>
        </p:nvSpPr>
        <p:spPr>
          <a:xfrm>
            <a:off x="6217920" y="4023360"/>
            <a:ext cx="2331720" cy="457200"/>
          </a:xfrm>
          <a:prstGeom prst="rect">
            <a:avLst/>
          </a:prstGeom>
          <a:noFill/>
          <a:ln/>
        </p:spPr>
        <p:txBody>
          <a:bodyPr wrap="square" lIns="0" tIns="0" rIns="0" bIns="0" rtlCol="0" anchor="t"/>
          <a:lstStyle/>
          <a:p>
            <a:pPr indent="0" marL="0">
              <a:buNone/>
            </a:pPr>
            <a:r>
              <a:rPr lang="en-US" sz="1400" dirty="0">
                <a:solidFill>
                  <a:srgbClr val="BFD8FF"/>
                </a:solidFill>
              </a:rPr>
              <a:t>Less repetitive pharmacist effort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E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Demo</a:t>
            </a:r>
            <a:endParaRPr lang="en-US" sz="3000" dirty="0"/>
          </a:p>
        </p:txBody>
      </p:sp>
      <p:sp>
        <p:nvSpPr>
          <p:cNvPr id="4" name="Shape 1"/>
          <p:cNvSpPr/>
          <p:nvPr/>
        </p:nvSpPr>
        <p:spPr>
          <a:xfrm>
            <a:off x="457200" y="1097280"/>
            <a:ext cx="4023360" cy="1645920"/>
          </a:xfrm>
          <a:prstGeom prst="roundRect">
            <a:avLst>
              <a:gd name="adj" fmla="val 6667"/>
            </a:avLst>
          </a:prstGeom>
          <a:solidFill>
            <a:schemeClr val="bg2"/>
          </a:solidFill>
          <a:ln w="15875">
            <a:solidFill>
              <a:schemeClr val="accent2"/>
            </a:solidFill>
            <a:prstDash val="dash"/>
          </a:ln>
        </p:spPr>
      </p:sp>
      <p:sp>
        <p:nvSpPr>
          <p:cNvPr id="5" name="Shape 2"/>
          <p:cNvSpPr/>
          <p:nvPr/>
        </p:nvSpPr>
        <p:spPr>
          <a:xfrm>
            <a:off x="731520" y="155448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7" name="Text 3"/>
          <p:cNvSpPr txBox="1"/>
          <p:nvPr/>
        </p:nvSpPr>
        <p:spPr>
          <a:xfrm>
            <a:off x="1645920" y="1554480"/>
            <a:ext cx="2651760" cy="365760"/>
          </a:xfrm>
          <a:prstGeom prst="rect">
            <a:avLst/>
          </a:prstGeom>
          <a:noFill/>
          <a:ln/>
        </p:spPr>
        <p:txBody>
          <a:bodyPr wrap="square" lIns="0" tIns="0" rIns="0" bIns="0" rtlCol="0" anchor="t"/>
          <a:lstStyle/>
          <a:p>
            <a:pPr indent="0" marL="0">
              <a:buNone/>
            </a:pPr>
            <a:r>
              <a:rPr lang="en-US" sz="1800" b="1" dirty="0">
                <a:solidFill>
                  <a:schemeClr val="tx2"/>
                </a:solidFill>
              </a:rPr>
              <a:t>Chat Screen</a:t>
            </a:r>
            <a:endParaRPr lang="en-US" sz="1800" dirty="0"/>
          </a:p>
        </p:txBody>
      </p:sp>
      <p:sp>
        <p:nvSpPr>
          <p:cNvPr id="8" name="Text 4"/>
          <p:cNvSpPr txBox="1"/>
          <p:nvPr/>
        </p:nvSpPr>
        <p:spPr>
          <a:xfrm>
            <a:off x="1645920" y="1965960"/>
            <a:ext cx="2651760" cy="365760"/>
          </a:xfrm>
          <a:prstGeom prst="rect">
            <a:avLst/>
          </a:prstGeom>
          <a:noFill/>
          <a:ln/>
        </p:spPr>
        <p:txBody>
          <a:bodyPr wrap="square" lIns="0" tIns="0" rIns="0" bIns="0" rtlCol="0" anchor="t"/>
          <a:lstStyle/>
          <a:p>
            <a:pPr indent="0" marL="0">
              <a:buNone/>
            </a:pPr>
            <a:r>
              <a:rPr lang="en-US" sz="1400" dirty="0">
                <a:solidFill>
                  <a:srgbClr val="4A5B78"/>
                </a:solidFill>
              </a:rPr>
              <a:t>Insert screenshot or video</a:t>
            </a:r>
            <a:endParaRPr lang="en-US" sz="1400" dirty="0"/>
          </a:p>
        </p:txBody>
      </p:sp>
      <p:sp>
        <p:nvSpPr>
          <p:cNvPr id="9" name="Shape 5"/>
          <p:cNvSpPr/>
          <p:nvPr/>
        </p:nvSpPr>
        <p:spPr>
          <a:xfrm>
            <a:off x="4663440" y="1097280"/>
            <a:ext cx="4023360" cy="1645920"/>
          </a:xfrm>
          <a:prstGeom prst="roundRect">
            <a:avLst>
              <a:gd name="adj" fmla="val 6667"/>
            </a:avLst>
          </a:prstGeom>
          <a:solidFill>
            <a:schemeClr val="bg2"/>
          </a:solidFill>
          <a:ln w="15875">
            <a:solidFill>
              <a:schemeClr val="accent2"/>
            </a:solidFill>
            <a:prstDash val="dash"/>
          </a:ln>
        </p:spPr>
      </p:sp>
      <p:sp>
        <p:nvSpPr>
          <p:cNvPr id="10" name="Shape 6"/>
          <p:cNvSpPr/>
          <p:nvPr/>
        </p:nvSpPr>
        <p:spPr>
          <a:xfrm>
            <a:off x="4937760" y="1554480"/>
            <a:ext cx="731520" cy="7315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5120640" y="1737360"/>
            <a:ext cx="365760" cy="365760"/>
          </a:xfrm>
          <a:prstGeom prst="rect">
            <a:avLst/>
          </a:prstGeom>
        </p:spPr>
      </p:pic>
      <p:sp>
        <p:nvSpPr>
          <p:cNvPr id="12" name="Text 7"/>
          <p:cNvSpPr txBox="1"/>
          <p:nvPr/>
        </p:nvSpPr>
        <p:spPr>
          <a:xfrm>
            <a:off x="5852160" y="1554480"/>
            <a:ext cx="2651760" cy="365760"/>
          </a:xfrm>
          <a:prstGeom prst="rect">
            <a:avLst/>
          </a:prstGeom>
          <a:noFill/>
          <a:ln/>
        </p:spPr>
        <p:txBody>
          <a:bodyPr wrap="square" lIns="0" tIns="0" rIns="0" bIns="0" rtlCol="0" anchor="t"/>
          <a:lstStyle/>
          <a:p>
            <a:pPr indent="0" marL="0">
              <a:buNone/>
            </a:pPr>
            <a:r>
              <a:rPr lang="en-US" sz="1800" b="1" dirty="0">
                <a:solidFill>
                  <a:schemeClr val="tx2"/>
                </a:solidFill>
              </a:rPr>
              <a:t>Medicine Search</a:t>
            </a:r>
            <a:endParaRPr lang="en-US" sz="1800" dirty="0"/>
          </a:p>
        </p:txBody>
      </p:sp>
      <p:sp>
        <p:nvSpPr>
          <p:cNvPr id="13" name="Text 8"/>
          <p:cNvSpPr txBox="1"/>
          <p:nvPr/>
        </p:nvSpPr>
        <p:spPr>
          <a:xfrm>
            <a:off x="5852160" y="1965960"/>
            <a:ext cx="2651760" cy="365760"/>
          </a:xfrm>
          <a:prstGeom prst="rect">
            <a:avLst/>
          </a:prstGeom>
          <a:noFill/>
          <a:ln/>
        </p:spPr>
        <p:txBody>
          <a:bodyPr wrap="square" lIns="0" tIns="0" rIns="0" bIns="0" rtlCol="0" anchor="t"/>
          <a:lstStyle/>
          <a:p>
            <a:pPr indent="0" marL="0">
              <a:buNone/>
            </a:pPr>
            <a:r>
              <a:rPr lang="en-US" sz="1400" dirty="0">
                <a:solidFill>
                  <a:srgbClr val="4A5B78"/>
                </a:solidFill>
              </a:rPr>
              <a:t>Insert screenshot or video</a:t>
            </a:r>
            <a:endParaRPr lang="en-US" sz="1400" dirty="0"/>
          </a:p>
        </p:txBody>
      </p:sp>
      <p:sp>
        <p:nvSpPr>
          <p:cNvPr id="14" name="Shape 9"/>
          <p:cNvSpPr/>
          <p:nvPr/>
        </p:nvSpPr>
        <p:spPr>
          <a:xfrm>
            <a:off x="457200" y="2880360"/>
            <a:ext cx="4023360" cy="1645920"/>
          </a:xfrm>
          <a:prstGeom prst="roundRect">
            <a:avLst>
              <a:gd name="adj" fmla="val 6667"/>
            </a:avLst>
          </a:prstGeom>
          <a:solidFill>
            <a:schemeClr val="bg2"/>
          </a:solidFill>
          <a:ln w="15875">
            <a:solidFill>
              <a:schemeClr val="accent2"/>
            </a:solidFill>
            <a:prstDash val="dash"/>
          </a:ln>
        </p:spPr>
      </p:sp>
      <p:sp>
        <p:nvSpPr>
          <p:cNvPr id="15" name="Shape 10"/>
          <p:cNvSpPr/>
          <p:nvPr/>
        </p:nvSpPr>
        <p:spPr>
          <a:xfrm>
            <a:off x="731520" y="3337560"/>
            <a:ext cx="731520" cy="73152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914400" y="3520440"/>
            <a:ext cx="365760" cy="365760"/>
          </a:xfrm>
          <a:prstGeom prst="rect">
            <a:avLst/>
          </a:prstGeom>
        </p:spPr>
      </p:pic>
      <p:sp>
        <p:nvSpPr>
          <p:cNvPr id="17" name="Text 11"/>
          <p:cNvSpPr txBox="1"/>
          <p:nvPr/>
        </p:nvSpPr>
        <p:spPr>
          <a:xfrm>
            <a:off x="1645920" y="3337560"/>
            <a:ext cx="2651760" cy="365760"/>
          </a:xfrm>
          <a:prstGeom prst="rect">
            <a:avLst/>
          </a:prstGeom>
          <a:noFill/>
          <a:ln/>
        </p:spPr>
        <p:txBody>
          <a:bodyPr wrap="square" lIns="0" tIns="0" rIns="0" bIns="0" rtlCol="0" anchor="t"/>
          <a:lstStyle/>
          <a:p>
            <a:pPr indent="0" marL="0">
              <a:buNone/>
            </a:pPr>
            <a:r>
              <a:rPr lang="en-US" sz="1800" b="1" dirty="0">
                <a:solidFill>
                  <a:schemeClr val="tx2"/>
                </a:solidFill>
              </a:rPr>
              <a:t>Stock Search</a:t>
            </a:r>
            <a:endParaRPr lang="en-US" sz="1800" dirty="0"/>
          </a:p>
        </p:txBody>
      </p:sp>
      <p:sp>
        <p:nvSpPr>
          <p:cNvPr id="18" name="Text 12"/>
          <p:cNvSpPr txBox="1"/>
          <p:nvPr/>
        </p:nvSpPr>
        <p:spPr>
          <a:xfrm>
            <a:off x="1645920" y="3749040"/>
            <a:ext cx="2651760" cy="365760"/>
          </a:xfrm>
          <a:prstGeom prst="rect">
            <a:avLst/>
          </a:prstGeom>
          <a:noFill/>
          <a:ln/>
        </p:spPr>
        <p:txBody>
          <a:bodyPr wrap="square" lIns="0" tIns="0" rIns="0" bIns="0" rtlCol="0" anchor="t"/>
          <a:lstStyle/>
          <a:p>
            <a:pPr indent="0" marL="0">
              <a:buNone/>
            </a:pPr>
            <a:r>
              <a:rPr lang="en-US" sz="1400" dirty="0">
                <a:solidFill>
                  <a:srgbClr val="4A5B78"/>
                </a:solidFill>
              </a:rPr>
              <a:t>Insert screenshot or video</a:t>
            </a:r>
            <a:endParaRPr lang="en-US" sz="1400" dirty="0"/>
          </a:p>
        </p:txBody>
      </p:sp>
      <p:sp>
        <p:nvSpPr>
          <p:cNvPr id="19" name="Shape 13"/>
          <p:cNvSpPr/>
          <p:nvPr/>
        </p:nvSpPr>
        <p:spPr>
          <a:xfrm>
            <a:off x="4663440" y="2880360"/>
            <a:ext cx="4023360" cy="1645920"/>
          </a:xfrm>
          <a:prstGeom prst="roundRect">
            <a:avLst>
              <a:gd name="adj" fmla="val 6667"/>
            </a:avLst>
          </a:prstGeom>
          <a:solidFill>
            <a:schemeClr val="bg2"/>
          </a:solidFill>
          <a:ln w="15875">
            <a:solidFill>
              <a:schemeClr val="accent2"/>
            </a:solidFill>
            <a:prstDash val="dash"/>
          </a:ln>
        </p:spPr>
      </p:sp>
      <p:sp>
        <p:nvSpPr>
          <p:cNvPr id="20" name="Shape 14"/>
          <p:cNvSpPr/>
          <p:nvPr/>
        </p:nvSpPr>
        <p:spPr>
          <a:xfrm>
            <a:off x="4937760" y="3337560"/>
            <a:ext cx="731520" cy="73152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5120640" y="3520440"/>
            <a:ext cx="365760" cy="365760"/>
          </a:xfrm>
          <a:prstGeom prst="rect">
            <a:avLst/>
          </a:prstGeom>
        </p:spPr>
      </p:pic>
      <p:sp>
        <p:nvSpPr>
          <p:cNvPr id="22" name="Text 15"/>
          <p:cNvSpPr txBox="1"/>
          <p:nvPr/>
        </p:nvSpPr>
        <p:spPr>
          <a:xfrm>
            <a:off x="5852160" y="3337560"/>
            <a:ext cx="2651760" cy="365760"/>
          </a:xfrm>
          <a:prstGeom prst="rect">
            <a:avLst/>
          </a:prstGeom>
          <a:noFill/>
          <a:ln/>
        </p:spPr>
        <p:txBody>
          <a:bodyPr wrap="square" lIns="0" tIns="0" rIns="0" bIns="0" rtlCol="0" anchor="t"/>
          <a:lstStyle/>
          <a:p>
            <a:pPr indent="0" marL="0">
              <a:buNone/>
            </a:pPr>
            <a:r>
              <a:rPr lang="en-US" sz="1800" b="1" dirty="0">
                <a:solidFill>
                  <a:schemeClr val="tx2"/>
                </a:solidFill>
              </a:rPr>
              <a:t>Workflow</a:t>
            </a:r>
            <a:endParaRPr lang="en-US" sz="1800" dirty="0"/>
          </a:p>
        </p:txBody>
      </p:sp>
      <p:sp>
        <p:nvSpPr>
          <p:cNvPr id="23" name="Text 16"/>
          <p:cNvSpPr txBox="1"/>
          <p:nvPr/>
        </p:nvSpPr>
        <p:spPr>
          <a:xfrm>
            <a:off x="5852160" y="3749040"/>
            <a:ext cx="2651760" cy="365760"/>
          </a:xfrm>
          <a:prstGeom prst="rect">
            <a:avLst/>
          </a:prstGeom>
          <a:noFill/>
          <a:ln/>
        </p:spPr>
        <p:txBody>
          <a:bodyPr wrap="square" lIns="0" tIns="0" rIns="0" bIns="0" rtlCol="0" anchor="t"/>
          <a:lstStyle/>
          <a:p>
            <a:pPr indent="0" marL="0">
              <a:buNone/>
            </a:pPr>
            <a:r>
              <a:rPr lang="en-US" sz="1400" dirty="0">
                <a:solidFill>
                  <a:srgbClr val="4A5B78"/>
                </a:solidFill>
              </a:rPr>
              <a:t>Insert screenshot or video</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960120"/>
            <a:ext cx="493776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4" name="Text 1"/>
          <p:cNvSpPr txBox="1"/>
          <p:nvPr/>
        </p:nvSpPr>
        <p:spPr>
          <a:xfrm>
            <a:off x="548640" y="1920240"/>
            <a:ext cx="4572000" cy="640080"/>
          </a:xfrm>
          <a:prstGeom prst="rect">
            <a:avLst/>
          </a:prstGeom>
          <a:noFill/>
          <a:ln/>
        </p:spPr>
        <p:txBody>
          <a:bodyPr wrap="square" lIns="0" tIns="0" rIns="0" bIns="0" rtlCol="0" anchor="t"/>
          <a:lstStyle/>
          <a:p>
            <a:pPr indent="0" marL="0">
              <a:buNone/>
            </a:pPr>
            <a:r>
              <a:rPr lang="en-US" sz="3000" b="1" dirty="0">
                <a:solidFill>
                  <a:srgbClr val="7CC4FF"/>
                </a:solidFill>
                <a:latin typeface="Cambria" pitchFamily="34" charset="0"/>
                <a:ea typeface="Cambria" pitchFamily="34" charset="-122"/>
                <a:cs typeface="Cambria" pitchFamily="34" charset="-120"/>
              </a:rPr>
              <a:t>Questions?</a:t>
            </a:r>
            <a:endParaRPr lang="en-US" sz="3000" dirty="0"/>
          </a:p>
        </p:txBody>
      </p:sp>
      <p:sp>
        <p:nvSpPr>
          <p:cNvPr id="5" name="Text 2"/>
          <p:cNvSpPr txBox="1"/>
          <p:nvPr/>
        </p:nvSpPr>
        <p:spPr>
          <a:xfrm>
            <a:off x="548640" y="2834640"/>
            <a:ext cx="4937760" cy="73152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Thumma Akshaya</a:t>
            </a:r>
            <a:endParaRPr lang="en-US" sz="1400" dirty="0"/>
          </a:p>
          <a:p>
            <a:pPr indent="0" marL="0">
              <a:spcAft>
                <a:spcPts val="400"/>
              </a:spcAft>
              <a:buNone/>
            </a:pPr>
            <a:r>
              <a:rPr lang="en-US" sz="1400" dirty="0">
                <a:solidFill>
                  <a:schemeClr val="bg1"/>
                </a:solidFill>
              </a:rPr>
              <a:t>B.Tech CSE (AI &amp; ML), GITAM University, Hyderabad</a:t>
            </a:r>
            <a:endParaRPr lang="en-US" sz="1400" dirty="0"/>
          </a:p>
        </p:txBody>
      </p:sp>
      <p:sp>
        <p:nvSpPr>
          <p:cNvPr id="6" name="Shape 3"/>
          <p:cNvSpPr/>
          <p:nvPr/>
        </p:nvSpPr>
        <p:spPr>
          <a:xfrm>
            <a:off x="5303520" y="914400"/>
            <a:ext cx="3291840" cy="3291840"/>
          </a:xfrm>
          <a:prstGeom prst="ellipse">
            <a:avLst/>
          </a:prstGeom>
          <a:solidFill>
            <a:schemeClr val="bg1">
              <a:alpha val="8000"/>
            </a:schemeClr>
          </a:solidFill>
          <a:ln/>
        </p:spPr>
      </p:sp>
      <p:sp>
        <p:nvSpPr>
          <p:cNvPr id="7" name="Shape 4"/>
          <p:cNvSpPr/>
          <p:nvPr/>
        </p:nvSpPr>
        <p:spPr>
          <a:xfrm>
            <a:off x="5852160" y="1463040"/>
            <a:ext cx="2194560" cy="2194560"/>
          </a:xfrm>
          <a:prstGeom prst="ellipse">
            <a:avLst/>
          </a:prstGeom>
          <a:solidFill>
            <a:schemeClr val="bg1">
              <a:alpha val="18000"/>
            </a:schemeClr>
          </a:solidFill>
          <a:ln/>
        </p:spPr>
      </p:sp>
      <p:sp>
        <p:nvSpPr>
          <p:cNvPr id="8" name="Shape 5"/>
          <p:cNvSpPr/>
          <p:nvPr/>
        </p:nvSpPr>
        <p:spPr>
          <a:xfrm>
            <a:off x="6400800" y="2011680"/>
            <a:ext cx="1097280" cy="109728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6675120" y="2286000"/>
            <a:ext cx="548640" cy="548640"/>
          </a:xfrm>
          <a:prstGeom prst="rect">
            <a:avLst/>
          </a:prstGeom>
        </p:spPr>
      </p:pic>
      <p:sp>
        <p:nvSpPr>
          <p:cNvPr id="10" name="Shape 6"/>
          <p:cNvSpPr/>
          <p:nvPr/>
        </p:nvSpPr>
        <p:spPr>
          <a:xfrm>
            <a:off x="5029200" y="1325880"/>
            <a:ext cx="640080" cy="64008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5189220" y="1485900"/>
            <a:ext cx="320040" cy="320040"/>
          </a:xfrm>
          <a:prstGeom prst="rect">
            <a:avLst/>
          </a:prstGeom>
        </p:spPr>
      </p:pic>
      <p:sp>
        <p:nvSpPr>
          <p:cNvPr id="12" name="Shape 7"/>
          <p:cNvSpPr/>
          <p:nvPr/>
        </p:nvSpPr>
        <p:spPr>
          <a:xfrm>
            <a:off x="8229600" y="1325880"/>
            <a:ext cx="640080" cy="64008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389620" y="1485900"/>
            <a:ext cx="320040" cy="320040"/>
          </a:xfrm>
          <a:prstGeom prst="rect">
            <a:avLst/>
          </a:prstGeom>
        </p:spPr>
      </p:pic>
      <p:sp>
        <p:nvSpPr>
          <p:cNvPr id="14" name="Shape 8"/>
          <p:cNvSpPr/>
          <p:nvPr/>
        </p:nvSpPr>
        <p:spPr>
          <a:xfrm>
            <a:off x="5029200" y="3154680"/>
            <a:ext cx="640080" cy="640080"/>
          </a:xfrm>
          <a:prstGeom prst="ellipse">
            <a:avLst/>
          </a:prstGeom>
          <a:solidFill>
            <a:schemeClr val="accent2"/>
          </a:solidFill>
          <a:ln/>
        </p:spPr>
      </p:sp>
      <p:pic>
        <p:nvPicPr>
          <p:cNvPr id="15" name="Image 3" descr="preencoded.png">    </p:cNvPr>
          <p:cNvPicPr>
            <a:picLocks noChangeAspect="1"/>
          </p:cNvPicPr>
          <p:nvPr/>
        </p:nvPicPr>
        <p:blipFill>
          <a:blip r:embed="rId4"/>
          <a:stretch>
            <a:fillRect/>
          </a:stretch>
        </p:blipFill>
        <p:spPr>
          <a:xfrm>
            <a:off x="5189220" y="3314700"/>
            <a:ext cx="320040" cy="320040"/>
          </a:xfrm>
          <a:prstGeom prst="rect">
            <a:avLst/>
          </a:prstGeom>
        </p:spPr>
      </p:pic>
      <p:sp>
        <p:nvSpPr>
          <p:cNvPr id="16" name="Shape 9"/>
          <p:cNvSpPr/>
          <p:nvPr/>
        </p:nvSpPr>
        <p:spPr>
          <a:xfrm>
            <a:off x="8229600" y="3154680"/>
            <a:ext cx="640080" cy="640080"/>
          </a:xfrm>
          <a:prstGeom prst="ellipse">
            <a:avLst/>
          </a:prstGeom>
          <a:solidFill>
            <a:schemeClr val="accent3"/>
          </a:solidFill>
          <a:ln/>
        </p:spPr>
      </p:sp>
      <p:pic>
        <p:nvPicPr>
          <p:cNvPr id="17" name="Image 4" descr="preencoded.png">    </p:cNvPr>
          <p:cNvPicPr>
            <a:picLocks noChangeAspect="1"/>
          </p:cNvPicPr>
          <p:nvPr/>
        </p:nvPicPr>
        <p:blipFill>
          <a:blip r:embed="rId5"/>
          <a:stretch>
            <a:fillRect/>
          </a:stretch>
        </p:blipFill>
        <p:spPr>
          <a:xfrm>
            <a:off x="8389620" y="3314700"/>
            <a:ext cx="320040" cy="320040"/>
          </a:xfrm>
          <a:prstGeom prst="rect">
            <a:avLst/>
          </a:prstGeom>
        </p:spPr>
      </p:pic>
    </p:spTree>
  </p:cSld>
  <p:clrMapOvr>
    <a:masterClrMapping/>
  </p:clrMapOvr>
</p:sld>
</file>

<file path=ppt/theme/theme1.xml><?xml version="1.0" encoding="utf-8"?>
<a:theme xmlns:a="http://schemas.openxmlformats.org/drawingml/2006/main" name="Hospital AI Blue">
  <a:themeElements>
    <a:clrScheme name="Hospital AI Blue">
      <a:dk1>
        <a:srgbClr val="0F172A"/>
      </a:dk1>
      <a:lt1>
        <a:srgbClr val="FFFFFF"/>
      </a:lt1>
      <a:dk2>
        <a:srgbClr val="0B2E6B"/>
      </a:dk2>
      <a:lt2>
        <a:srgbClr val="EAF3FF"/>
      </a:lt2>
      <a:accent1>
        <a:srgbClr val="1D6FE0"/>
      </a:accent1>
      <a:accent2>
        <a:srgbClr val="38A8F5"/>
      </a:accent2>
      <a:accent3>
        <a:srgbClr val="0FB5A6"/>
      </a:accent3>
      <a:accent4>
        <a:srgbClr val="F5A524"/>
      </a:accent4>
      <a:accent5>
        <a:srgbClr val="E5484D"/>
      </a:accent5>
      <a:accent6>
        <a:srgbClr val="7C5CFA"/>
      </a:accent6>
      <a:hlink>
        <a:srgbClr val="1D6FE0"/>
      </a:hlink>
      <a:folHlink>
        <a:srgbClr val="7C5CFA"/>
      </a:folHlink>
    </a:clrScheme>
    <a:fontScheme name="Hospital AI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AI Agent - Major Project</dc:title>
  <dc:subject>PptxGenJS Presentation</dc:subject>
  <dc:creator>Thumma Akshaya</dc:creator>
  <cp:lastModifiedBy>Thumma Akshaya</cp:lastModifiedBy>
  <cp:revision>1</cp:revision>
  <dcterms:created xsi:type="dcterms:W3CDTF">2026-10-23T17:01:10Z</dcterms:created>
  <dcterms:modified xsi:type="dcterms:W3CDTF">2026-10-23T17:01:10Z</dcterms:modified>
</cp:coreProperties>
</file>